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3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12.0466</c:v>
                </c:pt>
                <c:pt idx="1">
                  <c:v>10.8572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Sample MV</c:v>
                </c:pt>
                <c:pt idx="1">
                  <c:v>Minimum Variance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14.9757</c:v>
                </c:pt>
                <c:pt idx="1">
                  <c:v>13.147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  <c:pt idx="3">
                  <c:v>2023-04</c:v>
                </c:pt>
                <c:pt idx="4">
                  <c:v>2023-05</c:v>
                </c:pt>
                <c:pt idx="5">
                  <c:v>2023-06</c:v>
                </c:pt>
                <c:pt idx="6">
                  <c:v>2023-07</c:v>
                </c:pt>
                <c:pt idx="7">
                  <c:v>2023-08</c:v>
                </c:pt>
                <c:pt idx="8">
                  <c:v>2023-09</c:v>
                </c:pt>
                <c:pt idx="9">
                  <c:v>2023-10</c:v>
                </c:pt>
                <c:pt idx="10">
                  <c:v>2023-11</c:v>
                </c:pt>
                <c:pt idx="11">
                  <c:v>2023-12</c:v>
                </c:pt>
                <c:pt idx="12">
                  <c:v>2024-01</c:v>
                </c:pt>
                <c:pt idx="13">
                  <c:v>2024-02</c:v>
                </c:pt>
                <c:pt idx="14">
                  <c:v>2024-03</c:v>
                </c:pt>
                <c:pt idx="15">
                  <c:v>2024-04</c:v>
                </c:pt>
                <c:pt idx="16">
                  <c:v>2024-05</c:v>
                </c:pt>
                <c:pt idx="17">
                  <c:v>2024-06</c:v>
                </c:pt>
                <c:pt idx="18">
                  <c:v>2024-07</c:v>
                </c:pt>
                <c:pt idx="19">
                  <c:v>2024-08</c:v>
                </c:pt>
                <c:pt idx="20">
                  <c:v>2024-09</c:v>
                </c:pt>
                <c:pt idx="21">
                  <c:v>2024-10</c:v>
                </c:pt>
                <c:pt idx="22">
                  <c:v>2024-11</c:v>
                </c:pt>
                <c:pt idx="23">
                  <c:v>2024-12</c:v>
                </c:pt>
                <c:pt idx="24">
                  <c:v>2025-01</c:v>
                </c:pt>
                <c:pt idx="25">
                  <c:v>2025-02</c:v>
                </c:pt>
                <c:pt idx="26">
                  <c:v>2025-03</c:v>
                </c:pt>
                <c:pt idx="27">
                  <c:v>2025-04</c:v>
                </c:pt>
                <c:pt idx="28">
                  <c:v>2025-05</c:v>
                </c:pt>
                <c:pt idx="29">
                  <c:v>2025-06</c:v>
                </c:pt>
                <c:pt idx="30">
                  <c:v>2025-07</c:v>
                </c:pt>
                <c:pt idx="31">
                  <c:v>2025-08</c:v>
                </c:pt>
                <c:pt idx="32">
                  <c:v>2025-09</c:v>
                </c:pt>
                <c:pt idx="33">
                  <c:v>2025-10</c:v>
                </c:pt>
                <c:pt idx="34">
                  <c:v>2025-11</c:v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3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case, trustee revised mandate and all three analytical workstreams. Architecture is an illustrative vector graphic.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M1 selected principal 2,400 Beta, 1,200 Gamma, 2,400 Delta, after-fee net equity 6,209,562.44, hurdle 4.7951%, 2025 retained cash 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Principal cash retained after 2023 132k; 2024 264k; 2025 396k; 2026 480k; 2027 564k.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model return and sigma: Sample MV 12.0466%, 14.9757%; Minimum Variance 10.8572%,13.1470%. Third method Single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Utility frozen 0.0533287046122; revised reoptimized 0.053328718. A*=8.938687 is pairwise fixed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Actual archived Yahoo stock prices, 752 common dates, 36 month-end observations, 10bp initial fee, unchanged share quantities.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Trustee 12% warning and 15% review, rolling withdrawal-adjusted.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Approved principal funding and original Sample MV weights; source and acceptance limitations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2380976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795760" y="1380744"/>
            <a:ext cx="5660136" cy="81473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22165" y="4313773"/>
            <a:ext cx="962223" cy="5214274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85743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28366" y="535662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85743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628366" y="6503768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185743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628366" y="7650909"/>
            <a:ext cx="163577" cy="3389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984388" y="2114001"/>
            <a:ext cx="962223" cy="741404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47966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90589" y="359681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147966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90589" y="5227900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147966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590589" y="6858991"/>
            <a:ext cx="163577" cy="481913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059814" y="3417570"/>
            <a:ext cx="962223" cy="61104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23392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666014" y="463966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223392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666014" y="5983970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23392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666014" y="7328275"/>
            <a:ext cx="163577" cy="39718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135240" y="1706636"/>
            <a:ext cx="962223" cy="7821411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98818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41440" y="3270918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98818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41440" y="499162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98818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41440" y="6712339"/>
            <a:ext cx="163577" cy="508391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67267" y="4069354"/>
            <a:ext cx="962223" cy="5458693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30845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73468" y="5161093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30845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468" y="6362005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30845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468" y="7562918"/>
            <a:ext cx="163577" cy="35481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95760" y="9039209"/>
            <a:ext cx="5660136" cy="488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62110" y="5145877"/>
            <a:ext cx="1022847" cy="404384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93599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06504" y="5954645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3599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06504" y="6844291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93599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406504" y="7733936"/>
            <a:ext cx="173884" cy="26284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84957" y="3439881"/>
            <a:ext cx="1022847" cy="574983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95884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29352" y="4589849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95884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29352" y="5854813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95884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429352" y="7119778"/>
            <a:ext cx="173884" cy="37373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928140" y="4450842"/>
            <a:ext cx="1022847" cy="473887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10202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72534" y="5398617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0202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572534" y="6441170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0202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572534" y="7483723"/>
            <a:ext cx="173884" cy="30802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71323" y="3123956"/>
            <a:ext cx="1022847" cy="6065763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24520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715717" y="4337108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24520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715717" y="5671576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24520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715717" y="7006045"/>
            <a:ext cx="173884" cy="39427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274674" y="4956322"/>
            <a:ext cx="1022847" cy="423339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4855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919068" y="5803001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4855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919068" y="6734349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4855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19068" y="7665696"/>
            <a:ext cx="173884" cy="27517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521440" y="8810609"/>
            <a:ext cx="6016752" cy="379110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633716" y="3942527"/>
            <a:ext cx="840973" cy="1498152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776681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163529" y="4242157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76681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163529" y="4571751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776681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163529" y="4901344"/>
            <a:ext cx="142965" cy="9737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474689" y="3310493"/>
            <a:ext cx="840973" cy="213018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17655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004503" y="373653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17655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004503" y="4205171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617655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004503" y="4673812"/>
            <a:ext cx="142965" cy="1384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414601" y="3685032"/>
            <a:ext cx="840973" cy="1755648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557567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944415" y="4036161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57567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944415" y="4422404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4557567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44415" y="4808646"/>
            <a:ext cx="142965" cy="114117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354513" y="3193450"/>
            <a:ext cx="840973" cy="2247229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497478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884326" y="364289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497478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84326" y="4137286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497478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884326" y="4631677"/>
            <a:ext cx="142965" cy="146069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343894" y="3872301"/>
            <a:ext cx="840973" cy="1568378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6486859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6873707" y="4185976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6486859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873707" y="4531020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6486859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6873707" y="4876063"/>
            <a:ext cx="142965" cy="10194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35840" y="5300228"/>
            <a:ext cx="4946904" cy="14045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409944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6446520"/>
            <a:ext cx="3507569" cy="420624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6400800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7269480"/>
            <a:ext cx="287121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7952" y="7306056"/>
            <a:ext cx="3507570" cy="420624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7260336"/>
            <a:ext cx="2532888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0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Buy-and-hold equity values over 36 months, January 2023 to December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Cash obligations and rolling drawdowns must be read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6688" y="5146608"/>
            <a:ext cx="1293327" cy="4061399"/>
          </a:xfrm>
          <a:prstGeom prst="rect">
            <a:avLst/>
          </a:prstGeom>
          <a:solidFill>
            <a:srgbClr val="8DAE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46553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41484" y="5958888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46553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41484" y="6852396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46553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1484" y="7745904"/>
            <a:ext cx="219865" cy="26399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20015" y="3433206"/>
            <a:ext cx="1293327" cy="5774801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3988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34811" y="4588166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3988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34811" y="5858622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53988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4811" y="7129079"/>
            <a:ext cx="219865" cy="375362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65499" y="4448556"/>
            <a:ext cx="1293327" cy="4759452"/>
          </a:xfrm>
          <a:prstGeom prst="rect">
            <a:avLst/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85364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0295" y="5400446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85364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80295" y="644752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85364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80295" y="7494605"/>
            <a:ext cx="219865" cy="309364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0982" y="3115909"/>
            <a:ext cx="1293327" cy="6092098"/>
          </a:xfrm>
          <a:prstGeom prst="rect">
            <a:avLst/>
          </a:prstGeom>
          <a:solidFill>
            <a:srgbClr val="31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3084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25778" y="4334329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084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25778" y="5674590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3084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778" y="7014852"/>
            <a:ext cx="219865" cy="395986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32544" y="4956230"/>
            <a:ext cx="1293327" cy="4251777"/>
          </a:xfrm>
          <a:prstGeom prst="rect">
            <a:avLst/>
          </a:prstGeom>
          <a:solidFill>
            <a:srgbClr val="276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52409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7340" y="5806586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52409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47340" y="6741977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52409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7340" y="7677368"/>
            <a:ext cx="219865" cy="276365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" y="8827251"/>
            <a:ext cx="7607808" cy="380756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