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8DAE9D"/>
            </a:solidFill>
            <a:ln w="33020">
              <a:solidFill>
                <a:srgbClr val="8DAE9D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Revised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5.784228</c:v>
                </c:pt>
                <c:pt idx="1">
                  <c:v>5.429776178571429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6.209562437562439</c:v>
                </c:pt>
                <c:pt idx="1">
                  <c:v>6.563660161267304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cash, USD thousands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132.0</c:v>
                </c:pt>
                <c:pt idx="1">
                  <c:v>264.0</c:v>
                </c:pt>
                <c:pt idx="2">
                  <c:v>396.0</c:v>
                </c:pt>
                <c:pt idx="3">
                  <c:v>480.0</c:v>
                </c:pt>
                <c:pt idx="4">
                  <c:v>564.0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Change, USD thousands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-178.26366</c:v>
                </c:pt>
                <c:pt idx="1">
                  <c:v>-168.60238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"/>
          <c:min val="-2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Bonds</c:v>
                </c:pt>
                <c:pt idx="1">
                  <c:v>Net equities</c:v>
                </c:pt>
                <c:pt idx="2">
                  <c:v>Entry fee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5.784228</c:v>
                </c:pt>
                <c:pt idx="1">
                  <c:v>6.209562437562439</c:v>
                </c:pt>
                <c:pt idx="2">
                  <c:v>0.0062095624375613405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Sheet1!$A$2:$A$9</c:f>
              <c:strCache>
                <c:ptCount val="8"/>
                <c:pt idx="0">
                  <c:v>JPM</c:v>
                </c:pt>
                <c:pt idx="1">
                  <c:v>JNJ</c:v>
                </c:pt>
                <c:pt idx="2">
                  <c:v>KO</c:v>
                </c:pt>
                <c:pt idx="3">
                  <c:v>PFE</c:v>
                </c:pt>
                <c:pt idx="4">
                  <c:v>CAT</c:v>
                </c:pt>
                <c:pt idx="5">
                  <c:v>AAPL</c:v>
                </c:pt>
                <c:pt idx="6">
                  <c:v>MSFT</c:v>
                </c:pt>
                <c:pt idx="7">
                  <c:v>PG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4.2422367106611</c:v>
                </c:pt>
                <c:pt idx="1">
                  <c:v>9.0978816882768</c:v>
                </c:pt>
                <c:pt idx="2">
                  <c:v>12.5925519843878</c:v>
                </c:pt>
                <c:pt idx="3">
                  <c:v>14.170655069310401</c:v>
                </c:pt>
                <c:pt idx="4">
                  <c:v>14.896674547364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Sample MV</c:v>
                </c:pt>
                <c:pt idx="1">
                  <c:v>Minimum Variance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12.0466</c:v>
                </c:pt>
                <c:pt idx="1">
                  <c:v>10.8572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Volatility %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Sample MV</c:v>
                </c:pt>
                <c:pt idx="1">
                  <c:v>Minimum Variance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14.9757</c:v>
                </c:pt>
                <c:pt idx="1">
                  <c:v>13.147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R²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CAPM</c:v>
                </c:pt>
                <c:pt idx="1">
                  <c:v>FF3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0.7849860862</c:v>
                </c:pt>
                <c:pt idx="1">
                  <c:v>0.8436523346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Market β</c:v>
                </c:pt>
                <c:pt idx="1">
                  <c:v>SMB</c:v>
                </c:pt>
                <c:pt idx="2">
                  <c:v>HML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0.8667145258</c:v>
                </c:pt>
                <c:pt idx="1">
                  <c:v>-0.4264931863</c:v>
                </c:pt>
                <c:pt idx="2">
                  <c:v>0.01012961894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-0.6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loss %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14.42</c:v>
                </c:pt>
                <c:pt idx="1">
                  <c:v>15.08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shares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  <c:pt idx="3">
                  <c:v>2023-04</c:v>
                </c:pt>
                <c:pt idx="4">
                  <c:v>2023-05</c:v>
                </c:pt>
                <c:pt idx="5">
                  <c:v>2023-06</c:v>
                </c:pt>
                <c:pt idx="6">
                  <c:v>2023-07</c:v>
                </c:pt>
                <c:pt idx="7">
                  <c:v>2023-08</c:v>
                </c:pt>
                <c:pt idx="8">
                  <c:v>2023-09</c:v>
                </c:pt>
                <c:pt idx="9">
                  <c:v>2023-10</c:v>
                </c:pt>
                <c:pt idx="10">
                  <c:v>2023-11</c:v>
                </c:pt>
                <c:pt idx="11">
                  <c:v>2023-12</c:v>
                </c:pt>
                <c:pt idx="12">
                  <c:v>2024-01</c:v>
                </c:pt>
                <c:pt idx="13">
                  <c:v>2024-02</c:v>
                </c:pt>
                <c:pt idx="14">
                  <c:v>2024-03</c:v>
                </c:pt>
                <c:pt idx="15">
                  <c:v>2024-04</c:v>
                </c:pt>
                <c:pt idx="16">
                  <c:v>2024-05</c:v>
                </c:pt>
                <c:pt idx="17">
                  <c:v>2024-06</c:v>
                </c:pt>
                <c:pt idx="18">
                  <c:v>2024-07</c:v>
                </c:pt>
                <c:pt idx="19">
                  <c:v>2024-08</c:v>
                </c:pt>
                <c:pt idx="20">
                  <c:v>2024-09</c:v>
                </c:pt>
                <c:pt idx="21">
                  <c:v>2024-10</c:v>
                </c:pt>
                <c:pt idx="22">
                  <c:v>2024-11</c:v>
                </c:pt>
                <c:pt idx="23">
                  <c:v>2024-12</c:v>
                </c:pt>
                <c:pt idx="24">
                  <c:v>2025-01</c:v>
                </c:pt>
                <c:pt idx="25">
                  <c:v>2025-02</c:v>
                </c:pt>
                <c:pt idx="26">
                  <c:v>2025-03</c:v>
                </c:pt>
                <c:pt idx="27">
                  <c:v>2025-04</c:v>
                </c:pt>
                <c:pt idx="28">
                  <c:v>2025-05</c:v>
                </c:pt>
                <c:pt idx="29">
                  <c:v>2025-06</c:v>
                </c:pt>
                <c:pt idx="30">
                  <c:v>2025-07</c:v>
                </c:pt>
                <c:pt idx="31">
                  <c:v>2025-08</c:v>
                </c:pt>
                <c:pt idx="32">
                  <c:v>2025-09</c:v>
                </c:pt>
                <c:pt idx="33">
                  <c:v>2025-10</c:v>
                </c:pt>
                <c:pt idx="34">
                  <c:v>2025-11</c:v>
                </c:pt>
                <c:pt idx="35">
                  <c:v>2025-12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6.239471978362903</c:v>
                </c:pt>
                <c:pt idx="1">
                  <c:v>6.086479329211524</c:v>
                </c:pt>
                <c:pt idx="2">
                  <c:v>6.417813165432623</c:v>
                </c:pt>
                <c:pt idx="3">
                  <c:v>6.585992914749419</c:v>
                </c:pt>
                <c:pt idx="4">
                  <c:v>6.49873462731366</c:v>
                </c:pt>
                <c:pt idx="5">
                  <c:v>6.929780097555062</c:v>
                </c:pt>
                <c:pt idx="6">
                  <c:v>7.096359696054172</c:v>
                </c:pt>
                <c:pt idx="7">
                  <c:v>6.978356028023962</c:v>
                </c:pt>
                <c:pt idx="8">
                  <c:v>6.616625804238342</c:v>
                </c:pt>
                <c:pt idx="9">
                  <c:v>6.478906397425493</c:v>
                </c:pt>
                <c:pt idx="10">
                  <c:v>7.003124601405863</c:v>
                </c:pt>
                <c:pt idx="11">
                  <c:v>7.156387899031231</c:v>
                </c:pt>
                <c:pt idx="12">
                  <c:v>7.278824457962308</c:v>
                </c:pt>
                <c:pt idx="13">
                  <c:v>7.497959929662004</c:v>
                </c:pt>
                <c:pt idx="14">
                  <c:v>7.667773299699701</c:v>
                </c:pt>
                <c:pt idx="15">
                  <c:v>7.334844744778028</c:v>
                </c:pt>
                <c:pt idx="16">
                  <c:v>7.742171921830142</c:v>
                </c:pt>
                <c:pt idx="17">
                  <c:v>7.987636087708457</c:v>
                </c:pt>
                <c:pt idx="18">
                  <c:v>8.157190509183105</c:v>
                </c:pt>
                <c:pt idx="19">
                  <c:v>8.420152328421429</c:v>
                </c:pt>
                <c:pt idx="20">
                  <c:v>8.609451927851515</c:v>
                </c:pt>
                <c:pt idx="21">
                  <c:v>8.281306910184194</c:v>
                </c:pt>
                <c:pt idx="22">
                  <c:v>8.655922572358321</c:v>
                </c:pt>
                <c:pt idx="23">
                  <c:v>8.423394683829885</c:v>
                </c:pt>
                <c:pt idx="24">
                  <c:v>8.434793088879488</c:v>
                </c:pt>
                <c:pt idx="25">
                  <c:v>8.495586139909129</c:v>
                </c:pt>
                <c:pt idx="26">
                  <c:v>8.135286121558984</c:v>
                </c:pt>
                <c:pt idx="27">
                  <c:v>7.983484352604796</c:v>
                </c:pt>
                <c:pt idx="28">
                  <c:v>8.390850387883885</c:v>
                </c:pt>
                <c:pt idx="29">
                  <c:v>8.713980561730134</c:v>
                </c:pt>
                <c:pt idx="30">
                  <c:v>9.041409119046639</c:v>
                </c:pt>
                <c:pt idx="31">
                  <c:v>9.194397883144122</c:v>
                </c:pt>
                <c:pt idx="32">
                  <c:v>9.667555095078423</c:v>
                </c:pt>
                <c:pt idx="33">
                  <c:v>10.21073575123062</c:v>
                </c:pt>
                <c:pt idx="34">
                  <c:v>10.31642045406127</c:v>
                </c:pt>
                <c:pt idx="35">
                  <c:v>10.151162705802479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VTI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  <c:pt idx="3">
                  <c:v>2023-04</c:v>
                </c:pt>
                <c:pt idx="4">
                  <c:v>2023-05</c:v>
                </c:pt>
                <c:pt idx="5">
                  <c:v>2023-06</c:v>
                </c:pt>
                <c:pt idx="6">
                  <c:v>2023-07</c:v>
                </c:pt>
                <c:pt idx="7">
                  <c:v>2023-08</c:v>
                </c:pt>
                <c:pt idx="8">
                  <c:v>2023-09</c:v>
                </c:pt>
                <c:pt idx="9">
                  <c:v>2023-10</c:v>
                </c:pt>
                <c:pt idx="10">
                  <c:v>2023-11</c:v>
                </c:pt>
                <c:pt idx="11">
                  <c:v>2023-12</c:v>
                </c:pt>
                <c:pt idx="12">
                  <c:v>2024-01</c:v>
                </c:pt>
                <c:pt idx="13">
                  <c:v>2024-02</c:v>
                </c:pt>
                <c:pt idx="14">
                  <c:v>2024-03</c:v>
                </c:pt>
                <c:pt idx="15">
                  <c:v>2024-04</c:v>
                </c:pt>
                <c:pt idx="16">
                  <c:v>2024-05</c:v>
                </c:pt>
                <c:pt idx="17">
                  <c:v>2024-06</c:v>
                </c:pt>
                <c:pt idx="18">
                  <c:v>2024-07</c:v>
                </c:pt>
                <c:pt idx="19">
                  <c:v>2024-08</c:v>
                </c:pt>
                <c:pt idx="20">
                  <c:v>2024-09</c:v>
                </c:pt>
                <c:pt idx="21">
                  <c:v>2024-10</c:v>
                </c:pt>
                <c:pt idx="22">
                  <c:v>2024-11</c:v>
                </c:pt>
                <c:pt idx="23">
                  <c:v>2024-12</c:v>
                </c:pt>
                <c:pt idx="24">
                  <c:v>2025-01</c:v>
                </c:pt>
                <c:pt idx="25">
                  <c:v>2025-02</c:v>
                </c:pt>
                <c:pt idx="26">
                  <c:v>2025-03</c:v>
                </c:pt>
                <c:pt idx="27">
                  <c:v>2025-04</c:v>
                </c:pt>
                <c:pt idx="28">
                  <c:v>2025-05</c:v>
                </c:pt>
                <c:pt idx="29">
                  <c:v>2025-06</c:v>
                </c:pt>
                <c:pt idx="30">
                  <c:v>2025-07</c:v>
                </c:pt>
                <c:pt idx="31">
                  <c:v>2025-08</c:v>
                </c:pt>
                <c:pt idx="32">
                  <c:v>2025-09</c:v>
                </c:pt>
                <c:pt idx="33">
                  <c:v>2025-10</c:v>
                </c:pt>
                <c:pt idx="34">
                  <c:v>2025-11</c:v>
                </c:pt>
                <c:pt idx="35">
                  <c:v>2025-12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6.687909122978886</c:v>
                </c:pt>
                <c:pt idx="1">
                  <c:v>6.527279287447569</c:v>
                </c:pt>
                <c:pt idx="2">
                  <c:v>6.703979923936968</c:v>
                </c:pt>
                <c:pt idx="3">
                  <c:v>6.776243176824008</c:v>
                </c:pt>
                <c:pt idx="4">
                  <c:v>6.805146589209631</c:v>
                </c:pt>
                <c:pt idx="5">
                  <c:v>7.263045056810266</c:v>
                </c:pt>
                <c:pt idx="6">
                  <c:v>7.5291285386018005</c:v>
                </c:pt>
                <c:pt idx="7">
                  <c:v>7.383722181265966</c:v>
                </c:pt>
                <c:pt idx="8">
                  <c:v>7.029224372946399</c:v>
                </c:pt>
                <c:pt idx="9">
                  <c:v>6.843243060078389</c:v>
                </c:pt>
                <c:pt idx="10">
                  <c:v>7.48755725741883</c:v>
                </c:pt>
                <c:pt idx="11">
                  <c:v>7.883941141755932</c:v>
                </c:pt>
                <c:pt idx="12">
                  <c:v>7.972012866572021</c:v>
                </c:pt>
                <c:pt idx="13">
                  <c:v>8.394425561798016</c:v>
                </c:pt>
                <c:pt idx="14">
                  <c:v>8.668058873036832</c:v>
                </c:pt>
                <c:pt idx="15">
                  <c:v>8.291521229039201</c:v>
                </c:pt>
                <c:pt idx="16">
                  <c:v>8.686069334833224</c:v>
                </c:pt>
                <c:pt idx="17">
                  <c:v>8.953505909755226</c:v>
                </c:pt>
                <c:pt idx="18">
                  <c:v>9.122864481388486</c:v>
                </c:pt>
                <c:pt idx="19">
                  <c:v>9.31732374380738</c:v>
                </c:pt>
                <c:pt idx="20">
                  <c:v>9.506545869496385</c:v>
                </c:pt>
                <c:pt idx="21">
                  <c:v>9.435034976263902</c:v>
                </c:pt>
                <c:pt idx="22">
                  <c:v>10.067216456025479</c:v>
                </c:pt>
                <c:pt idx="23">
                  <c:v>9.761125698720097</c:v>
                </c:pt>
                <c:pt idx="24">
                  <c:v>10.05718289533457</c:v>
                </c:pt>
                <c:pt idx="25">
                  <c:v>9.867219952468298</c:v>
                </c:pt>
                <c:pt idx="26">
                  <c:v>9.289462302323603</c:v>
                </c:pt>
                <c:pt idx="27">
                  <c:v>9.221188549305827</c:v>
                </c:pt>
                <c:pt idx="28">
                  <c:v>9.79780979009803</c:v>
                </c:pt>
                <c:pt idx="29">
                  <c:v>10.303706075427641</c:v>
                </c:pt>
                <c:pt idx="30">
                  <c:v>10.539663691559849</c:v>
                </c:pt>
                <c:pt idx="31">
                  <c:v>10.787482777054711</c:v>
                </c:pt>
                <c:pt idx="32">
                  <c:v>11.1564086819546</c:v>
                </c:pt>
                <c:pt idx="33">
                  <c:v>11.402878346925961</c:v>
                </c:pt>
                <c:pt idx="34">
                  <c:v>11.43313432778361</c:v>
                </c:pt>
                <c:pt idx="35">
                  <c:v>11.430109149424421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5"/>
          <c:min val="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CAGR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Selected</c:v>
                </c:pt>
                <c:pt idx="1">
                  <c:v>VTI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17.68638615218565</c:v>
                </c:pt>
                <c:pt idx="1">
                  <c:v>22.446857497005148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case, trustee revised mandate and all three analytical workstreams. Architecture is an illustrative vector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M1 selected principal 2,400 Beta, 1,200 Gamma, 2,400 Delta, after-fee net equity 6,209,562.44, hurdle 4.7951%, 2025 retained cash 396k.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2022 Original $2.4m in 2024 and $3.6m in 2027, vs revised split. USD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Bond costs Principal 5,784,228 and Coupon 5,429,776.18; equity 6,209,562.44 and 6,563,660.16;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Principal cash retained after 2023 132k; 2024 264k; 2025 396k; 2026 480k; 2027 564k.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+100bp bond sleeve price change Principal -178,263.66 and Coupon -168,602.38. Modified duration and convexity approximation, cash flow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Initial bond 5,784,228 + net equity 6,209,562.44 + fee 6,209.56 = $12m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exact frozen allocation weights, 15% direct-stock cap, 30% sector cap, 30% ETF, 40% combined ETF.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model return and sigma: Sample MV 12.0466%, 14.9757%; Minimum Variance 10.8572%,13.1470%. Third method Single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Representative mean/variance objective; foundation utility uses E/12m; Sample MV risk aversion A=3, A=6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Utility frozen 0.0533287046122; revised reoptimized 0.053328718. A*=8.938687 is pairwise fixed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Factor coefficients from n=96 OLS with HAC sensitivity, CAPM r2adj .784986, FF3 .843652, market .866715, SMB -.42649, HML .0101.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Target 8m*1.023^8=9,596,106.44; principal retained cash 564k; stress fund impact 14.42%; coupon 15.08%.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frozen policy equity base $6,229,246.75, not revised principal $6,209,562.44. Actual archived Yahoo stock prices, 752 common dates, 36 month-end observations, 10bp initial fee, unchanged shares. Not observed whole-fund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Observed growth sleeve CAGR Selected 17.6864%, VTI 22.4469%; volatility 11.80/12.60; tracking error 6.9062.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Group-proposed (not trustee-authorized) 12% early warning and 15% review based on rolling withdrawal-adjusted returns. Revised monitor uses case YTM modeled bonds, not historical traded bond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Approved principal funding and original Sample MV weights; source and acceptance limitations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INVESTMENT RECOMMENDATION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920240"/>
            <a:ext cx="12380976" cy="609904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795760" y="1380744"/>
            <a:ext cx="5660136" cy="81473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22165" y="4313773"/>
            <a:ext cx="962223" cy="5214274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185743" y="535662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28366" y="535662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185743" y="650376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628366" y="650376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185743" y="7650909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628366" y="7650909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984388" y="2114001"/>
            <a:ext cx="962223" cy="741404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47966" y="359681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590589" y="359681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147966" y="522790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590589" y="522790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147966" y="6858991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590589" y="6858991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059814" y="3417570"/>
            <a:ext cx="962223" cy="611047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23392" y="463966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666014" y="463966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3392" y="5983970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666014" y="5983970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223392" y="732827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666014" y="732827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135240" y="1706636"/>
            <a:ext cx="962223" cy="7821411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98818" y="3270918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41440" y="3270918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98818" y="499162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41440" y="499162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298818" y="671233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41440" y="671233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67267" y="4069354"/>
            <a:ext cx="962223" cy="5458693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30845" y="5161093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73468" y="5161093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30845" y="6362005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873468" y="6362005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30845" y="7562918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73468" y="7562918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95760" y="9039209"/>
            <a:ext cx="5660136" cy="48883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1832" y="2468880"/>
            <a:ext cx="10698480" cy="2788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KAPPA</a:t>
            </a:r>
          </a:p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FOUNDATION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400800"/>
            <a:ext cx="10451592" cy="10698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Investment recommendation</a:t>
            </a:r>
          </a:p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and revised mandate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8796528"/>
            <a:ext cx="16230600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The $12 million allocation that puts our payment dates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EXECUTIVE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Our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Meet the obligations without changing the frozen stock weights.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424160" cy="6318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0" y="2871216"/>
            <a:ext cx="6016752" cy="63185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62110" y="5145877"/>
            <a:ext cx="1022847" cy="4043842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935994" y="5954645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06504" y="5954645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35994" y="6844291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406504" y="6844291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935994" y="7733936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06504" y="7733936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784957" y="3439881"/>
            <a:ext cx="1022847" cy="574983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958842" y="4589849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429352" y="4589849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958842" y="5854813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29352" y="5854813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958842" y="7119778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429352" y="7119778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928140" y="4450842"/>
            <a:ext cx="1022847" cy="473887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102024" y="5398617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72534" y="5398617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02024" y="6441170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572534" y="6441170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02024" y="7483723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572534" y="7483723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071323" y="3123956"/>
            <a:ext cx="1022847" cy="6065763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45207" y="4337108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5717" y="4337108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45207" y="5671576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15717" y="5671576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245207" y="7006045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15717" y="7006045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74674" y="4956322"/>
            <a:ext cx="1022847" cy="4233397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48558" y="5803001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19068" y="5803001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48558" y="6734349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19068" y="6734349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48558" y="7665696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919068" y="7665696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521440" y="8810609"/>
            <a:ext cx="6016752" cy="379110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52144" y="3355848"/>
            <a:ext cx="2880360" cy="493776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43584" y="3392424"/>
            <a:ext cx="2706624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Lato"/>
              </a:defRPr>
            </a:pPr>
            <a:r>
              <a:t>SELECTED POLICY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" y="4041648"/>
            <a:ext cx="9482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700" b="1">
                <a:solidFill>
                  <a:srgbClr val="125449"/>
                </a:solidFill>
                <a:latin typeface="Lato"/>
              </a:defRPr>
            </a:pPr>
            <a:r>
              <a:t>Principal matching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9576" y="5157216"/>
            <a:ext cx="927201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2,400 Beta    1,200 Gamma    2,400 Delta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79576" y="5843016"/>
            <a:ext cx="947318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188720" y="6199632"/>
            <a:ext cx="4050791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125449"/>
                </a:solidFill>
                <a:latin typeface="Lato"/>
              </a:defRPr>
            </a:pPr>
            <a:r>
              <a:t>$6.21m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33872" y="6199632"/>
            <a:ext cx="4169663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16152" y="7013448"/>
            <a:ext cx="414223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65786F"/>
                </a:solidFill>
                <a:latin typeface="Lato"/>
              </a:defRPr>
            </a:pPr>
            <a:r>
              <a:t>Net equity investment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7880" y="7013448"/>
            <a:ext cx="4251960" cy="6309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Required equity CAGR to 2030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25296" y="8074152"/>
            <a:ext cx="9253728" cy="64922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A $396k cash reserve remains after the 2025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MANDATE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$6m total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Only the timing of the second commitment has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2496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80160" y="3401568"/>
          <a:ext cx="15032736" cy="5047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975104" y="8467344"/>
            <a:ext cx="14502384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Revised: $2.4m in 2024, $1.2m in 2025, $2.4m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We give up growth capital for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coupon-funded alternative has more equities but almost no 2025 reserve.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058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264408"/>
            <a:ext cx="9235440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USD millions committed in 2022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88720" y="3995928"/>
          <a:ext cx="9628632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43584" y="8129016"/>
            <a:ext cx="9244584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BE7460"/>
                </a:solidFill>
                <a:latin typeface="Lato"/>
              </a:defRPr>
            </a:pPr>
            <a:r>
              <a:t>Coupon funding adds $354k for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84864" y="2852928"/>
            <a:ext cx="60807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68912" y="3282696"/>
            <a:ext cx="5221224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Cash after the 2025 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79392"/>
            <a:ext cx="5202936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$396k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51208" y="5175504"/>
            <a:ext cx="510235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Principal matching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923776" y="5934456"/>
            <a:ext cx="521208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923776" y="6236208"/>
            <a:ext cx="516636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BE7460"/>
                </a:solidFill>
                <a:latin typeface="Lato"/>
              </a:defRPr>
            </a:pPr>
            <a:r>
              <a:t>Nearly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42064" y="7086600"/>
            <a:ext cx="508406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Coupon funding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60352" y="7891272"/>
            <a:ext cx="5038344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Both cover the scheduled payments under our cash-flow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2025 payment has a cash cushion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Selected bonds mature on time and coupons are retained at zero interest.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129284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69848" y="3465576"/>
          <a:ext cx="10543032" cy="52212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252960" y="2852928"/>
            <a:ext cx="530352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35840" y="3099816"/>
            <a:ext cx="4946904" cy="234086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33716" y="3942527"/>
            <a:ext cx="840973" cy="1498152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776681" y="4242157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163529" y="4242157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776681" y="4571751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163529" y="4571751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776681" y="4901344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63529" y="4901344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474689" y="3310493"/>
            <a:ext cx="840973" cy="213018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17655" y="373653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004503" y="373653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17655" y="420517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004503" y="420517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617655" y="4673812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004503" y="4673812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414601" y="3685032"/>
            <a:ext cx="840973" cy="175564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557567" y="4036161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944415" y="4036161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557567" y="4422404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944415" y="4422404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4557567" y="4808646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944415" y="4808646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354513" y="3193450"/>
            <a:ext cx="840973" cy="2247229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7478" y="364289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884326" y="364289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497478" y="413728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884326" y="413728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497478" y="4631677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884326" y="4631677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343894" y="3872301"/>
            <a:ext cx="840973" cy="1568378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86859" y="4185976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873707" y="4185976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86859" y="4531020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73707" y="4531020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486859" y="4876063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873707" y="4876063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35840" y="5300228"/>
            <a:ext cx="4946904" cy="140451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19304" y="5769864"/>
            <a:ext cx="4361688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2025 reserve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691872" y="6382512"/>
            <a:ext cx="4507992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000" b="1">
                <a:solidFill>
                  <a:srgbClr val="125449"/>
                </a:solidFill>
                <a:latin typeface="Lato"/>
              </a:defRPr>
            </a:pPr>
            <a:r>
              <a:t>$396,000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2701016" y="7452360"/>
            <a:ext cx="443484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2737592" y="7671816"/>
            <a:ext cx="431596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The cash balance is after paying the $1.2m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Bond pricing still responds to yields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Holding bonds to maturity reduces funding risk, not market-price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5159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64408"/>
            <a:ext cx="9070848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Price response to a parallel +100bp shock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61288" y="3977639"/>
          <a:ext cx="9528048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8293608"/>
            <a:ext cx="9098280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valuation shock is not a missed bond payment.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94008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51208" y="3273552"/>
            <a:ext cx="5129784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Case-date present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78056" y="4041648"/>
            <a:ext cx="5294376" cy="13441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06656" y="4315968"/>
            <a:ext cx="4910328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700" b="1">
                <a:solidFill>
                  <a:srgbClr val="125449"/>
                </a:solidFill>
                <a:latin typeface="Lato"/>
              </a:defRPr>
            </a:pPr>
            <a:r>
              <a:t>P = Σ CFt / (1 + y)^t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51208" y="5760720"/>
            <a:ext cx="50017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Rate approximation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78056" y="6428232"/>
            <a:ext cx="52852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0936" y="6629400"/>
            <a:ext cx="4965192" cy="10881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ΔP/P ≈ −Dmod Δy</a:t>
            </a:r>
          </a:p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+ ½ Convexity (Δy)^2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51208" y="8129016"/>
            <a:ext cx="5129784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Bond marks are modeled, not historical market prices.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INITIAL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Where the full $12 million goes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We show the entry fee separately to keep the allocation accurate.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607040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16736" y="3300984"/>
          <a:ext cx="9061704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603736" y="2852928"/>
            <a:ext cx="5952744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0" y="3319272"/>
            <a:ext cx="518464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Net equity purchased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51208" y="4096512"/>
            <a:ext cx="5358384" cy="9144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$6.210m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978640" y="5303520"/>
            <a:ext cx="519379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015216" y="5733288"/>
            <a:ext cx="502005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Entry fee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978640" y="6464808"/>
            <a:ext cx="5266944" cy="12161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52376" y="6638544"/>
            <a:ext cx="4910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E = (12m − Bond Cost) / 1.001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51792" y="8037575"/>
            <a:ext cx="512064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Ten basis points: about $6,210.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STOCK ALLOCATION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Eight stocks, with strict weight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candidate list spans six sectors; selected stocks span five.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548872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24128" y="3209544"/>
          <a:ext cx="1046988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554712" y="2852928"/>
            <a:ext cx="50017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66192" y="3328416"/>
            <a:ext cx="41148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Stock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7048" y="3877056"/>
            <a:ext cx="412394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15%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57048" y="4956048"/>
            <a:ext cx="414223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7048" y="5257800"/>
            <a:ext cx="4142232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Technology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47904" y="5824728"/>
            <a:ext cx="4114800" cy="8046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30%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66192" y="6894576"/>
            <a:ext cx="412394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57048" y="7251192"/>
            <a:ext cx="4133087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No selected ETFs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6192" y="8028431"/>
            <a:ext cx="4142232" cy="6949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Stock concentration still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MODELS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More expected return means more estimated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Model statistics are in sample, not observed 2023–2025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00937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25296" y="3429000"/>
          <a:ext cx="10104120" cy="51755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006072" y="2852928"/>
            <a:ext cx="555040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335256" y="3246120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54712" y="3401568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Sample 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0" y="3913631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Full covariance from 96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35256" y="5102352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54712" y="5257800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Single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0" y="5769864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Market-factor covariance assumption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35256" y="6958583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54712" y="7114031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Minimum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7626096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Reduce estimated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MATH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What the optimizer actually solves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forecasts change, but the constraints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00984"/>
            <a:ext cx="918972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Risk-adjusted objective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1288" y="4069080"/>
            <a:ext cx="9537192" cy="13350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279392"/>
            <a:ext cx="9171432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200" b="1">
                <a:solidFill>
                  <a:srgbClr val="125449"/>
                </a:solidFill>
                <a:latin typeface="Lato"/>
              </a:defRPr>
            </a:pPr>
            <a:r>
              <a:t>max  μᵀw − (A/2) wᵀΣw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733288"/>
            <a:ext cx="9052560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Investment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36792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Σw = 1; w ≥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03720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direct stock ≤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7470648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Direct-stock sector ≤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8037575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ETF ≤ 30%; combined ETFs ≤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2852928"/>
            <a:ext cx="6044184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05488" y="3291840"/>
            <a:ext cx="5193792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Expected-return blend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78056" y="4078224"/>
            <a:ext cx="5285232" cy="148132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15800" y="4315968"/>
            <a:ext cx="4855464" cy="10241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μ = 0.25 μsample</a:t>
            </a:r>
          </a:p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+ 0.75 μVTI prior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42064" y="5888736"/>
            <a:ext cx="515721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932920" y="6190488"/>
            <a:ext cx="5120640" cy="7680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900" b="1">
                <a:solidFill>
                  <a:srgbClr val="C28E52"/>
                </a:solidFill>
                <a:latin typeface="Lato"/>
              </a:defRPr>
            </a:pPr>
            <a:r>
              <a:t>96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51208" y="7086600"/>
            <a:ext cx="5102352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Jan 2015 – Dec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9496" y="7872983"/>
            <a:ext cx="507492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Foundation utility also scales by the equity share.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RISK PREFERENCE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Re-optimization delivers a tiny modeled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Keeping the frozen shares avoids overreacting to unstable forecasts.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291840"/>
            <a:ext cx="932688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Foundation equity contribution to utility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14215"/>
            <a:ext cx="9564624" cy="12984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4242816"/>
            <a:ext cx="905256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000" b="1">
                <a:solidFill>
                  <a:srgbClr val="125449"/>
                </a:solidFill>
                <a:latin typeface="Lato"/>
              </a:defRPr>
            </a:pPr>
            <a:r>
              <a:t>U = F μp − (A/2) F² σp²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733288"/>
            <a:ext cx="917143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= 3, revised 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6409944"/>
            <a:ext cx="287121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Frozen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6446520"/>
            <a:ext cx="3507569" cy="420624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6400800"/>
            <a:ext cx="2532888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000" b="1">
                <a:solidFill>
                  <a:srgbClr val="125449"/>
                </a:solidFill>
                <a:latin typeface="Lato"/>
              </a:defRPr>
            </a:pPr>
            <a:r>
              <a:t>0.053328705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7269480"/>
            <a:ext cx="287121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Reoptimized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7952" y="7306056"/>
            <a:ext cx="3507570" cy="420624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7260336"/>
            <a:ext cx="2532888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000" b="1">
                <a:solidFill>
                  <a:srgbClr val="C28E52"/>
                </a:solidFill>
                <a:latin typeface="Lato"/>
              </a:defRPr>
            </a:pPr>
            <a:r>
              <a:t>0.053328718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84864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78056" y="3310128"/>
            <a:ext cx="5148072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Reconsider at higher risk aversion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4" y="4224528"/>
            <a:ext cx="5248656" cy="9509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A* ≈ 8.94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32920" y="5294376"/>
            <a:ext cx="51297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Fixed-policy comparison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96344" y="6300216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896344" y="6665976"/>
            <a:ext cx="5047488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Reassess and re-optimize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4632" y="7552944"/>
            <a:ext cx="5084064" cy="868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Do not automatically buy the old Minimum Variance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FACTOR EVIDENCE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FF3 fits the historical data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A positive estimated intercept is not proof of future stock-picking skill.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878738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282696"/>
            <a:ext cx="7644383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Adjusted R squared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43000" y="3950208"/>
          <a:ext cx="7781544" cy="3355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7525512"/>
            <a:ext cx="80192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Excess Rp = α + βm excess Rm + 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8129016"/>
            <a:ext cx="798271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FF3 adds SMB and HML.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2852928"/>
            <a:ext cx="77449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3273552"/>
            <a:ext cx="677570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FF3 factor loadings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177272" y="3968496"/>
          <a:ext cx="6784848" cy="34472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10232136" y="7726679"/>
            <a:ext cx="684885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13848" y="7982712"/>
            <a:ext cx="6976872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Monthly FF3 α ≈ +0.569% (in sample)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STRESS &amp; GOAL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Funding commitments does not eliminate market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2030 goal also depends on inflation and equity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1772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64408"/>
            <a:ext cx="916228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Combined shock: stocks −25%, yields +100bp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07008" y="3913632"/>
          <a:ext cx="9308592" cy="3877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07008" y="8266175"/>
            <a:ext cx="9162288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A one-time shock is not a rolling 12-month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7976" y="2852928"/>
            <a:ext cx="63093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67744" y="3273552"/>
            <a:ext cx="512064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nominal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4078224"/>
            <a:ext cx="5330952" cy="88696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$9.596m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047488"/>
            <a:ext cx="50474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Assuming 2.3% inflation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31168" y="5742432"/>
            <a:ext cx="552297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658600" y="6025896"/>
            <a:ext cx="511149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Equity CAGR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629400"/>
            <a:ext cx="5330952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22024" y="7872983"/>
            <a:ext cx="544068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59184" y="7991856"/>
            <a:ext cx="5093208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600" b="1">
                <a:solidFill>
                  <a:srgbClr val="125449"/>
                </a:solidFill>
                <a:latin typeface="Lato"/>
              </a:defRPr>
            </a:pPr>
            <a:r>
              <a:t>r* = [(Target − Cash) / E]^(1/8) − 1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FROZEN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selected shares grew, but VTI did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Original $6.229m equity base, not revised $6.210m. Monthly returns, 2023–25.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3410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88136" y="3236976"/>
          <a:ext cx="16120872" cy="54041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RESULTS &amp; LIMITATIONS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Selected shares underperformed the VTI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Positive absolute returns do not prove an equity-selection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1501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300984"/>
            <a:ext cx="887882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CAGR after entry fee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25296" y="3986784"/>
          <a:ext cx="9473184" cy="38313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88720" y="8275320"/>
            <a:ext cx="9400032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BE7460"/>
                </a:solidFill>
                <a:latin typeface="Lato"/>
              </a:defRPr>
            </a:pPr>
            <a:r>
              <a:t>VTI outperformed by 4.76 percentage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75720" y="2852928"/>
            <a:ext cx="6080760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96344" y="3291840"/>
            <a:ext cx="501091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Observed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187952"/>
            <a:ext cx="5065776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2D4038"/>
                </a:solidFill>
                <a:latin typeface="Lato"/>
              </a:defRPr>
            </a:pPr>
            <a:r>
              <a:t>11.80% vs 12.60%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3776" y="4837176"/>
            <a:ext cx="496519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Annualized volatility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96344" y="5733288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96344" y="6062472"/>
            <a:ext cx="5074920" cy="7772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6.91%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32920" y="6894576"/>
            <a:ext cx="50292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Annualized tracking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7754112"/>
            <a:ext cx="5038344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The future test did not change our 2022 decision.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Implementation requires monitoring and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Our proposed review rules still require trustee agreement.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68066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8448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28816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$1.2m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08208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759184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61136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56632"/>
            <a:ext cx="1536192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Rolling withdrawal-adjusted review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7592" y="5907024"/>
            <a:ext cx="6976872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6227064"/>
            <a:ext cx="6217920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C28E52"/>
                </a:solidFill>
                <a:latin typeface="Lato"/>
              </a:defRPr>
            </a:pPr>
            <a:r>
              <a:t>12% trailing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6776" y="6995160"/>
            <a:ext cx="619048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Warning: review cash and assumptions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08008" y="5907024"/>
            <a:ext cx="6958584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7192" y="6227064"/>
            <a:ext cx="6153912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BE7460"/>
                </a:solidFill>
                <a:latin typeface="Lato"/>
              </a:defRPr>
            </a:pPr>
            <a:r>
              <a:t>15% trailing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6995160"/>
            <a:ext cx="61539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Stronger trustee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8485632"/>
            <a:ext cx="15160751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125449"/>
                </a:solidFill>
                <a:latin typeface="Lato"/>
              </a:defRPr>
            </a:pPr>
            <a:r>
              <a:t>Rolling TWR = Π(1 + withdrawal-adjusted monthly return) 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BOARD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One clear recommendation, with risks disclosed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What we would ask the trustees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62072"/>
            <a:ext cx="7607808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6688" y="5146608"/>
            <a:ext cx="1293327" cy="4061399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46553" y="5958888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1484" y="5958888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6553" y="6852396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41484" y="6852396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46553" y="7745904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41484" y="7745904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20015" y="3433206"/>
            <a:ext cx="1293327" cy="5774801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39881" y="4588166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34811" y="4588166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39881" y="5858622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34811" y="5858622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39881" y="7129079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4811" y="7129079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5499" y="4448556"/>
            <a:ext cx="1293327" cy="4759452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85364" y="5400446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0295" y="5400446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85364" y="644752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80295" y="644752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85364" y="749460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80295" y="749460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0982" y="3115909"/>
            <a:ext cx="1293327" cy="6092098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30848" y="4334329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25778" y="4334329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0848" y="5674590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25778" y="5674590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30848" y="7014852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25778" y="7014852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32544" y="4956230"/>
            <a:ext cx="1293327" cy="4251777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52409" y="5806586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47340" y="5806586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52409" y="6741977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47340" y="6741977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52409" y="7677368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7340" y="7677368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" y="8827251"/>
            <a:ext cx="7607808" cy="38075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695944" y="2862072"/>
            <a:ext cx="8851392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171432" y="3328416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26296" y="3383280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30968" y="3300984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Fund the promises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40112" y="3959352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Principal-match every revised payment.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62288" y="4672584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171432" y="5029200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5084064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0968" y="5001768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Keep the original equity 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40112" y="5660136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Retain Sample MV weights without hindsight.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62288" y="6373368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171432" y="6729984"/>
            <a:ext cx="658368" cy="658368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26296" y="6784848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0968" y="6702552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Monitor and reconsider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40112" y="7360920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Use cash needs and rolling losses to review.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08008" y="8549640"/>
            <a:ext cx="768096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The 2030 goal is uncertain. Human review and university acceptance remain separate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Kappa Foundation | Group investment presentation</dc:title>
  <dc:subject/>
  <dc:creator>Kappa Foundation Group 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