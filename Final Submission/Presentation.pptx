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Sheet1!$A$2:$A$2</c:f>
              <c:strCache>
                <c:ptCount val="1"/>
                <c:pt idx="0">
                  <c:v>2022 allocation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5.784228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equities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Sheet1!$A$2:$A$2</c:f>
              <c:strCache>
                <c:ptCount val="1"/>
                <c:pt idx="0">
                  <c:v>2022 allocation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6.209562437562439</c:v>
                </c:pt>
              </c:numCache>
            </c:numRef>
          </c:val>
        </c:ser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2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million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  <c:pt idx="1">
                  <c:v>1.2</c:v>
                </c:pt>
                <c:pt idx="2">
                  <c:v>2.4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</c:v>
                </c:pt>
              </c:strCache>
            </c:strRef>
          </c:tx>
          <c:spPr>
            <a:solidFill>
              <a:srgbClr val="8DAE9D"/>
            </a:solidFill>
            <a:ln w="33020">
              <a:solidFill>
                <a:srgbClr val="8DAE9D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  <c:pt idx="1">
                  <c:v>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Revised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1.2</c:v>
                </c:pt>
                <c:pt idx="2">
                  <c:v>2.4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5.784228</c:v>
                </c:pt>
                <c:pt idx="1">
                  <c:v>5.429776178571429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Equities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6.209562437562439</c:v>
                </c:pt>
                <c:pt idx="1">
                  <c:v>6.563660161267304</c:v>
                </c:pt>
              </c:numCache>
            </c:numRef>
          </c:val>
        </c:ser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Retained cash, USD thousands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132.0</c:v>
                </c:pt>
                <c:pt idx="1">
                  <c:v>264.0</c:v>
                </c:pt>
                <c:pt idx="2">
                  <c:v>396.0</c:v>
                </c:pt>
                <c:pt idx="3">
                  <c:v>480.0</c:v>
                </c:pt>
                <c:pt idx="4">
                  <c:v>564.0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4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Change, USD thousands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-178.26366</c:v>
                </c:pt>
                <c:pt idx="1">
                  <c:v>-168.60238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"/>
          <c:min val="-20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USD millions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Bonds</c:v>
                </c:pt>
                <c:pt idx="1">
                  <c:v>Net equities</c:v>
                </c:pt>
                <c:pt idx="2">
                  <c:v>Entry fee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5.784228</c:v>
                </c:pt>
                <c:pt idx="1">
                  <c:v>6.209562437562439</c:v>
                </c:pt>
                <c:pt idx="2">
                  <c:v>0.0062095624375613405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Sheet1!$A$2:$A$9</c:f>
              <c:strCache>
                <c:ptCount val="8"/>
                <c:pt idx="0">
                  <c:v>JPM</c:v>
                </c:pt>
                <c:pt idx="1">
                  <c:v>JNJ</c:v>
                </c:pt>
                <c:pt idx="2">
                  <c:v>KO</c:v>
                </c:pt>
                <c:pt idx="3">
                  <c:v>PFE</c:v>
                </c:pt>
                <c:pt idx="4">
                  <c:v>CAT</c:v>
                </c:pt>
                <c:pt idx="5">
                  <c:v>AAPL</c:v>
                </c:pt>
                <c:pt idx="6">
                  <c:v>MSFT</c:v>
                </c:pt>
                <c:pt idx="7">
                  <c:v>PG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4.2422367106611</c:v>
                </c:pt>
                <c:pt idx="1">
                  <c:v>9.0978816882768</c:v>
                </c:pt>
                <c:pt idx="2">
                  <c:v>12.5925519843878</c:v>
                </c:pt>
                <c:pt idx="3">
                  <c:v>14.170655069310401</c:v>
                </c:pt>
                <c:pt idx="4">
                  <c:v>14.896674547364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Return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Sample MV</c:v>
                </c:pt>
                <c:pt idx="1">
                  <c:v>Single Index</c:v>
                </c:pt>
                <c:pt idx="2">
                  <c:v>Min. Variance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12.046581187371338</c:v>
                </c:pt>
                <c:pt idx="1">
                  <c:v>11.905535603931195</c:v>
                </c:pt>
                <c:pt idx="2">
                  <c:v>10.857185131194342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Volatility %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Sheet1!$A$2:$A$4</c:f>
              <c:strCache>
                <c:ptCount val="3"/>
                <c:pt idx="0">
                  <c:v>Sample MV</c:v>
                </c:pt>
                <c:pt idx="1">
                  <c:v>Single Index</c:v>
                </c:pt>
                <c:pt idx="2">
                  <c:v>Min. Variance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14.97572487681616</c:v>
                </c:pt>
                <c:pt idx="1">
                  <c:v>14.462438864444218</c:v>
                </c:pt>
                <c:pt idx="2">
                  <c:v>13.147012521086127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Adjusted R²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CAPM</c:v>
                </c:pt>
                <c:pt idx="1">
                  <c:v>FF3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0.7849860862</c:v>
                </c:pt>
                <c:pt idx="1">
                  <c:v>0.8436523346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Exposure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Sheet1!$A$2:$A$4</c:f>
              <c:strCache>
                <c:ptCount val="3"/>
                <c:pt idx="0">
                  <c:v>Market β</c:v>
                </c:pt>
                <c:pt idx="1">
                  <c:v>SMB</c:v>
                </c:pt>
                <c:pt idx="2">
                  <c:v>HML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0.8667145258</c:v>
                </c:pt>
                <c:pt idx="1">
                  <c:v>-0.4264931863</c:v>
                </c:pt>
                <c:pt idx="2">
                  <c:v>0.01012961894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-0.6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 loss %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14.42</c:v>
                </c:pt>
                <c:pt idx="1">
                  <c:v>15.08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Selected shares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2023-07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2024-01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2024-07</c:v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2025-01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2025-07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>2025-12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6.239471978362903</c:v>
                </c:pt>
                <c:pt idx="1">
                  <c:v>6.086479329211524</c:v>
                </c:pt>
                <c:pt idx="2">
                  <c:v>6.417813165432623</c:v>
                </c:pt>
                <c:pt idx="3">
                  <c:v>6.585992914749419</c:v>
                </c:pt>
                <c:pt idx="4">
                  <c:v>6.49873462731366</c:v>
                </c:pt>
                <c:pt idx="5">
                  <c:v>6.929780097555062</c:v>
                </c:pt>
                <c:pt idx="6">
                  <c:v>7.096359696054172</c:v>
                </c:pt>
                <c:pt idx="7">
                  <c:v>6.978356028023962</c:v>
                </c:pt>
                <c:pt idx="8">
                  <c:v>6.616625804238342</c:v>
                </c:pt>
                <c:pt idx="9">
                  <c:v>6.478906397425493</c:v>
                </c:pt>
                <c:pt idx="10">
                  <c:v>7.003124601405863</c:v>
                </c:pt>
                <c:pt idx="11">
                  <c:v>7.156387899031231</c:v>
                </c:pt>
                <c:pt idx="12">
                  <c:v>7.278824457962308</c:v>
                </c:pt>
                <c:pt idx="13">
                  <c:v>7.497959929662004</c:v>
                </c:pt>
                <c:pt idx="14">
                  <c:v>7.667773299699701</c:v>
                </c:pt>
                <c:pt idx="15">
                  <c:v>7.334844744778028</c:v>
                </c:pt>
                <c:pt idx="16">
                  <c:v>7.742171921830142</c:v>
                </c:pt>
                <c:pt idx="17">
                  <c:v>7.987636087708457</c:v>
                </c:pt>
                <c:pt idx="18">
                  <c:v>8.157190509183105</c:v>
                </c:pt>
                <c:pt idx="19">
                  <c:v>8.420152328421429</c:v>
                </c:pt>
                <c:pt idx="20">
                  <c:v>8.609451927851515</c:v>
                </c:pt>
                <c:pt idx="21">
                  <c:v>8.281306910184194</c:v>
                </c:pt>
                <c:pt idx="22">
                  <c:v>8.655922572358321</c:v>
                </c:pt>
                <c:pt idx="23">
                  <c:v>8.423394683829885</c:v>
                </c:pt>
                <c:pt idx="24">
                  <c:v>8.434793088879488</c:v>
                </c:pt>
                <c:pt idx="25">
                  <c:v>8.495586139909129</c:v>
                </c:pt>
                <c:pt idx="26">
                  <c:v>8.135286121558984</c:v>
                </c:pt>
                <c:pt idx="27">
                  <c:v>7.983484352604796</c:v>
                </c:pt>
                <c:pt idx="28">
                  <c:v>8.390850387883885</c:v>
                </c:pt>
                <c:pt idx="29">
                  <c:v>8.713980561730134</c:v>
                </c:pt>
                <c:pt idx="30">
                  <c:v>9.041409119046639</c:v>
                </c:pt>
                <c:pt idx="31">
                  <c:v>9.194397883144122</c:v>
                </c:pt>
                <c:pt idx="32">
                  <c:v>9.667555095078423</c:v>
                </c:pt>
                <c:pt idx="33">
                  <c:v>10.21073575123062</c:v>
                </c:pt>
                <c:pt idx="34">
                  <c:v>10.31642045406127</c:v>
                </c:pt>
                <c:pt idx="35">
                  <c:v>10.151162705802479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VTI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2023-07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2024-01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2024-07</c:v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2025-01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2025-07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>2025-12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6.687909122978886</c:v>
                </c:pt>
                <c:pt idx="1">
                  <c:v>6.527279287447569</c:v>
                </c:pt>
                <c:pt idx="2">
                  <c:v>6.703979923936968</c:v>
                </c:pt>
                <c:pt idx="3">
                  <c:v>6.776243176824008</c:v>
                </c:pt>
                <c:pt idx="4">
                  <c:v>6.805146589209631</c:v>
                </c:pt>
                <c:pt idx="5">
                  <c:v>7.263045056810266</c:v>
                </c:pt>
                <c:pt idx="6">
                  <c:v>7.5291285386018005</c:v>
                </c:pt>
                <c:pt idx="7">
                  <c:v>7.383722181265966</c:v>
                </c:pt>
                <c:pt idx="8">
                  <c:v>7.029224372946399</c:v>
                </c:pt>
                <c:pt idx="9">
                  <c:v>6.843243060078389</c:v>
                </c:pt>
                <c:pt idx="10">
                  <c:v>7.48755725741883</c:v>
                </c:pt>
                <c:pt idx="11">
                  <c:v>7.883941141755932</c:v>
                </c:pt>
                <c:pt idx="12">
                  <c:v>7.972012866572021</c:v>
                </c:pt>
                <c:pt idx="13">
                  <c:v>8.394425561798016</c:v>
                </c:pt>
                <c:pt idx="14">
                  <c:v>8.668058873036832</c:v>
                </c:pt>
                <c:pt idx="15">
                  <c:v>8.291521229039201</c:v>
                </c:pt>
                <c:pt idx="16">
                  <c:v>8.686069334833224</c:v>
                </c:pt>
                <c:pt idx="17">
                  <c:v>8.953505909755226</c:v>
                </c:pt>
                <c:pt idx="18">
                  <c:v>9.122864481388486</c:v>
                </c:pt>
                <c:pt idx="19">
                  <c:v>9.31732374380738</c:v>
                </c:pt>
                <c:pt idx="20">
                  <c:v>9.506545869496385</c:v>
                </c:pt>
                <c:pt idx="21">
                  <c:v>9.435034976263902</c:v>
                </c:pt>
                <c:pt idx="22">
                  <c:v>10.067216456025479</c:v>
                </c:pt>
                <c:pt idx="23">
                  <c:v>9.761125698720097</c:v>
                </c:pt>
                <c:pt idx="24">
                  <c:v>10.05718289533457</c:v>
                </c:pt>
                <c:pt idx="25">
                  <c:v>9.867219952468298</c:v>
                </c:pt>
                <c:pt idx="26">
                  <c:v>9.289462302323603</c:v>
                </c:pt>
                <c:pt idx="27">
                  <c:v>9.221188549305827</c:v>
                </c:pt>
                <c:pt idx="28">
                  <c:v>9.79780979009803</c:v>
                </c:pt>
                <c:pt idx="29">
                  <c:v>10.303706075427641</c:v>
                </c:pt>
                <c:pt idx="30">
                  <c:v>10.539663691559849</c:v>
                </c:pt>
                <c:pt idx="31">
                  <c:v>10.787482777054711</c:v>
                </c:pt>
                <c:pt idx="32">
                  <c:v>11.1564086819546</c:v>
                </c:pt>
                <c:pt idx="33">
                  <c:v>11.402878346925961</c:v>
                </c:pt>
                <c:pt idx="34">
                  <c:v>11.43313432778361</c:v>
                </c:pt>
                <c:pt idx="35">
                  <c:v>11.430109149424421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5"/>
          <c:min val="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CAGR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Selected</c:v>
                </c:pt>
                <c:pt idx="1">
                  <c:v>VTI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17.68638615218565</c:v>
                </c:pt>
                <c:pt idx="1">
                  <c:v>22.446857497005148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 total, $m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4.80%</c:v>
                </c:pt>
                <c:pt idx="2">
                  <c:v>8%</c:v>
                </c:pt>
                <c:pt idx="3">
                  <c:v>12%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6.773562437562439</c:v>
                </c:pt>
                <c:pt idx="1">
                  <c:v>9.596106331618323</c:v>
                </c:pt>
                <c:pt idx="2">
                  <c:v>12.057466708315923</c:v>
                </c:pt>
                <c:pt idx="3">
                  <c:v>15.938647936308048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2030 target, $m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Sheet1!$A$2:$A$5</c:f>
              <c:strCache>
                <c:ptCount val="4"/>
                <c:pt idx="0">
                  <c:v>0%</c:v>
                </c:pt>
                <c:pt idx="1">
                  <c:v>4.80%</c:v>
                </c:pt>
                <c:pt idx="2">
                  <c:v>8%</c:v>
                </c:pt>
                <c:pt idx="3">
                  <c:v>12%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9.596106443820231</c:v>
                </c:pt>
                <c:pt idx="1">
                  <c:v>9.596106443820231</c:v>
                </c:pt>
                <c:pt idx="2">
                  <c:v>9.596106443820231</c:v>
                </c:pt>
                <c:pt idx="3">
                  <c:v>9.596106443820231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Case-date $12m reconciliation: principal-matching bond cost $5,784,228; net equity $6,209,562.44; 10bp equity entry fee $6,209.56. All quantities are from archived case calculations; no photographs.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Group-selected principal bonds 2,400 Beta, 1,200 Gamma, 2,400 Delta; net equity $6,209,562.44 and 4.7951% growth hurdle. Revised payments: $2.4m in 2024, $1.2m in 2025, $2.4m in 2027; the 2025 retained cash is $396k.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2022 Original $2.4m in 2024 and $3.6m in 2027, vs revised split. USD millions.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Bond costs Principal 5,784,228 and Coupon 5,429,776.18; equity 6,209,562.44 and 6,563,660.16; no double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Selected principal-matched bond ledger: retained cash $132k end-2023, $264k end-2024, $396k end-2025, $480k end-2026, $564k end-2027. Gamma principal $1.2m meets the 2025 liability.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+100bp bond sleeve price change Principal -178,263.66 and Coupon -168,602.38. Modified duration and convexity approximation, cash flow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Initial bond 5,784,228 + net equity 6,209,562.44 + fee 6,209.56 = $12m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exact frozen allocation weights, 15% direct-stock cap, 30% sector cap, 30% ETF, 40% combined ETF.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All three models use the common sample covariance for displayed risk: Sample MV 12.0466%/14.9757%; Single Index 11.9055%/14.4624%; Minimum Variance 10.8572%/13.1470%. Single Index is optimized with its own covariance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Representative mean/variance objective; foundation utility uses E/12m; Sample MV risk aversion A=3, A=6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Source-derived utility frozen 0.053328704612, reoptimized 0.053328717792, gain 1.31799698794e-08. Bars cannot communicate this tiny utility difference faithfully. A*=8.938687 is a pairwise fixed-policy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Factor coefficients from n=96 OLS with HAC sensitivity, CAPM r2adj .784986, FF3 .843652, market .866715, SMB -.42649, HML .0101.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Target 8m*1.023^8=9,596,106.44; principal retained cash 564k; stress fund impact 14.42%; coupon 15.08%.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frozen policy equity base $6,229,246.75, not revised principal $6,209,562.44. Actual archived Yahoo stock prices, 752 common dates, 36 month-end observations, 10bp initial fee, unchanged shares. Not observed whole-fund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Observed growth sleeve CAGR Selected 17.6864%, VTI 22.4469%; volatility 11.80/12.60; tracking error 6.9062.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Group-proposed (not trustee-authorized) 12% early warning and 15% review based on rolling withdrawal-adjusted returns. Revised monitor uses case YTM modeled bonds, not historical traded bond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2030 equity scenario sensitivity holds bond cash $564,000 at zero reinvestment: total=net equity (1+r)^8 plus residual cash. 2022-dollar $8m goal inflates at 2.3% for 8 years to $9.596m nominal. These are modeled illustrations, not return forecasts. Funding remains a group proposal; no trustee or LMS approval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INVESTMENT RECOMMENDATION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920240"/>
            <a:ext cx="11247120" cy="609904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76304" y="1920240"/>
            <a:ext cx="5971032" cy="609904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932920" y="2331720"/>
            <a:ext cx="5257800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Where the $12m starts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11951208" y="3081528"/>
          <a:ext cx="5184648" cy="24323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978640" y="5715000"/>
            <a:ext cx="52760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$5.784m bonds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78640" y="6300216"/>
            <a:ext cx="5266944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C28E52"/>
                </a:solidFill>
                <a:latin typeface="Lato"/>
              </a:defRPr>
            </a:pPr>
            <a:r>
              <a:t>$6.210m equities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87784" y="6912864"/>
            <a:ext cx="523036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$6,210 entry fee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2468880"/>
            <a:ext cx="10698480" cy="2788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KAPPA</a:t>
            </a:r>
          </a:p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FOUNDATION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6400800"/>
            <a:ext cx="10451592" cy="10698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Investment recommendation</a:t>
            </a:r>
          </a:p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and revised mandate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8796528"/>
            <a:ext cx="16230600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The $12 million allocation that puts our payment dates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EXECUTIVE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Our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Meet the obligations without changing the frozen stock weights.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424160" cy="6318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521440" y="2871216"/>
            <a:ext cx="6016752" cy="631850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78056" y="3255264"/>
            <a:ext cx="534924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Revised commitments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11850624" y="4023360"/>
          <a:ext cx="5394960" cy="392277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914632" y="8174736"/>
            <a:ext cx="5257800" cy="6126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$6.0m across three dates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" y="3355848"/>
            <a:ext cx="2880360" cy="493776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584" y="3392424"/>
            <a:ext cx="2706624" cy="3749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Lato"/>
              </a:defRPr>
            </a:pPr>
            <a:r>
              <a:t>SELECTED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" y="4041648"/>
            <a:ext cx="9482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700" b="1">
                <a:solidFill>
                  <a:srgbClr val="125449"/>
                </a:solidFill>
                <a:latin typeface="Lato"/>
              </a:defRPr>
            </a:pPr>
            <a:r>
              <a:t>Principal matching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5157216"/>
            <a:ext cx="927201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2,400 Beta    1,200 Gamma    2,400 Delta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79576" y="5843016"/>
            <a:ext cx="947318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88720" y="6199632"/>
            <a:ext cx="4050791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125449"/>
                </a:solidFill>
                <a:latin typeface="Lato"/>
              </a:defRPr>
            </a:pPr>
            <a:r>
              <a:t>$6.21m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33872" y="6199632"/>
            <a:ext cx="4169663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6152" y="7013448"/>
            <a:ext cx="414223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65786F"/>
                </a:solidFill>
                <a:latin typeface="Lato"/>
              </a:defRPr>
            </a:pPr>
            <a:r>
              <a:t>Net equity investment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7013448"/>
            <a:ext cx="4251960" cy="6309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Required equity CAGR to 2030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5296" y="8074152"/>
            <a:ext cx="9253728" cy="64922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A $396k cash reserve remains after the 2025 commitment.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MANDATE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$6m total stays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Only the timing of the second commitment has 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2496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80160" y="3401568"/>
          <a:ext cx="15032736" cy="50474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975104" y="8467344"/>
            <a:ext cx="14502384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Revised: $2.4m in 2024, $1.2m in 2025, $2.4m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STRATEGY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We give up growth capital for liquidity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coupon-funded alternative has more equities but almost no 2025 reserve.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058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264408"/>
            <a:ext cx="9235440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USD millions committed in 2022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88720" y="3995928"/>
          <a:ext cx="9628632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43584" y="8129016"/>
            <a:ext cx="9244584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BE7460"/>
                </a:solidFill>
                <a:latin typeface="Lato"/>
              </a:defRPr>
            </a:pPr>
            <a:r>
              <a:t>Coupon funding adds $354k for equities.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84864" y="2852928"/>
            <a:ext cx="60807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68912" y="3282696"/>
            <a:ext cx="5221224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Cash after the 2025 payment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279392"/>
            <a:ext cx="5202936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$396k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51208" y="5175504"/>
            <a:ext cx="510235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Principal matching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923776" y="5934456"/>
            <a:ext cx="521208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923776" y="6236208"/>
            <a:ext cx="516636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100" b="1">
                <a:solidFill>
                  <a:srgbClr val="BE7460"/>
                </a:solidFill>
                <a:latin typeface="Lato"/>
              </a:defRPr>
            </a:pPr>
            <a:r>
              <a:t>Nearly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42064" y="7086600"/>
            <a:ext cx="508406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Coupon funding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60352" y="7891272"/>
            <a:ext cx="5038344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Both cover the scheduled payments under our cash-flow assumptions.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CASH 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2025 payment has a cash cushion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Selected bonds mature on time and coupons are retained at zero interest.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129284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69848" y="3465576"/>
          <a:ext cx="10543032" cy="52212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252960" y="2852928"/>
            <a:ext cx="530352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435840" y="3099816"/>
            <a:ext cx="4946904" cy="23408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73584" y="3447288"/>
            <a:ext cx="4462272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2025 principal maturity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46152" y="4041648"/>
            <a:ext cx="4553712" cy="8412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100" b="1">
                <a:solidFill>
                  <a:srgbClr val="125449"/>
                </a:solidFill>
                <a:latin typeface="Lato"/>
              </a:defRPr>
            </a:pPr>
            <a:r>
              <a:t>$1.20m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64440" y="4837176"/>
            <a:ext cx="4471416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0">
                <a:solidFill>
                  <a:srgbClr val="65786F"/>
                </a:solidFill>
                <a:latin typeface="Lato"/>
              </a:defRPr>
            </a:pPr>
            <a:r>
              <a:t>Gamma redemption covers the payment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719304" y="5769864"/>
            <a:ext cx="4361688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2025 reserve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91872" y="6382512"/>
            <a:ext cx="4507992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000" b="1">
                <a:solidFill>
                  <a:srgbClr val="125449"/>
                </a:solidFill>
                <a:latin typeface="Lato"/>
              </a:defRPr>
            </a:pPr>
            <a:r>
              <a:t>$396,000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701016" y="7452360"/>
            <a:ext cx="443484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2737592" y="7671816"/>
            <a:ext cx="431596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The cash balance is after paying the $1.2m commitment.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MODEL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Bond pricing still responds to yields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Holding bonds to maturity reduces funding risk, not market-price volatility.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5159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64408"/>
            <a:ext cx="9070848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Price response to a parallel +100bp shock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61288" y="3977639"/>
          <a:ext cx="9528048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8293608"/>
            <a:ext cx="9098280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valuation shock is not a missed bond payment.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94008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951208" y="3273552"/>
            <a:ext cx="5129784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Case-date present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78056" y="4041648"/>
            <a:ext cx="5294376" cy="13441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06656" y="4315968"/>
            <a:ext cx="4910328" cy="7498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700" b="1">
                <a:solidFill>
                  <a:srgbClr val="125449"/>
                </a:solidFill>
                <a:latin typeface="Lato"/>
              </a:defRPr>
            </a:pPr>
            <a:r>
              <a:t>P = Σ CFt / (1 + y)^t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51208" y="5760720"/>
            <a:ext cx="500176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Rate approximation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78056" y="6428232"/>
            <a:ext cx="52852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0936" y="6629400"/>
            <a:ext cx="4965192" cy="10881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ΔP/P ≈ −Dmod Δy</a:t>
            </a:r>
          </a:p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+ ½ Convexity (Δy)^2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51208" y="8129016"/>
            <a:ext cx="5129784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Bond marks are modeled, not historical market prices.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INITIAL CAPITAL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Where the full $12 million goes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We show the entry fee separately to keep the allocation accurate.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607040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16736" y="3300984"/>
          <a:ext cx="9061704" cy="5440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1603736" y="2852928"/>
            <a:ext cx="5952744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0" y="3319272"/>
            <a:ext cx="518464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Net equity purchased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51208" y="4096512"/>
            <a:ext cx="5358384" cy="9144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$6.210m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978640" y="5303520"/>
            <a:ext cx="519379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015216" y="5733288"/>
            <a:ext cx="502005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Entry fee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978640" y="6464808"/>
            <a:ext cx="5266944" cy="12161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52376" y="6638544"/>
            <a:ext cx="4910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E = (12m − Bond Cost) / 1.001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51792" y="8037575"/>
            <a:ext cx="512064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Ten basis points: about $6,210.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STOCK ALLOCATION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Eight stocks, with strict weight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candidate list spans six sectors; selected stocks span five.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548872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24128" y="3209544"/>
          <a:ext cx="1046988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554712" y="2852928"/>
            <a:ext cx="50017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66192" y="3328416"/>
            <a:ext cx="41148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Stock 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7048" y="3877056"/>
            <a:ext cx="412394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15%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957048" y="4956048"/>
            <a:ext cx="414223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957048" y="5257800"/>
            <a:ext cx="4142232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Technology 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47904" y="5824728"/>
            <a:ext cx="4114800" cy="8046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30%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966192" y="6894576"/>
            <a:ext cx="412394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957048" y="7251192"/>
            <a:ext cx="4133087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No selected ETFs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6192" y="8028431"/>
            <a:ext cx="4142232" cy="6949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Stock concentration still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MODELS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More expected return means more estimated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Model statistics are in sample, not observed 2023–2025 returns.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00937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25296" y="3429000"/>
          <a:ext cx="10104120" cy="51755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006072" y="2852928"/>
            <a:ext cx="555040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335256" y="3246120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54712" y="3401568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Sample MV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0" y="3913631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Full covariance from 96 months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35256" y="5102352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54712" y="5257800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Single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0" y="5769864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Market-factor covariance assumption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35256" y="6958583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54712" y="7114031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Minimum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0" y="7626096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Reduce estimated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MATH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What the optimizer actually solves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forecasts change, but the constraints stay comparable.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00984"/>
            <a:ext cx="918972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Risk-adjusted objective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61288" y="4069080"/>
            <a:ext cx="9537192" cy="13350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279392"/>
            <a:ext cx="9171432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200" b="1">
                <a:solidFill>
                  <a:srgbClr val="125449"/>
                </a:solidFill>
                <a:latin typeface="Lato"/>
              </a:defRPr>
            </a:pPr>
            <a:r>
              <a:t>max  μᵀw − (A/2) wᵀΣw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5733288"/>
            <a:ext cx="9052560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Investment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336792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Σw = 1; w ≥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903720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direct stock ≤ 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7470648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Direct-stock sector ≤ 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8037575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ETF ≤ 30%; combined ETFs ≤ 40%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03152" y="2852928"/>
            <a:ext cx="6044184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05488" y="3291840"/>
            <a:ext cx="5193792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Expected-return blend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78056" y="4078224"/>
            <a:ext cx="5285232" cy="148132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15800" y="4315968"/>
            <a:ext cx="4855464" cy="10241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μ = 0.25 μsample</a:t>
            </a:r>
          </a:p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+ 0.75 μVTI prior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942064" y="5888736"/>
            <a:ext cx="515721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932920" y="6190488"/>
            <a:ext cx="5120640" cy="7680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900" b="1">
                <a:solidFill>
                  <a:srgbClr val="C28E52"/>
                </a:solidFill>
                <a:latin typeface="Lato"/>
              </a:defRPr>
            </a:pPr>
            <a:r>
              <a:t>96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51208" y="7086600"/>
            <a:ext cx="5102352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Jan 2015 – Dec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69496" y="7872983"/>
            <a:ext cx="507492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Foundation utility also scales by the equity share.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RISK PREFERENCE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Re-optimization delivers a tiny modeled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Keeping the frozen shares avoids overreacting to unstable forecasts.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291840"/>
            <a:ext cx="932688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Foundation equity contribution to utility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014215"/>
            <a:ext cx="9564624" cy="129844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4242816"/>
            <a:ext cx="905256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000" b="1">
                <a:solidFill>
                  <a:srgbClr val="125449"/>
                </a:solidFill>
                <a:latin typeface="Lato"/>
              </a:defRPr>
            </a:pPr>
            <a:r>
              <a:t>U = F μp − (A/2) F² σp²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733288"/>
            <a:ext cx="917143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= 3, revised Principal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6300216"/>
            <a:ext cx="4050791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Frozen 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6291072"/>
            <a:ext cx="4654296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300" b="1">
                <a:solidFill>
                  <a:srgbClr val="125449"/>
                </a:solidFill>
                <a:latin typeface="Lato"/>
              </a:defRPr>
            </a:pPr>
            <a:r>
              <a:t>0.053328705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9576" y="7086600"/>
            <a:ext cx="4050791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Reoptimized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7077456"/>
            <a:ext cx="4654296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300" b="1">
                <a:solidFill>
                  <a:srgbClr val="C28E52"/>
                </a:solidFill>
                <a:latin typeface="Lato"/>
              </a:defRPr>
            </a:pPr>
            <a:r>
              <a:t>0.053328718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43584" y="7863840"/>
            <a:ext cx="908913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325880" y="8092440"/>
            <a:ext cx="9162288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Gain: +0.00000001318 in utility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84864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78056" y="3310128"/>
            <a:ext cx="5148072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Reconsider at higher risk aversion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50624" y="4224528"/>
            <a:ext cx="5248656" cy="9509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A* ≈ 8.94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32920" y="5294376"/>
            <a:ext cx="512978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Fixed-policy comparison only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96344" y="6300216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896344" y="6665976"/>
            <a:ext cx="5047488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Reassess and re-optimize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4632" y="7552944"/>
            <a:ext cx="5084064" cy="868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Do not automatically buy the old Minimum Variance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FACTOR EVIDENCE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FF3 fits the historical data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A positive estimated intercept is not proof of future stock-picking skill.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878738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282696"/>
            <a:ext cx="7644383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Adjusted R squared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43000" y="3950208"/>
          <a:ext cx="7781544" cy="33558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7525512"/>
            <a:ext cx="80192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Excess Rp = α + βm excess Rm + 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8129016"/>
            <a:ext cx="798271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FF3 adds SMB and HML.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1512" y="2852928"/>
            <a:ext cx="77449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4704" y="3273552"/>
            <a:ext cx="677570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FF3 factor loadings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0177272" y="3968496"/>
          <a:ext cx="6784848" cy="344728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7" name="Connector 16"/>
          <p:cNvCxnSpPr/>
          <p:nvPr/>
        </p:nvCxnSpPr>
        <p:spPr>
          <a:xfrm>
            <a:off x="10232136" y="7726679"/>
            <a:ext cx="684885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13848" y="7982712"/>
            <a:ext cx="6976872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Monthly FF3 α ≈ +0.569% (in sample)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STRESS &amp; GOAL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Funding commitments does not eliminate market losses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2030 goal also depends on inflation and equity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1772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64408"/>
            <a:ext cx="916228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Combined shock: stocks −25%, yields +100bp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07008" y="3913632"/>
          <a:ext cx="9308592" cy="38770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07008" y="8266175"/>
            <a:ext cx="9162288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A one-time shock is not a rolling 12-month return.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37976" y="2852928"/>
            <a:ext cx="63093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67744" y="3273552"/>
            <a:ext cx="512064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2030 nominal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0312" y="4078224"/>
            <a:ext cx="5330952" cy="88696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$9.596m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047488"/>
            <a:ext cx="50474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Assuming 2.3% inflation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631168" y="5742432"/>
            <a:ext cx="552297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658600" y="6025896"/>
            <a:ext cx="511149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Equity CAGR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2" y="6629400"/>
            <a:ext cx="5330952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22024" y="7872983"/>
            <a:ext cx="544068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59184" y="7991856"/>
            <a:ext cx="5093208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600" b="1">
                <a:solidFill>
                  <a:srgbClr val="125449"/>
                </a:solidFill>
                <a:latin typeface="Lato"/>
              </a:defRPr>
            </a:pPr>
            <a:r>
              <a:t>r* = [(Target − Cash) / E]^(1/8) − 1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FROZEN EVALUATION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selected shares grew, but VTI did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Original $6.229m equity base, not revised $6.210m. Monthly returns, 2023–25.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3410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88136" y="3236976"/>
          <a:ext cx="16120872" cy="54041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RESULTS &amp; LIMITATIONS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Selected shares underperformed the VTI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Positive absolute returns do not prove an equity-selection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1501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3300984"/>
            <a:ext cx="887882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CAGR after entry fee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25296" y="3986784"/>
          <a:ext cx="9473184" cy="38313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88720" y="8275320"/>
            <a:ext cx="9400032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BE7460"/>
                </a:solidFill>
                <a:latin typeface="Lato"/>
              </a:defRPr>
            </a:pPr>
            <a:r>
              <a:t>VTI outperformed by 4.76 percentage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75720" y="2852928"/>
            <a:ext cx="6080760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96344" y="3291840"/>
            <a:ext cx="501091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Observed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187952"/>
            <a:ext cx="5065776" cy="6126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2D4038"/>
                </a:solidFill>
                <a:latin typeface="Lato"/>
              </a:defRPr>
            </a:pPr>
            <a:r>
              <a:t>11.80% vs 12.60%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23776" y="4837176"/>
            <a:ext cx="496519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Annualized volatility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96344" y="5733288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896344" y="6062472"/>
            <a:ext cx="5074920" cy="7772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6.91%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32920" y="6894576"/>
            <a:ext cx="50292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Annualized tracking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32920" y="7754112"/>
            <a:ext cx="5038344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1">
                <a:solidFill>
                  <a:srgbClr val="125449"/>
                </a:solidFill>
                <a:latin typeface="Lato"/>
              </a:defRPr>
            </a:pPr>
            <a:r>
              <a:t>The future test did not change our 2022 decision.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GOVERNANCE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Implementation requires monitoring and discipline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Our proposed review rules still require trustee agreement.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68066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8448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17904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77840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28816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$1.2m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808208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1759184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0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61136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5056632"/>
            <a:ext cx="1536192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Rolling withdrawal-adjusted review levels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7592" y="5907024"/>
            <a:ext cx="6976872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6227064"/>
            <a:ext cx="6217920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C28E52"/>
                </a:solidFill>
                <a:latin typeface="Lato"/>
              </a:defRPr>
            </a:pPr>
            <a:r>
              <a:t>12% trailing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36776" y="6995160"/>
            <a:ext cx="619048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Warning: review cash and assumptions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08008" y="5907024"/>
            <a:ext cx="6958584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7192" y="6227064"/>
            <a:ext cx="6153912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BE7460"/>
                </a:solidFill>
                <a:latin typeface="Lato"/>
              </a:defRPr>
            </a:pPr>
            <a:r>
              <a:t>15% trailing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2" y="6995160"/>
            <a:ext cx="61539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Stronger trustee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8485632"/>
            <a:ext cx="15160751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125449"/>
                </a:solidFill>
                <a:latin typeface="Lato"/>
              </a:defRPr>
            </a:pPr>
            <a:r>
              <a:t>Rolling TWR = Π(1 + withdrawal-adjusted monthly return) − 1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BOARD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One clear recommendation, with risks disclosed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What we would ask the trustees to approve.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62072"/>
            <a:ext cx="7607808" cy="63459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3218688"/>
            <a:ext cx="695858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2030 goal under equity scenarios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051560" y="3858768"/>
          <a:ext cx="6894576" cy="40599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15568" y="8174736"/>
            <a:ext cx="6894576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1">
                <a:solidFill>
                  <a:srgbClr val="125449"/>
                </a:solidFill>
                <a:latin typeface="Lato"/>
              </a:defRPr>
            </a:pPr>
            <a:r>
              <a:t>Return scenarios, not forecasts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8622792"/>
            <a:ext cx="6812280" cy="3749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0">
                <a:solidFill>
                  <a:srgbClr val="65786F"/>
                </a:solidFill>
                <a:latin typeface="Lato"/>
              </a:defRPr>
            </a:pPr>
            <a:r>
              <a:t>2.3% inflation | unspent bond cash at 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95944" y="2862072"/>
            <a:ext cx="8851392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71432" y="3328416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296" y="3383280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3300984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Fund the promises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40112" y="3959352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Principal-match every revised payment.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62288" y="4672584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71432" y="5029200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6296" y="5084064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30968" y="5001768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Keep the original equity 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660136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Retain Sample MV weights without hindsight.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62288" y="6373368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71432" y="6729984"/>
            <a:ext cx="658368" cy="658368"/>
          </a:xfrm>
          <a:prstGeom prst="roundRect">
            <a:avLst>
              <a:gd name="adj" fmla="val 7000"/>
            </a:avLst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6296" y="6784848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30968" y="6702552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Monitor and reconsider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40112" y="7360920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Use cash needs and rolling losses to review.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08008" y="8549640"/>
            <a:ext cx="768096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The 2030 goal is uncertain. Human review and university acceptance remain separate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Kappa Foundation | Group investment presentation</dc:title>
  <dc:subject/>
  <dc:creator>Kappa Foundation Group 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