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8DAE9D"/>
            </a:solidFill>
            <a:ln w="33020">
              <a:solidFill>
                <a:srgbClr val="8DAE9D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2027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2.4</c:v>
                </c:pt>
                <c:pt idx="1">
                  <c:v>0</c:v>
                </c:pt>
                <c:pt idx="2">
                  <c:v>3.6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Revised</c:v>
                </c:pt>
              </c:strCache>
            </c:strRef>
          </c:tx>
          <c:spPr>
            <a:solidFill>
              <a:srgbClr val="125449"/>
            </a:solidFill>
            <a:ln w="33020">
              <a:solidFill>
                <a:srgbClr val="125449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2027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1.2</c:v>
                </c:pt>
                <c:pt idx="2">
                  <c:v>2.4</c:v>
                </c:pt>
              </c:numCache>
            </c:numRef>
          </c:val>
        </c:ser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Lat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latin typeface="Lato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500">
              <a:latin typeface="Lat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Bonds</c:v>
                </c:pt>
              </c:strCache>
            </c:strRef>
          </c:tx>
          <c:spPr>
            <a:solidFill>
              <a:srgbClr val="125449"/>
            </a:solidFill>
            <a:ln w="33020">
              <a:solidFill>
                <a:srgbClr val="125449"/>
              </a:solidFill>
            </a:ln>
          </c:spPr>
          <c:cat>
            <c:strRef>
              <c:f>Sheet1!$A$2:$A$3</c:f>
              <c:strCache>
                <c:ptCount val="2"/>
                <c:pt idx="0">
                  <c:v>Principal</c:v>
                </c:pt>
                <c:pt idx="1">
                  <c:v>Coupon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5.784228</c:v>
                </c:pt>
                <c:pt idx="1">
                  <c:v>5.429776178571429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Equities</c:v>
                </c:pt>
              </c:strCache>
            </c:strRef>
          </c:tx>
          <c:spPr>
            <a:solidFill>
              <a:srgbClr val="C28E52"/>
            </a:solidFill>
            <a:ln w="33020">
              <a:solidFill>
                <a:srgbClr val="C28E52"/>
              </a:solidFill>
            </a:ln>
          </c:spPr>
          <c:cat>
            <c:strRef>
              <c:f>Sheet1!$A$2:$A$3</c:f>
              <c:strCache>
                <c:ptCount val="2"/>
                <c:pt idx="0">
                  <c:v>Principal</c:v>
                </c:pt>
                <c:pt idx="1">
                  <c:v>Coupon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6.209562437562439</c:v>
                </c:pt>
                <c:pt idx="1">
                  <c:v>6.563660161267304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Lat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latin typeface="Lato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500">
              <a:latin typeface="Lat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Retained cash, USD thousands</c:v>
                </c:pt>
              </c:strCache>
            </c:strRef>
          </c:tx>
          <c:spPr>
            <a:solidFill>
              <a:srgbClr val="125449"/>
            </a:solidFill>
            <a:ln w="33020">
              <a:solidFill>
                <a:srgbClr val="125449"/>
              </a:solidFill>
            </a:ln>
          </c:spPr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  <c:pt idx="4">
                  <c:v>2027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132.0</c:v>
                </c:pt>
                <c:pt idx="1">
                  <c:v>264.0</c:v>
                </c:pt>
                <c:pt idx="2">
                  <c:v>396.0</c:v>
                </c:pt>
                <c:pt idx="3">
                  <c:v>480.0</c:v>
                </c:pt>
                <c:pt idx="4">
                  <c:v>564.0</c:v>
                </c:pt>
              </c:numCache>
            </c:numRef>
          </c:val>
        </c:ser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Lat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4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latin typeface="Lato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Change, USD thousands</c:v>
                </c:pt>
              </c:strCache>
            </c:strRef>
          </c:tx>
          <c:spPr>
            <a:solidFill>
              <a:srgbClr val="BE7460"/>
            </a:solidFill>
            <a:ln w="33020">
              <a:solidFill>
                <a:srgbClr val="BE7460"/>
              </a:solidFill>
            </a:ln>
          </c:spPr>
          <c:cat>
            <c:strRef>
              <c:f>Sheet1!$A$2:$A$3</c:f>
              <c:strCache>
                <c:ptCount val="2"/>
                <c:pt idx="0">
                  <c:v>Principal</c:v>
                </c:pt>
                <c:pt idx="1">
                  <c:v>Coupon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-178.26366</c:v>
                </c:pt>
                <c:pt idx="1">
                  <c:v>-168.60238</c:v>
                </c:pt>
              </c:numCache>
            </c:numRef>
          </c:val>
        </c:ser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Lat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"/>
          <c:min val="-20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latin typeface="Lato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USD millions</c:v>
                </c:pt>
              </c:strCache>
            </c:strRef>
          </c:tx>
          <c:spPr>
            <a:solidFill>
              <a:srgbClr val="125449"/>
            </a:solidFill>
            <a:ln w="33020">
              <a:solidFill>
                <a:srgbClr val="125449"/>
              </a:solidFill>
            </a:ln>
          </c:spPr>
          <c:cat>
            <c:strRef>
              <c:f>Sheet1!$A$2:$A$4</c:f>
              <c:strCache>
                <c:ptCount val="3"/>
                <c:pt idx="0">
                  <c:v>Bonds</c:v>
                </c:pt>
                <c:pt idx="1">
                  <c:v>Net equities</c:v>
                </c:pt>
                <c:pt idx="2">
                  <c:v>Entry fee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5.784228</c:v>
                </c:pt>
                <c:pt idx="1">
                  <c:v>6.209562437562439</c:v>
                </c:pt>
                <c:pt idx="2">
                  <c:v>0.0062095624375613405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500">
              <a:latin typeface="Lato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Weight %</c:v>
                </c:pt>
              </c:strCache>
            </c:strRef>
          </c:tx>
          <c:spPr>
            <a:solidFill>
              <a:srgbClr val="125449"/>
            </a:solidFill>
            <a:ln w="33020">
              <a:solidFill>
                <a:srgbClr val="125449"/>
              </a:solidFill>
            </a:ln>
          </c:spPr>
          <c:cat>
            <c:strRef>
              <c:f>Sheet1!$A$2:$A$9</c:f>
              <c:strCache>
                <c:ptCount val="8"/>
                <c:pt idx="0">
                  <c:v>JPM</c:v>
                </c:pt>
                <c:pt idx="1">
                  <c:v>JNJ</c:v>
                </c:pt>
                <c:pt idx="2">
                  <c:v>KO</c:v>
                </c:pt>
                <c:pt idx="3">
                  <c:v>PFE</c:v>
                </c:pt>
                <c:pt idx="4">
                  <c:v>CAT</c:v>
                </c:pt>
                <c:pt idx="5">
                  <c:v>AAPL</c:v>
                </c:pt>
                <c:pt idx="6">
                  <c:v>MSFT</c:v>
                </c:pt>
                <c:pt idx="7">
                  <c:v>PG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4.2422367106611</c:v>
                </c:pt>
                <c:pt idx="1">
                  <c:v>9.0978816882768</c:v>
                </c:pt>
                <c:pt idx="2">
                  <c:v>12.5925519843878</c:v>
                </c:pt>
                <c:pt idx="3">
                  <c:v>14.170655069310401</c:v>
                </c:pt>
                <c:pt idx="4">
                  <c:v>14.896674547364</c:v>
                </c:pt>
                <c:pt idx="5">
                  <c:v>15.0</c:v>
                </c:pt>
                <c:pt idx="6">
                  <c:v>15.0</c:v>
                </c:pt>
                <c:pt idx="7">
                  <c:v>15.0</c:v>
                </c:pt>
              </c:numCache>
            </c:numRef>
          </c:val>
        </c:ser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Lat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latin typeface="Lato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Return %</c:v>
                </c:pt>
              </c:strCache>
            </c:strRef>
          </c:tx>
          <c:spPr>
            <a:solidFill>
              <a:srgbClr val="125449"/>
            </a:solidFill>
            <a:ln w="33020">
              <a:solidFill>
                <a:srgbClr val="125449"/>
              </a:solidFill>
            </a:ln>
          </c:spPr>
          <c:cat>
            <c:strRef>
              <c:f>Sheet1!$A$2:$A$3</c:f>
              <c:strCache>
                <c:ptCount val="2"/>
                <c:pt idx="0">
                  <c:v>Sample MV</c:v>
                </c:pt>
                <c:pt idx="1">
                  <c:v>Minimum Variance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12.0466</c:v>
                </c:pt>
                <c:pt idx="1">
                  <c:v>10.8572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Volatility %</c:v>
                </c:pt>
              </c:strCache>
            </c:strRef>
          </c:tx>
          <c:spPr>
            <a:solidFill>
              <a:srgbClr val="C28E52"/>
            </a:solidFill>
            <a:ln w="33020">
              <a:solidFill>
                <a:srgbClr val="C28E52"/>
              </a:solidFill>
            </a:ln>
          </c:spPr>
          <c:cat>
            <c:strRef>
              <c:f>Sheet1!$A$2:$A$3</c:f>
              <c:strCache>
                <c:ptCount val="2"/>
                <c:pt idx="0">
                  <c:v>Sample MV</c:v>
                </c:pt>
                <c:pt idx="1">
                  <c:v>Minimum Variance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14.9757</c:v>
                </c:pt>
                <c:pt idx="1">
                  <c:v>13.147</c:v>
                </c:pt>
              </c:numCache>
            </c:numRef>
          </c:val>
        </c:ser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Lat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latin typeface="Lato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500">
              <a:latin typeface="Lat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Adjusted R²</c:v>
                </c:pt>
              </c:strCache>
            </c:strRef>
          </c:tx>
          <c:spPr>
            <a:solidFill>
              <a:srgbClr val="125449"/>
            </a:solidFill>
            <a:ln w="33020">
              <a:solidFill>
                <a:srgbClr val="125449"/>
              </a:solidFill>
            </a:ln>
          </c:spPr>
          <c:cat>
            <c:strRef>
              <c:f>Sheet1!$A$2:$A$3</c:f>
              <c:strCache>
                <c:ptCount val="2"/>
                <c:pt idx="0">
                  <c:v>CAPM</c:v>
                </c:pt>
                <c:pt idx="1">
                  <c:v>FF3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0.7849860862</c:v>
                </c:pt>
                <c:pt idx="1">
                  <c:v>0.8436523346</c:v>
                </c:pt>
              </c:numCache>
            </c:numRef>
          </c:val>
        </c:ser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Lat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latin typeface="Lato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Exposure</c:v>
                </c:pt>
              </c:strCache>
            </c:strRef>
          </c:tx>
          <c:spPr>
            <a:solidFill>
              <a:srgbClr val="C28E52"/>
            </a:solidFill>
            <a:ln w="33020">
              <a:solidFill>
                <a:srgbClr val="C28E52"/>
              </a:solidFill>
            </a:ln>
          </c:spPr>
          <c:cat>
            <c:strRef>
              <c:f>Sheet1!$A$2:$A$4</c:f>
              <c:strCache>
                <c:ptCount val="3"/>
                <c:pt idx="0">
                  <c:v>Market β</c:v>
                </c:pt>
                <c:pt idx="1">
                  <c:v>SMB</c:v>
                </c:pt>
                <c:pt idx="2">
                  <c:v>HML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0.8667145258</c:v>
                </c:pt>
                <c:pt idx="1">
                  <c:v>-0.4264931863</c:v>
                </c:pt>
                <c:pt idx="2">
                  <c:v>0.01012961894</c:v>
                </c:pt>
              </c:numCache>
            </c:numRef>
          </c:val>
        </c:ser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Lat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-0.6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latin typeface="Lato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Fund loss %</c:v>
                </c:pt>
              </c:strCache>
            </c:strRef>
          </c:tx>
          <c:spPr>
            <a:solidFill>
              <a:srgbClr val="BE7460"/>
            </a:solidFill>
            <a:ln w="33020">
              <a:solidFill>
                <a:srgbClr val="BE7460"/>
              </a:solidFill>
            </a:ln>
          </c:spPr>
          <c:cat>
            <c:strRef>
              <c:f>Sheet1!$A$2:$A$3</c:f>
              <c:strCache>
                <c:ptCount val="2"/>
                <c:pt idx="0">
                  <c:v>Principal</c:v>
                </c:pt>
                <c:pt idx="1">
                  <c:v>Coupon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14.42</c:v>
                </c:pt>
                <c:pt idx="1">
                  <c:v>15.08</c:v>
                </c:pt>
              </c:numCache>
            </c:numRef>
          </c:val>
        </c:ser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Lat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latin typeface="Lato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Selected shares</c:v>
                </c:pt>
              </c:strCache>
            </c:strRef>
          </c:tx>
          <c:spPr>
            <a:solidFill>
              <a:srgbClr val="125449"/>
            </a:solidFill>
            <a:ln w="33020">
              <a:solidFill>
                <a:srgbClr val="125449"/>
              </a:solidFill>
            </a:ln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2023-01</c:v>
                </c:pt>
                <c:pt idx="1">
                  <c:v>2023-02</c:v>
                </c:pt>
                <c:pt idx="2">
                  <c:v>2023-03</c:v>
                </c:pt>
                <c:pt idx="3">
                  <c:v>2023-04</c:v>
                </c:pt>
                <c:pt idx="4">
                  <c:v>2023-05</c:v>
                </c:pt>
                <c:pt idx="5">
                  <c:v>2023-06</c:v>
                </c:pt>
                <c:pt idx="6">
                  <c:v>2023-07</c:v>
                </c:pt>
                <c:pt idx="7">
                  <c:v>2023-08</c:v>
                </c:pt>
                <c:pt idx="8">
                  <c:v>2023-09</c:v>
                </c:pt>
                <c:pt idx="9">
                  <c:v>2023-10</c:v>
                </c:pt>
                <c:pt idx="10">
                  <c:v>2023-11</c:v>
                </c:pt>
                <c:pt idx="11">
                  <c:v>2023-12</c:v>
                </c:pt>
                <c:pt idx="12">
                  <c:v>2024-01</c:v>
                </c:pt>
                <c:pt idx="13">
                  <c:v>2024-02</c:v>
                </c:pt>
                <c:pt idx="14">
                  <c:v>2024-03</c:v>
                </c:pt>
                <c:pt idx="15">
                  <c:v>2024-04</c:v>
                </c:pt>
                <c:pt idx="16">
                  <c:v>2024-05</c:v>
                </c:pt>
                <c:pt idx="17">
                  <c:v>2024-06</c:v>
                </c:pt>
                <c:pt idx="18">
                  <c:v>2024-07</c:v>
                </c:pt>
                <c:pt idx="19">
                  <c:v>2024-08</c:v>
                </c:pt>
                <c:pt idx="20">
                  <c:v>2024-09</c:v>
                </c:pt>
                <c:pt idx="21">
                  <c:v>2024-10</c:v>
                </c:pt>
                <c:pt idx="22">
                  <c:v>2024-11</c:v>
                </c:pt>
                <c:pt idx="23">
                  <c:v>2024-12</c:v>
                </c:pt>
                <c:pt idx="24">
                  <c:v>2025-01</c:v>
                </c:pt>
                <c:pt idx="25">
                  <c:v>2025-02</c:v>
                </c:pt>
                <c:pt idx="26">
                  <c:v>2025-03</c:v>
                </c:pt>
                <c:pt idx="27">
                  <c:v>2025-04</c:v>
                </c:pt>
                <c:pt idx="28">
                  <c:v>2025-05</c:v>
                </c:pt>
                <c:pt idx="29">
                  <c:v>2025-06</c:v>
                </c:pt>
                <c:pt idx="30">
                  <c:v>2025-07</c:v>
                </c:pt>
                <c:pt idx="31">
                  <c:v>2025-08</c:v>
                </c:pt>
                <c:pt idx="32">
                  <c:v>2025-09</c:v>
                </c:pt>
                <c:pt idx="33">
                  <c:v>2025-10</c:v>
                </c:pt>
                <c:pt idx="34">
                  <c:v>2025-11</c:v>
                </c:pt>
                <c:pt idx="35">
                  <c:v>2025-12</c:v>
                </c:pt>
              </c:strCache>
            </c: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6.239471978362903</c:v>
                </c:pt>
                <c:pt idx="1">
                  <c:v>6.086479329211524</c:v>
                </c:pt>
                <c:pt idx="2">
                  <c:v>6.417813165432623</c:v>
                </c:pt>
                <c:pt idx="3">
                  <c:v>6.585992914749419</c:v>
                </c:pt>
                <c:pt idx="4">
                  <c:v>6.49873462731366</c:v>
                </c:pt>
                <c:pt idx="5">
                  <c:v>6.929780097555062</c:v>
                </c:pt>
                <c:pt idx="6">
                  <c:v>7.096359696054172</c:v>
                </c:pt>
                <c:pt idx="7">
                  <c:v>6.978356028023962</c:v>
                </c:pt>
                <c:pt idx="8">
                  <c:v>6.616625804238342</c:v>
                </c:pt>
                <c:pt idx="9">
                  <c:v>6.478906397425493</c:v>
                </c:pt>
                <c:pt idx="10">
                  <c:v>7.003124601405863</c:v>
                </c:pt>
                <c:pt idx="11">
                  <c:v>7.156387899031231</c:v>
                </c:pt>
                <c:pt idx="12">
                  <c:v>7.278824457962308</c:v>
                </c:pt>
                <c:pt idx="13">
                  <c:v>7.497959929662004</c:v>
                </c:pt>
                <c:pt idx="14">
                  <c:v>7.667773299699701</c:v>
                </c:pt>
                <c:pt idx="15">
                  <c:v>7.334844744778028</c:v>
                </c:pt>
                <c:pt idx="16">
                  <c:v>7.742171921830142</c:v>
                </c:pt>
                <c:pt idx="17">
                  <c:v>7.987636087708457</c:v>
                </c:pt>
                <c:pt idx="18">
                  <c:v>8.157190509183105</c:v>
                </c:pt>
                <c:pt idx="19">
                  <c:v>8.420152328421429</c:v>
                </c:pt>
                <c:pt idx="20">
                  <c:v>8.609451927851515</c:v>
                </c:pt>
                <c:pt idx="21">
                  <c:v>8.281306910184194</c:v>
                </c:pt>
                <c:pt idx="22">
                  <c:v>8.655922572358321</c:v>
                </c:pt>
                <c:pt idx="23">
                  <c:v>8.423394683829885</c:v>
                </c:pt>
                <c:pt idx="24">
                  <c:v>8.434793088879488</c:v>
                </c:pt>
                <c:pt idx="25">
                  <c:v>8.495586139909129</c:v>
                </c:pt>
                <c:pt idx="26">
                  <c:v>8.135286121558984</c:v>
                </c:pt>
                <c:pt idx="27">
                  <c:v>7.983484352604796</c:v>
                </c:pt>
                <c:pt idx="28">
                  <c:v>8.390850387883885</c:v>
                </c:pt>
                <c:pt idx="29">
                  <c:v>8.713980561730134</c:v>
                </c:pt>
                <c:pt idx="30">
                  <c:v>9.041409119046639</c:v>
                </c:pt>
                <c:pt idx="31">
                  <c:v>9.194397883144122</c:v>
                </c:pt>
                <c:pt idx="32">
                  <c:v>9.667555095078423</c:v>
                </c:pt>
                <c:pt idx="33">
                  <c:v>10.21073575123062</c:v>
                </c:pt>
                <c:pt idx="34">
                  <c:v>10.31642045406127</c:v>
                </c:pt>
                <c:pt idx="35">
                  <c:v>10.151162705802479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VTI</c:v>
                </c:pt>
              </c:strCache>
            </c:strRef>
          </c:tx>
          <c:spPr>
            <a:solidFill>
              <a:srgbClr val="C28E52"/>
            </a:solidFill>
            <a:ln w="33020">
              <a:solidFill>
                <a:srgbClr val="C28E52"/>
              </a:solidFill>
            </a:ln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2023-01</c:v>
                </c:pt>
                <c:pt idx="1">
                  <c:v>2023-02</c:v>
                </c:pt>
                <c:pt idx="2">
                  <c:v>2023-03</c:v>
                </c:pt>
                <c:pt idx="3">
                  <c:v>2023-04</c:v>
                </c:pt>
                <c:pt idx="4">
                  <c:v>2023-05</c:v>
                </c:pt>
                <c:pt idx="5">
                  <c:v>2023-06</c:v>
                </c:pt>
                <c:pt idx="6">
                  <c:v>2023-07</c:v>
                </c:pt>
                <c:pt idx="7">
                  <c:v>2023-08</c:v>
                </c:pt>
                <c:pt idx="8">
                  <c:v>2023-09</c:v>
                </c:pt>
                <c:pt idx="9">
                  <c:v>2023-10</c:v>
                </c:pt>
                <c:pt idx="10">
                  <c:v>2023-11</c:v>
                </c:pt>
                <c:pt idx="11">
                  <c:v>2023-12</c:v>
                </c:pt>
                <c:pt idx="12">
                  <c:v>2024-01</c:v>
                </c:pt>
                <c:pt idx="13">
                  <c:v>2024-02</c:v>
                </c:pt>
                <c:pt idx="14">
                  <c:v>2024-03</c:v>
                </c:pt>
                <c:pt idx="15">
                  <c:v>2024-04</c:v>
                </c:pt>
                <c:pt idx="16">
                  <c:v>2024-05</c:v>
                </c:pt>
                <c:pt idx="17">
                  <c:v>2024-06</c:v>
                </c:pt>
                <c:pt idx="18">
                  <c:v>2024-07</c:v>
                </c:pt>
                <c:pt idx="19">
                  <c:v>2024-08</c:v>
                </c:pt>
                <c:pt idx="20">
                  <c:v>2024-09</c:v>
                </c:pt>
                <c:pt idx="21">
                  <c:v>2024-10</c:v>
                </c:pt>
                <c:pt idx="22">
                  <c:v>2024-11</c:v>
                </c:pt>
                <c:pt idx="23">
                  <c:v>2024-12</c:v>
                </c:pt>
                <c:pt idx="24">
                  <c:v>2025-01</c:v>
                </c:pt>
                <c:pt idx="25">
                  <c:v>2025-02</c:v>
                </c:pt>
                <c:pt idx="26">
                  <c:v>2025-03</c:v>
                </c:pt>
                <c:pt idx="27">
                  <c:v>2025-04</c:v>
                </c:pt>
                <c:pt idx="28">
                  <c:v>2025-05</c:v>
                </c:pt>
                <c:pt idx="29">
                  <c:v>2025-06</c:v>
                </c:pt>
                <c:pt idx="30">
                  <c:v>2025-07</c:v>
                </c:pt>
                <c:pt idx="31">
                  <c:v>2025-08</c:v>
                </c:pt>
                <c:pt idx="32">
                  <c:v>2025-09</c:v>
                </c:pt>
                <c:pt idx="33">
                  <c:v>2025-10</c:v>
                </c:pt>
                <c:pt idx="34">
                  <c:v>2025-11</c:v>
                </c:pt>
                <c:pt idx="35">
                  <c:v>2025-12</c:v>
                </c:pt>
              </c:strCache>
            </c:strRef>
          </c:cat>
          <c:val>
            <c:numRef>
              <c:f>Sheet1!$C$2:$C$37</c:f>
              <c:numCache>
                <c:formatCode>General</c:formatCode>
                <c:ptCount val="36"/>
                <c:pt idx="0">
                  <c:v>6.687909122978886</c:v>
                </c:pt>
                <c:pt idx="1">
                  <c:v>6.527279287447569</c:v>
                </c:pt>
                <c:pt idx="2">
                  <c:v>6.703979923936968</c:v>
                </c:pt>
                <c:pt idx="3">
                  <c:v>6.776243176824008</c:v>
                </c:pt>
                <c:pt idx="4">
                  <c:v>6.805146589209631</c:v>
                </c:pt>
                <c:pt idx="5">
                  <c:v>7.263045056810266</c:v>
                </c:pt>
                <c:pt idx="6">
                  <c:v>7.5291285386018005</c:v>
                </c:pt>
                <c:pt idx="7">
                  <c:v>7.383722181265966</c:v>
                </c:pt>
                <c:pt idx="8">
                  <c:v>7.029224372946399</c:v>
                </c:pt>
                <c:pt idx="9">
                  <c:v>6.843243060078389</c:v>
                </c:pt>
                <c:pt idx="10">
                  <c:v>7.48755725741883</c:v>
                </c:pt>
                <c:pt idx="11">
                  <c:v>7.883941141755932</c:v>
                </c:pt>
                <c:pt idx="12">
                  <c:v>7.972012866572021</c:v>
                </c:pt>
                <c:pt idx="13">
                  <c:v>8.394425561798016</c:v>
                </c:pt>
                <c:pt idx="14">
                  <c:v>8.668058873036832</c:v>
                </c:pt>
                <c:pt idx="15">
                  <c:v>8.291521229039201</c:v>
                </c:pt>
                <c:pt idx="16">
                  <c:v>8.686069334833224</c:v>
                </c:pt>
                <c:pt idx="17">
                  <c:v>8.953505909755226</c:v>
                </c:pt>
                <c:pt idx="18">
                  <c:v>9.122864481388486</c:v>
                </c:pt>
                <c:pt idx="19">
                  <c:v>9.31732374380738</c:v>
                </c:pt>
                <c:pt idx="20">
                  <c:v>9.506545869496385</c:v>
                </c:pt>
                <c:pt idx="21">
                  <c:v>9.435034976263902</c:v>
                </c:pt>
                <c:pt idx="22">
                  <c:v>10.067216456025479</c:v>
                </c:pt>
                <c:pt idx="23">
                  <c:v>9.761125698720097</c:v>
                </c:pt>
                <c:pt idx="24">
                  <c:v>10.05718289533457</c:v>
                </c:pt>
                <c:pt idx="25">
                  <c:v>9.867219952468298</c:v>
                </c:pt>
                <c:pt idx="26">
                  <c:v>9.289462302323603</c:v>
                </c:pt>
                <c:pt idx="27">
                  <c:v>9.221188549305827</c:v>
                </c:pt>
                <c:pt idx="28">
                  <c:v>9.79780979009803</c:v>
                </c:pt>
                <c:pt idx="29">
                  <c:v>10.303706075427641</c:v>
                </c:pt>
                <c:pt idx="30">
                  <c:v>10.539663691559849</c:v>
                </c:pt>
                <c:pt idx="31">
                  <c:v>10.787482777054711</c:v>
                </c:pt>
                <c:pt idx="32">
                  <c:v>11.1564086819546</c:v>
                </c:pt>
                <c:pt idx="33">
                  <c:v>11.402878346925961</c:v>
                </c:pt>
                <c:pt idx="34">
                  <c:v>11.43313432778361</c:v>
                </c:pt>
                <c:pt idx="35">
                  <c:v>11.430109149424421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Lato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2.5"/>
          <c:min val="5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latin typeface="Lato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500">
              <a:latin typeface="Lato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CAGR %</c:v>
                </c:pt>
              </c:strCache>
            </c:strRef>
          </c:tx>
          <c:spPr>
            <a:solidFill>
              <a:srgbClr val="125449"/>
            </a:solidFill>
            <a:ln w="33020">
              <a:solidFill>
                <a:srgbClr val="125449"/>
              </a:solidFill>
            </a:ln>
          </c:spPr>
          <c:cat>
            <c:strRef>
              <c:f>Sheet1!$A$2:$A$3</c:f>
              <c:strCache>
                <c:ptCount val="2"/>
                <c:pt idx="0">
                  <c:v>Selected</c:v>
                </c:pt>
                <c:pt idx="1">
                  <c:v>VTI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17.68638615218565</c:v>
                </c:pt>
                <c:pt idx="1">
                  <c:v>22.446857497005148</c:v>
                </c:pt>
              </c:numCache>
            </c:numRef>
          </c:val>
        </c:ser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Lat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latin typeface="Lato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and model notes: Original case, trustee revised mandate and all three analytical workstreams. Architecture is an illustrative vector graphic.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and model notes: M1 selected principal 2,400 Beta, 1,200 Gamma, 2,400 Delta, after-fee net equity 6,209,562.44, hurdle 4.7951%, 2025 retained cash 396k.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and model notes: 2022 Original $2.4m in 2024 and $3.6m in 2027, vs revised split. USD millions.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and model notes: Bond costs Principal 5,784,228 and Coupon 5,429,776.18; equity 6,209,562.44 and 6,563,660.16; no double counting.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and model notes: Principal cash retained after 2023 132k; 2024 264k; 2025 396k; 2026 480k; 2027 564k.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and model notes: +100bp bond sleeve price change Principal -178,263.66 and Coupon -168,602.38. Modified duration and convexity approximation, cash flow PV.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and model notes: Initial bond 5,784,228 + net equity 6,209,562.44 + fee 6,209.56 = $12m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and model notes: Original exact frozen allocation weights, 15% direct-stock cap, 30% sector cap, 30% ETF, 40% combined ETF.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and model notes: Original model return and sigma: Sample MV 12.0466%, 14.9757%; Minimum Variance 10.8572%,13.1470%. Third method Single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and model notes: Representative mean/variance objective; foundation utility uses E/12m; Sample MV risk aversion A=3, A=6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and model notes: Utility frozen 0.0533287046122; revised reoptimized 0.053328718. A*=8.938687 is pairwise fixed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and model notes: Factor coefficients from n=96 OLS with HAC sensitivity, CAPM r2adj .784986, FF3 .843652, market .866715, SMB -.42649, HML .0101.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and model notes: Target 8m*1.023^8=9,596,106.44; principal retained cash 564k; stress fund impact 14.42%; coupon 15.08%.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and model notes: Original frozen policy equity base $6,229,246.75, not revised principal $6,209,562.44. Actual archived Yahoo stock prices, 752 common dates, 36 month-end observations, 10bp initial fee, unchanged shares. Not observed whole-fund returns.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and model notes: Observed growth sleeve CAGR Selected 17.6864%, VTI 22.4469%; volatility 11.80/12.60; tracking error 6.9062.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and model notes: Group-proposed (not trustee-authorized) 12% early warning and 15% review based on rolling withdrawal-adjusted returns. Revised monitor uses case YTM modeled bonds, not historical traded bond prices.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and model notes: Approved principal funding and original Sample MV weights; source and acceptance limitations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56032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500" b="1">
                <a:solidFill>
                  <a:srgbClr val="125449"/>
                </a:solidFill>
                <a:latin typeface="Lato"/>
              </a:defRPr>
            </a:pPr>
            <a:r>
              <a:t>KAPPA FOUNDATION  /  GROUP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256032"/>
            <a:ext cx="521208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500" b="1">
                <a:solidFill>
                  <a:srgbClr val="125449"/>
                </a:solidFill>
                <a:latin typeface="Lato"/>
              </a:defRPr>
            </a:pPr>
            <a:r>
              <a:t>INVESTMENT RECOMMENDATION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94944" y="832104"/>
            <a:ext cx="16888968" cy="0"/>
          </a:xfrm>
          <a:prstGeom prst="line">
            <a:avLst/>
          </a:prstGeom>
          <a:ln w="19050">
            <a:solidFill>
              <a:srgbClr val="125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088136"/>
            <a:ext cx="16642080" cy="85953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4300" b="1">
                <a:solidFill>
                  <a:srgbClr val="125449"/>
                </a:solidFill>
                <a:latin typeface="La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40664" y="1975104"/>
            <a:ext cx="16459200" cy="5577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100" b="0">
                <a:solidFill>
                  <a:srgbClr val="65786F"/>
                </a:solidFill>
                <a:latin typeface="La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7035272" y="9692640"/>
            <a:ext cx="502920" cy="2834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400" b="1">
                <a:solidFill>
                  <a:srgbClr val="65786F"/>
                </a:solidFill>
                <a:latin typeface="Lato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920240"/>
            <a:ext cx="12380976" cy="6099048"/>
          </a:xfrm>
          <a:prstGeom prst="rect">
            <a:avLst/>
          </a:prstGeom>
          <a:solidFill>
            <a:srgbClr val="125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795760" y="1380744"/>
            <a:ext cx="5660136" cy="8147304"/>
          </a:xfrm>
          <a:prstGeom prst="roundRect">
            <a:avLst>
              <a:gd name="adj" fmla="val 7000"/>
            </a:avLst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22165" y="4313773"/>
            <a:ext cx="962223" cy="5214274"/>
          </a:xfrm>
          <a:prstGeom prst="rect">
            <a:avLst/>
          </a:prstGeom>
          <a:solidFill>
            <a:srgbClr val="8DA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185743" y="5356628"/>
            <a:ext cx="163577" cy="338927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628366" y="5356628"/>
            <a:ext cx="163577" cy="338927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185743" y="6503768"/>
            <a:ext cx="163577" cy="338927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628366" y="6503768"/>
            <a:ext cx="163577" cy="338927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185743" y="7650909"/>
            <a:ext cx="163577" cy="338927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628366" y="7650909"/>
            <a:ext cx="163577" cy="338927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984388" y="2114001"/>
            <a:ext cx="962223" cy="7414046"/>
          </a:xfrm>
          <a:prstGeom prst="rect">
            <a:avLst/>
          </a:prstGeom>
          <a:solidFill>
            <a:srgbClr val="125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47966" y="3596810"/>
            <a:ext cx="163577" cy="481913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590589" y="3596810"/>
            <a:ext cx="163577" cy="481913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147966" y="5227900"/>
            <a:ext cx="163577" cy="481913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590589" y="5227900"/>
            <a:ext cx="163577" cy="481913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147966" y="6858991"/>
            <a:ext cx="163577" cy="481913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590589" y="6858991"/>
            <a:ext cx="163577" cy="481913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059814" y="3417570"/>
            <a:ext cx="962223" cy="6110478"/>
          </a:xfrm>
          <a:prstGeom prst="rect">
            <a:avLst/>
          </a:prstGeom>
          <a:solidFill>
            <a:srgbClr val="C28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23392" y="4639665"/>
            <a:ext cx="163577" cy="397181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666014" y="4639665"/>
            <a:ext cx="163577" cy="397181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223392" y="5983970"/>
            <a:ext cx="163577" cy="397181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666014" y="5983970"/>
            <a:ext cx="163577" cy="397181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223392" y="7328275"/>
            <a:ext cx="163577" cy="397181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666014" y="7328275"/>
            <a:ext cx="163577" cy="397181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135240" y="1706636"/>
            <a:ext cx="962223" cy="7821411"/>
          </a:xfrm>
          <a:prstGeom prst="rect">
            <a:avLst/>
          </a:prstGeom>
          <a:solidFill>
            <a:srgbClr val="31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298818" y="3270918"/>
            <a:ext cx="163577" cy="508391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5741440" y="3270918"/>
            <a:ext cx="163577" cy="508391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298818" y="4991629"/>
            <a:ext cx="163577" cy="508391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5741440" y="4991629"/>
            <a:ext cx="163577" cy="508391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5298818" y="6712339"/>
            <a:ext cx="163577" cy="508391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5741440" y="6712339"/>
            <a:ext cx="163577" cy="508391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267267" y="4069354"/>
            <a:ext cx="962223" cy="5458693"/>
          </a:xfrm>
          <a:prstGeom prst="rect">
            <a:avLst/>
          </a:prstGeom>
          <a:solidFill>
            <a:srgbClr val="276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6430845" y="5161093"/>
            <a:ext cx="163577" cy="354815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873468" y="5161093"/>
            <a:ext cx="163577" cy="354815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6430845" y="6362005"/>
            <a:ext cx="163577" cy="354815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6873468" y="6362005"/>
            <a:ext cx="163577" cy="354815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6430845" y="7562918"/>
            <a:ext cx="163577" cy="354815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6873468" y="7562918"/>
            <a:ext cx="163577" cy="354815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795760" y="9039209"/>
            <a:ext cx="5660136" cy="488838"/>
          </a:xfrm>
          <a:prstGeom prst="rect">
            <a:avLst/>
          </a:prstGeom>
          <a:solidFill>
            <a:srgbClr val="125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1832" y="2468880"/>
            <a:ext cx="10698480" cy="2788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7300" b="1">
                <a:solidFill>
                  <a:srgbClr val="FFFFFF"/>
                </a:solidFill>
                <a:latin typeface="Lato"/>
              </a:defRPr>
            </a:pPr>
            <a:r>
              <a:t>KAPPA</a:t>
            </a:r>
          </a:p>
          <a:p>
            <a:pPr algn="l">
              <a:defRPr sz="7300" b="1">
                <a:solidFill>
                  <a:srgbClr val="FFFFFF"/>
                </a:solidFill>
                <a:latin typeface="Lato"/>
              </a:defRPr>
            </a:pPr>
            <a:r>
              <a:t>FOUNDATION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" y="6400800"/>
            <a:ext cx="10451592" cy="10698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900" b="0">
                <a:solidFill>
                  <a:srgbClr val="F8F5EF"/>
                </a:solidFill>
                <a:latin typeface="Lato"/>
              </a:defRPr>
            </a:pPr>
            <a:r>
              <a:t>Investment recommendation</a:t>
            </a:r>
          </a:p>
          <a:p>
            <a:pPr algn="l">
              <a:defRPr sz="2900" b="0">
                <a:solidFill>
                  <a:srgbClr val="F8F5EF"/>
                </a:solidFill>
                <a:latin typeface="Lato"/>
              </a:defRPr>
            </a:pPr>
            <a:r>
              <a:t>and revised mandate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" y="8796528"/>
            <a:ext cx="16230600" cy="53035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400" b="1">
                <a:solidFill>
                  <a:srgbClr val="125449"/>
                </a:solidFill>
                <a:latin typeface="Lato"/>
              </a:defRPr>
            </a:pPr>
            <a:r>
              <a:t>The $12 million allocation that puts our payment dates first.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56032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500" b="1">
                <a:solidFill>
                  <a:srgbClr val="125449"/>
                </a:solidFill>
                <a:latin typeface="Lato"/>
              </a:defRPr>
            </a:pPr>
            <a:r>
              <a:t>KAPPA FOUNDATION  /  GROUP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256032"/>
            <a:ext cx="521208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500" b="1">
                <a:solidFill>
                  <a:srgbClr val="125449"/>
                </a:solidFill>
                <a:latin typeface="Lato"/>
              </a:defRPr>
            </a:pPr>
            <a:r>
              <a:t>EXECUTIVE DECISION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94944" y="832104"/>
            <a:ext cx="16888968" cy="0"/>
          </a:xfrm>
          <a:prstGeom prst="line">
            <a:avLst/>
          </a:prstGeom>
          <a:ln w="19050">
            <a:solidFill>
              <a:srgbClr val="125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088136"/>
            <a:ext cx="16642080" cy="85953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4300" b="1">
                <a:solidFill>
                  <a:srgbClr val="125449"/>
                </a:solidFill>
                <a:latin typeface="Lato"/>
              </a:defRPr>
            </a:pPr>
            <a:r>
              <a:t>Our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975104"/>
            <a:ext cx="16459200" cy="5577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100" b="0">
                <a:solidFill>
                  <a:srgbClr val="65786F"/>
                </a:solidFill>
                <a:latin typeface="Lato"/>
              </a:defRPr>
            </a:pPr>
            <a:r>
              <a:t>Meet the obligations without changing the frozen stock weights.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35272" y="9692640"/>
            <a:ext cx="502920" cy="2834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400" b="1">
                <a:solidFill>
                  <a:srgbClr val="65786F"/>
                </a:solidFill>
                <a:latin typeface="Lato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80360"/>
            <a:ext cx="10424160" cy="63185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521440" y="2871216"/>
            <a:ext cx="6016752" cy="6318504"/>
          </a:xfrm>
          <a:prstGeom prst="roundRect">
            <a:avLst>
              <a:gd name="adj" fmla="val 7000"/>
            </a:avLst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62110" y="5145877"/>
            <a:ext cx="1022847" cy="4043842"/>
          </a:xfrm>
          <a:prstGeom prst="rect">
            <a:avLst/>
          </a:prstGeom>
          <a:solidFill>
            <a:srgbClr val="8DA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935994" y="5954645"/>
            <a:ext cx="173884" cy="262849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406504" y="5954645"/>
            <a:ext cx="173884" cy="262849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935994" y="6844291"/>
            <a:ext cx="173884" cy="262849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406504" y="6844291"/>
            <a:ext cx="173884" cy="262849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935994" y="7733936"/>
            <a:ext cx="173884" cy="262849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406504" y="7733936"/>
            <a:ext cx="173884" cy="262849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784957" y="3439881"/>
            <a:ext cx="1022847" cy="5749838"/>
          </a:xfrm>
          <a:prstGeom prst="rect">
            <a:avLst/>
          </a:prstGeom>
          <a:solidFill>
            <a:srgbClr val="125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958842" y="4589849"/>
            <a:ext cx="173884" cy="373739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429352" y="4589849"/>
            <a:ext cx="173884" cy="373739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958842" y="5854813"/>
            <a:ext cx="173884" cy="373739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29352" y="5854813"/>
            <a:ext cx="173884" cy="373739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958842" y="7119778"/>
            <a:ext cx="173884" cy="373739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429352" y="7119778"/>
            <a:ext cx="173884" cy="373739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928140" y="4450842"/>
            <a:ext cx="1022847" cy="4738878"/>
          </a:xfrm>
          <a:prstGeom prst="rect">
            <a:avLst/>
          </a:prstGeom>
          <a:solidFill>
            <a:srgbClr val="C28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102024" y="5398617"/>
            <a:ext cx="173884" cy="308027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572534" y="5398617"/>
            <a:ext cx="173884" cy="308027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02024" y="6441170"/>
            <a:ext cx="173884" cy="308027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572534" y="6441170"/>
            <a:ext cx="173884" cy="308027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102024" y="7483723"/>
            <a:ext cx="173884" cy="308027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572534" y="7483723"/>
            <a:ext cx="173884" cy="308027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071323" y="3123956"/>
            <a:ext cx="1022847" cy="6065763"/>
          </a:xfrm>
          <a:prstGeom prst="rect">
            <a:avLst/>
          </a:prstGeom>
          <a:solidFill>
            <a:srgbClr val="31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245207" y="4337108"/>
            <a:ext cx="173884" cy="394274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5715717" y="4337108"/>
            <a:ext cx="173884" cy="394274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245207" y="5671576"/>
            <a:ext cx="173884" cy="394274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5715717" y="5671576"/>
            <a:ext cx="173884" cy="394274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5245207" y="7006045"/>
            <a:ext cx="173884" cy="394274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5715717" y="7006045"/>
            <a:ext cx="173884" cy="394274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274674" y="4956322"/>
            <a:ext cx="1022847" cy="4233397"/>
          </a:xfrm>
          <a:prstGeom prst="rect">
            <a:avLst/>
          </a:prstGeom>
          <a:solidFill>
            <a:srgbClr val="276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6448558" y="5803001"/>
            <a:ext cx="173884" cy="27517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919068" y="5803001"/>
            <a:ext cx="173884" cy="27517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6448558" y="6734349"/>
            <a:ext cx="173884" cy="27517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6919068" y="6734349"/>
            <a:ext cx="173884" cy="27517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6448558" y="7665696"/>
            <a:ext cx="173884" cy="27517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6919068" y="7665696"/>
            <a:ext cx="173884" cy="27517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521440" y="8810609"/>
            <a:ext cx="6016752" cy="379110"/>
          </a:xfrm>
          <a:prstGeom prst="rect">
            <a:avLst/>
          </a:prstGeom>
          <a:solidFill>
            <a:srgbClr val="125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152144" y="3355848"/>
            <a:ext cx="2880360" cy="493776"/>
          </a:xfrm>
          <a:prstGeom prst="roundRect">
            <a:avLst>
              <a:gd name="adj" fmla="val 7000"/>
            </a:avLst>
          </a:prstGeom>
          <a:solidFill>
            <a:srgbClr val="125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43584" y="3392424"/>
            <a:ext cx="2706624" cy="37490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Lato"/>
              </a:defRPr>
            </a:pPr>
            <a:r>
              <a:t>SELECTED POLICY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" y="4041648"/>
            <a:ext cx="9482328" cy="82296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4700" b="1">
                <a:solidFill>
                  <a:srgbClr val="125449"/>
                </a:solidFill>
                <a:latin typeface="Lato"/>
              </a:defRPr>
            </a:pPr>
            <a:r>
              <a:t>Principal matching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9576" y="5157216"/>
            <a:ext cx="9272016" cy="48463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300" b="1">
                <a:solidFill>
                  <a:srgbClr val="2D4038"/>
                </a:solidFill>
                <a:latin typeface="Lato"/>
              </a:defRPr>
            </a:pPr>
            <a:r>
              <a:t>2,400 Beta    1,200 Gamma    2,400 Delta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179576" y="5843016"/>
            <a:ext cx="9473184" cy="0"/>
          </a:xfrm>
          <a:prstGeom prst="line">
            <a:avLst/>
          </a:prstGeom>
          <a:ln w="15240">
            <a:solidFill>
              <a:srgbClr val="D4D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188720" y="6199632"/>
            <a:ext cx="4050791" cy="7315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5200" b="1">
                <a:solidFill>
                  <a:srgbClr val="125449"/>
                </a:solidFill>
                <a:latin typeface="Lato"/>
              </a:defRPr>
            </a:pPr>
            <a:r>
              <a:t>$6.21m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33872" y="6199632"/>
            <a:ext cx="4169663" cy="7315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5200" b="1">
                <a:solidFill>
                  <a:srgbClr val="C28E52"/>
                </a:solidFill>
                <a:latin typeface="Lato"/>
              </a:defRPr>
            </a:pPr>
            <a:r>
              <a:t>4.80%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7013448"/>
            <a:ext cx="4142232" cy="44805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900" b="0">
                <a:solidFill>
                  <a:srgbClr val="65786F"/>
                </a:solidFill>
                <a:latin typeface="Lato"/>
              </a:defRPr>
            </a:pPr>
            <a:r>
              <a:t>Net equity investment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97880" y="7013448"/>
            <a:ext cx="4251960" cy="63093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800" b="0">
                <a:solidFill>
                  <a:srgbClr val="65786F"/>
                </a:solidFill>
                <a:latin typeface="Lato"/>
              </a:defRPr>
            </a:pPr>
            <a:r>
              <a:t>Required equity CAGR to 2030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25296" y="8074152"/>
            <a:ext cx="9253728" cy="64922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400" b="1">
                <a:solidFill>
                  <a:srgbClr val="2D4038"/>
                </a:solidFill>
                <a:latin typeface="Lato"/>
              </a:defRPr>
            </a:pPr>
            <a:r>
              <a:t>A $396k cash reserve remains after the 2025 commitment.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56032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500" b="1">
                <a:solidFill>
                  <a:srgbClr val="125449"/>
                </a:solidFill>
                <a:latin typeface="Lato"/>
              </a:defRPr>
            </a:pPr>
            <a:r>
              <a:t>KAPPA FOUNDATION  /  GROUP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256032"/>
            <a:ext cx="521208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500" b="1">
                <a:solidFill>
                  <a:srgbClr val="125449"/>
                </a:solidFill>
                <a:latin typeface="Lato"/>
              </a:defRPr>
            </a:pPr>
            <a:r>
              <a:t>MANDATE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94944" y="832104"/>
            <a:ext cx="16888968" cy="0"/>
          </a:xfrm>
          <a:prstGeom prst="line">
            <a:avLst/>
          </a:prstGeom>
          <a:ln w="19050">
            <a:solidFill>
              <a:srgbClr val="125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088136"/>
            <a:ext cx="16642080" cy="85953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4300" b="1">
                <a:solidFill>
                  <a:srgbClr val="125449"/>
                </a:solidFill>
                <a:latin typeface="Lato"/>
              </a:defRPr>
            </a:pPr>
            <a:r>
              <a:t>The $6m total stays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975104"/>
            <a:ext cx="16459200" cy="5577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100" b="0">
                <a:solidFill>
                  <a:srgbClr val="65786F"/>
                </a:solidFill>
                <a:latin typeface="Lato"/>
              </a:defRPr>
            </a:pPr>
            <a:r>
              <a:t>Only the timing of the second commitment has changed.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35272" y="9692640"/>
            <a:ext cx="502920" cy="2834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400" b="1">
                <a:solidFill>
                  <a:srgbClr val="65786F"/>
                </a:solidFill>
                <a:latin typeface="Lato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2852928"/>
            <a:ext cx="16824960" cy="63642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280160" y="3401568"/>
          <a:ext cx="15032736" cy="50474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975104" y="8467344"/>
            <a:ext cx="14502384" cy="46634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defRPr sz="2000" b="1">
                <a:solidFill>
                  <a:srgbClr val="125449"/>
                </a:solidFill>
                <a:latin typeface="Lato"/>
              </a:defRPr>
            </a:pPr>
            <a:r>
              <a:t>Revised: $2.4m in 2024, $1.2m in 2025, $2.4m in 2027.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56032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500" b="1">
                <a:solidFill>
                  <a:srgbClr val="125449"/>
                </a:solidFill>
                <a:latin typeface="Lato"/>
              </a:defRPr>
            </a:pPr>
            <a:r>
              <a:t>KAPPA FOUNDATION  /  GROUP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256032"/>
            <a:ext cx="521208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500" b="1">
                <a:solidFill>
                  <a:srgbClr val="125449"/>
                </a:solidFill>
                <a:latin typeface="Lato"/>
              </a:defRPr>
            </a:pPr>
            <a:r>
              <a:t>BOND STRATEGY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94944" y="832104"/>
            <a:ext cx="16888968" cy="0"/>
          </a:xfrm>
          <a:prstGeom prst="line">
            <a:avLst/>
          </a:prstGeom>
          <a:ln w="19050">
            <a:solidFill>
              <a:srgbClr val="125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088136"/>
            <a:ext cx="16642080" cy="85953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4300" b="1">
                <a:solidFill>
                  <a:srgbClr val="125449"/>
                </a:solidFill>
                <a:latin typeface="Lato"/>
              </a:defRPr>
            </a:pPr>
            <a:r>
              <a:t>We give up growth capital for liquidity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975104"/>
            <a:ext cx="16459200" cy="5577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100" b="0">
                <a:solidFill>
                  <a:srgbClr val="65786F"/>
                </a:solidFill>
                <a:latin typeface="Lato"/>
              </a:defRPr>
            </a:pPr>
            <a:r>
              <a:t>The coupon-funded alternative has more equities but almost no 2025 reserve.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35272" y="9692640"/>
            <a:ext cx="502920" cy="2834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400" b="1">
                <a:solidFill>
                  <a:srgbClr val="65786F"/>
                </a:solidFill>
                <a:latin typeface="Lato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52928"/>
            <a:ext cx="10405872" cy="6355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264408"/>
            <a:ext cx="9235440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500" b="1">
                <a:solidFill>
                  <a:srgbClr val="125449"/>
                </a:solidFill>
                <a:latin typeface="Lato"/>
              </a:defRPr>
            </a:pPr>
            <a:r>
              <a:t>USD millions committed in 2022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188720" y="3995928"/>
          <a:ext cx="9628632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243584" y="8129016"/>
            <a:ext cx="9244584" cy="5760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400" b="1">
                <a:solidFill>
                  <a:srgbClr val="BE7460"/>
                </a:solidFill>
                <a:latin typeface="Lato"/>
              </a:defRPr>
            </a:pPr>
            <a:r>
              <a:t>Coupon funding adds $354k for equities.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84864" y="2852928"/>
            <a:ext cx="6080760" cy="6355080"/>
          </a:xfrm>
          <a:prstGeom prst="roundRect">
            <a:avLst>
              <a:gd name="adj" fmla="val 7000"/>
            </a:avLst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68912" y="3282696"/>
            <a:ext cx="5221224" cy="64008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400" b="1">
                <a:solidFill>
                  <a:srgbClr val="2D4038"/>
                </a:solidFill>
                <a:latin typeface="Lato"/>
              </a:defRPr>
            </a:pPr>
            <a:r>
              <a:t>Cash after the 2025 payment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05488" y="4279392"/>
            <a:ext cx="5202936" cy="85039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5300" b="1">
                <a:solidFill>
                  <a:srgbClr val="125449"/>
                </a:solidFill>
                <a:latin typeface="Lato"/>
              </a:defRPr>
            </a:pPr>
            <a:r>
              <a:t>$396k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51208" y="5175504"/>
            <a:ext cx="5102352" cy="43891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000" b="0">
                <a:solidFill>
                  <a:srgbClr val="2D4038"/>
                </a:solidFill>
                <a:latin typeface="Lato"/>
              </a:defRPr>
            </a:pPr>
            <a:r>
              <a:t>Principal matching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923776" y="5934456"/>
            <a:ext cx="5212080" cy="0"/>
          </a:xfrm>
          <a:prstGeom prst="line">
            <a:avLst/>
          </a:prstGeom>
          <a:ln w="15240">
            <a:solidFill>
              <a:srgbClr val="D4D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923776" y="6236208"/>
            <a:ext cx="5166360" cy="75895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4100" b="1">
                <a:solidFill>
                  <a:srgbClr val="BE7460"/>
                </a:solidFill>
                <a:latin typeface="Lato"/>
              </a:defRPr>
            </a:pPr>
            <a:r>
              <a:t>Nearly zero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42064" y="7086600"/>
            <a:ext cx="5084064" cy="48463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000" b="0">
                <a:solidFill>
                  <a:srgbClr val="2D4038"/>
                </a:solidFill>
                <a:latin typeface="Lato"/>
              </a:defRPr>
            </a:pPr>
            <a:r>
              <a:t>Coupon funding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60352" y="7891272"/>
            <a:ext cx="5038344" cy="89611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700" b="0">
                <a:solidFill>
                  <a:srgbClr val="2D4038"/>
                </a:solidFill>
                <a:latin typeface="Lato"/>
              </a:defRPr>
            </a:pPr>
            <a:r>
              <a:t>Both cover the scheduled payments under our cash-flow assumptions.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56032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500" b="1">
                <a:solidFill>
                  <a:srgbClr val="125449"/>
                </a:solidFill>
                <a:latin typeface="Lato"/>
              </a:defRPr>
            </a:pPr>
            <a:r>
              <a:t>KAPPA FOUNDATION  /  GROUP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256032"/>
            <a:ext cx="521208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500" b="1">
                <a:solidFill>
                  <a:srgbClr val="125449"/>
                </a:solidFill>
                <a:latin typeface="Lato"/>
              </a:defRPr>
            </a:pPr>
            <a:r>
              <a:t>BOND CASH FLOW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94944" y="832104"/>
            <a:ext cx="16888968" cy="0"/>
          </a:xfrm>
          <a:prstGeom prst="line">
            <a:avLst/>
          </a:prstGeom>
          <a:ln w="19050">
            <a:solidFill>
              <a:srgbClr val="125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088136"/>
            <a:ext cx="16642080" cy="85953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4300" b="1">
                <a:solidFill>
                  <a:srgbClr val="125449"/>
                </a:solidFill>
                <a:latin typeface="Lato"/>
              </a:defRPr>
            </a:pPr>
            <a:r>
              <a:t>The 2025 payment has a cash cushion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975104"/>
            <a:ext cx="16459200" cy="5577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100" b="0">
                <a:solidFill>
                  <a:srgbClr val="65786F"/>
                </a:solidFill>
                <a:latin typeface="Lato"/>
              </a:defRPr>
            </a:pPr>
            <a:r>
              <a:t>Selected bonds mature on time and coupons are retained at zero interest.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35272" y="9692640"/>
            <a:ext cx="502920" cy="2834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400" b="1">
                <a:solidFill>
                  <a:srgbClr val="65786F"/>
                </a:solidFill>
                <a:latin typeface="Lato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852928"/>
            <a:ext cx="11292840" cy="63642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069848" y="3465576"/>
          <a:ext cx="10543032" cy="52212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12252960" y="2852928"/>
            <a:ext cx="5303520" cy="6355080"/>
          </a:xfrm>
          <a:prstGeom prst="roundRect">
            <a:avLst>
              <a:gd name="adj" fmla="val 7000"/>
            </a:avLst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435840" y="3099816"/>
            <a:ext cx="4946904" cy="2340864"/>
          </a:xfrm>
          <a:prstGeom prst="roundRect">
            <a:avLst>
              <a:gd name="adj" fmla="val 7000"/>
            </a:avLst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633716" y="3942527"/>
            <a:ext cx="840973" cy="1498152"/>
          </a:xfrm>
          <a:prstGeom prst="rect">
            <a:avLst/>
          </a:prstGeom>
          <a:solidFill>
            <a:srgbClr val="8DA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776681" y="4242157"/>
            <a:ext cx="142965" cy="97379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163529" y="4242157"/>
            <a:ext cx="142965" cy="97379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776681" y="4571751"/>
            <a:ext cx="142965" cy="97379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163529" y="4571751"/>
            <a:ext cx="142965" cy="97379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776681" y="4901344"/>
            <a:ext cx="142965" cy="97379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3529" y="4901344"/>
            <a:ext cx="142965" cy="97379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474689" y="3310493"/>
            <a:ext cx="840973" cy="2130186"/>
          </a:xfrm>
          <a:prstGeom prst="rect">
            <a:avLst/>
          </a:prstGeom>
          <a:solidFill>
            <a:srgbClr val="125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617655" y="3736531"/>
            <a:ext cx="142965" cy="138462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004503" y="3736531"/>
            <a:ext cx="142965" cy="138462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617655" y="4205171"/>
            <a:ext cx="142965" cy="138462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004503" y="4205171"/>
            <a:ext cx="142965" cy="138462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617655" y="4673812"/>
            <a:ext cx="142965" cy="138462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004503" y="4673812"/>
            <a:ext cx="142965" cy="138462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414601" y="3685032"/>
            <a:ext cx="840973" cy="1755648"/>
          </a:xfrm>
          <a:prstGeom prst="rect">
            <a:avLst/>
          </a:prstGeom>
          <a:solidFill>
            <a:srgbClr val="C28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557567" y="4036161"/>
            <a:ext cx="142965" cy="114117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944415" y="4036161"/>
            <a:ext cx="142965" cy="114117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557567" y="4422404"/>
            <a:ext cx="142965" cy="114117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944415" y="4422404"/>
            <a:ext cx="142965" cy="114117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4557567" y="4808646"/>
            <a:ext cx="142965" cy="114117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944415" y="4808646"/>
            <a:ext cx="142965" cy="114117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5354513" y="3193450"/>
            <a:ext cx="840973" cy="2247229"/>
          </a:xfrm>
          <a:prstGeom prst="rect">
            <a:avLst/>
          </a:prstGeom>
          <a:solidFill>
            <a:srgbClr val="31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497478" y="3642896"/>
            <a:ext cx="142965" cy="146069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5884326" y="3642896"/>
            <a:ext cx="142965" cy="146069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5497478" y="4137286"/>
            <a:ext cx="142965" cy="146069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5884326" y="4137286"/>
            <a:ext cx="142965" cy="146069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5497478" y="4631677"/>
            <a:ext cx="142965" cy="146069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5884326" y="4631677"/>
            <a:ext cx="142965" cy="146069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343894" y="3872301"/>
            <a:ext cx="840973" cy="1568378"/>
          </a:xfrm>
          <a:prstGeom prst="rect">
            <a:avLst/>
          </a:prstGeom>
          <a:solidFill>
            <a:srgbClr val="276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6486859" y="4185976"/>
            <a:ext cx="142965" cy="101944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6873707" y="4185976"/>
            <a:ext cx="142965" cy="101944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6486859" y="4531020"/>
            <a:ext cx="142965" cy="101944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6873707" y="4531020"/>
            <a:ext cx="142965" cy="101944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6486859" y="4876063"/>
            <a:ext cx="142965" cy="101944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6873707" y="4876063"/>
            <a:ext cx="142965" cy="101944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35840" y="5300228"/>
            <a:ext cx="4946904" cy="140451"/>
          </a:xfrm>
          <a:prstGeom prst="rect">
            <a:avLst/>
          </a:prstGeom>
          <a:solidFill>
            <a:srgbClr val="125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719304" y="5769864"/>
            <a:ext cx="4361688" cy="44805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200" b="1">
                <a:solidFill>
                  <a:srgbClr val="2D4038"/>
                </a:solidFill>
                <a:latin typeface="Lato"/>
              </a:defRPr>
            </a:pPr>
            <a:r>
              <a:t>2025 reserve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691872" y="6382512"/>
            <a:ext cx="4507992" cy="72237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4000" b="1">
                <a:solidFill>
                  <a:srgbClr val="125449"/>
                </a:solidFill>
                <a:latin typeface="Lato"/>
              </a:defRPr>
            </a:pPr>
            <a:r>
              <a:t>$396,000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2701016" y="7452360"/>
            <a:ext cx="4434840" cy="0"/>
          </a:xfrm>
          <a:prstGeom prst="line">
            <a:avLst/>
          </a:prstGeom>
          <a:ln w="15240">
            <a:solidFill>
              <a:srgbClr val="D4D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2737592" y="7671816"/>
            <a:ext cx="4315968" cy="82296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700" b="0">
                <a:solidFill>
                  <a:srgbClr val="2D4038"/>
                </a:solidFill>
                <a:latin typeface="Lato"/>
              </a:defRPr>
            </a:pPr>
            <a:r>
              <a:t>The cash balance is after paying the $1.2m commitment.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56032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500" b="1">
                <a:solidFill>
                  <a:srgbClr val="125449"/>
                </a:solidFill>
                <a:latin typeface="Lato"/>
              </a:defRPr>
            </a:pPr>
            <a:r>
              <a:t>KAPPA FOUNDATION  /  GROUP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256032"/>
            <a:ext cx="521208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500" b="1">
                <a:solidFill>
                  <a:srgbClr val="125449"/>
                </a:solidFill>
                <a:latin typeface="Lato"/>
              </a:defRPr>
            </a:pPr>
            <a:r>
              <a:t>BOND MODEL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94944" y="832104"/>
            <a:ext cx="16888968" cy="0"/>
          </a:xfrm>
          <a:prstGeom prst="line">
            <a:avLst/>
          </a:prstGeom>
          <a:ln w="19050">
            <a:solidFill>
              <a:srgbClr val="125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088136"/>
            <a:ext cx="16642080" cy="85953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4300" b="1">
                <a:solidFill>
                  <a:srgbClr val="125449"/>
                </a:solidFill>
                <a:latin typeface="Lato"/>
              </a:defRPr>
            </a:pPr>
            <a:r>
              <a:t>Bond pricing still responds to yields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975104"/>
            <a:ext cx="16459200" cy="5577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100" b="0">
                <a:solidFill>
                  <a:srgbClr val="65786F"/>
                </a:solidFill>
                <a:latin typeface="Lato"/>
              </a:defRPr>
            </a:pPr>
            <a:r>
              <a:t>Holding bonds to maturity reduces funding risk, not market-price volatility.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35272" y="9692640"/>
            <a:ext cx="502920" cy="2834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400" b="1">
                <a:solidFill>
                  <a:srgbClr val="65786F"/>
                </a:solidFill>
                <a:latin typeface="Lato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852928"/>
            <a:ext cx="10451592" cy="6355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3264408"/>
            <a:ext cx="9070848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500" b="1">
                <a:solidFill>
                  <a:srgbClr val="125449"/>
                </a:solidFill>
                <a:latin typeface="Lato"/>
              </a:defRPr>
            </a:pPr>
            <a:r>
              <a:t>Price response to a parallel +100bp shock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161288" y="3977639"/>
          <a:ext cx="9528048" cy="39593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70432" y="8293608"/>
            <a:ext cx="9098280" cy="58521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100" b="1">
                <a:solidFill>
                  <a:srgbClr val="2D4038"/>
                </a:solidFill>
                <a:latin typeface="Lato"/>
              </a:defRPr>
            </a:pPr>
            <a:r>
              <a:t>A valuation shock is not a missed bond payment.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94008" y="2852928"/>
            <a:ext cx="6062472" cy="6355080"/>
          </a:xfrm>
          <a:prstGeom prst="roundRect">
            <a:avLst>
              <a:gd name="adj" fmla="val 7000"/>
            </a:avLst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951208" y="3273552"/>
            <a:ext cx="5129784" cy="521207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200" b="1">
                <a:solidFill>
                  <a:srgbClr val="125449"/>
                </a:solidFill>
                <a:latin typeface="Lato"/>
              </a:defRPr>
            </a:pPr>
            <a:r>
              <a:t>Case-date present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78056" y="4041648"/>
            <a:ext cx="5294376" cy="13441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06656" y="4315968"/>
            <a:ext cx="4910328" cy="7498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defRPr sz="2700" b="1">
                <a:solidFill>
                  <a:srgbClr val="125449"/>
                </a:solidFill>
                <a:latin typeface="Lato"/>
              </a:defRPr>
            </a:pPr>
            <a:r>
              <a:t>P = Σ CFt / (1 + y)^t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51208" y="5760720"/>
            <a:ext cx="5001768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100" b="1">
                <a:solidFill>
                  <a:srgbClr val="2D4038"/>
                </a:solidFill>
                <a:latin typeface="Lato"/>
              </a:defRPr>
            </a:pPr>
            <a:r>
              <a:t>Rate approximation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78056" y="6428232"/>
            <a:ext cx="528523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60936" y="6629400"/>
            <a:ext cx="4965192" cy="108813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defRPr sz="2200" b="1">
                <a:solidFill>
                  <a:srgbClr val="125449"/>
                </a:solidFill>
                <a:latin typeface="Lato"/>
              </a:defRPr>
            </a:pPr>
            <a:r>
              <a:t>ΔP/P ≈ −Dmod Δy</a:t>
            </a:r>
          </a:p>
          <a:p>
            <a:pPr algn="ctr">
              <a:defRPr sz="2200" b="1">
                <a:solidFill>
                  <a:srgbClr val="125449"/>
                </a:solidFill>
                <a:latin typeface="Lato"/>
              </a:defRPr>
            </a:pPr>
            <a:r>
              <a:t>+ ½ Convexity (Δy)^2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51208" y="8129016"/>
            <a:ext cx="5129784" cy="72237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600" b="0">
                <a:solidFill>
                  <a:srgbClr val="65786F"/>
                </a:solidFill>
                <a:latin typeface="Lato"/>
              </a:defRPr>
            </a:pPr>
            <a:r>
              <a:t>Bond marks are modeled, not historical market prices.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56032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500" b="1">
                <a:solidFill>
                  <a:srgbClr val="125449"/>
                </a:solidFill>
                <a:latin typeface="Lato"/>
              </a:defRPr>
            </a:pPr>
            <a:r>
              <a:t>KAPPA FOUNDATION  /  GROUP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256032"/>
            <a:ext cx="521208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500" b="1">
                <a:solidFill>
                  <a:srgbClr val="125449"/>
                </a:solidFill>
                <a:latin typeface="Lato"/>
              </a:defRPr>
            </a:pPr>
            <a:r>
              <a:t>INITIAL CAPITAL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94944" y="832104"/>
            <a:ext cx="16888968" cy="0"/>
          </a:xfrm>
          <a:prstGeom prst="line">
            <a:avLst/>
          </a:prstGeom>
          <a:ln w="19050">
            <a:solidFill>
              <a:srgbClr val="125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088136"/>
            <a:ext cx="16642080" cy="85953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4300" b="1">
                <a:solidFill>
                  <a:srgbClr val="125449"/>
                </a:solidFill>
                <a:latin typeface="Lato"/>
              </a:defRPr>
            </a:pPr>
            <a:r>
              <a:t>Where the full $12 million goes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975104"/>
            <a:ext cx="16459200" cy="5577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100" b="0">
                <a:solidFill>
                  <a:srgbClr val="65786F"/>
                </a:solidFill>
                <a:latin typeface="Lato"/>
              </a:defRPr>
            </a:pPr>
            <a:r>
              <a:t>We show the entry fee separately to keep the allocation accurate.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35272" y="9692640"/>
            <a:ext cx="502920" cy="2834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400" b="1">
                <a:solidFill>
                  <a:srgbClr val="65786F"/>
                </a:solidFill>
                <a:latin typeface="Lato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852928"/>
            <a:ext cx="10607040" cy="6355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316736" y="3300984"/>
          <a:ext cx="9061704" cy="5440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11603736" y="2852928"/>
            <a:ext cx="5952744" cy="6355080"/>
          </a:xfrm>
          <a:prstGeom prst="roundRect">
            <a:avLst>
              <a:gd name="adj" fmla="val 7000"/>
            </a:avLst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0" y="3319272"/>
            <a:ext cx="5184648" cy="48463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200" b="1">
                <a:solidFill>
                  <a:srgbClr val="2D4038"/>
                </a:solidFill>
                <a:latin typeface="Lato"/>
              </a:defRPr>
            </a:pPr>
            <a:r>
              <a:t>Net equity purchased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51208" y="4096512"/>
            <a:ext cx="5358384" cy="9144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5300" b="1">
                <a:solidFill>
                  <a:srgbClr val="125449"/>
                </a:solidFill>
                <a:latin typeface="Lato"/>
              </a:defRPr>
            </a:pPr>
            <a:r>
              <a:t>$6.210m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978640" y="5303520"/>
            <a:ext cx="5193792" cy="0"/>
          </a:xfrm>
          <a:prstGeom prst="line">
            <a:avLst/>
          </a:prstGeom>
          <a:ln w="15240">
            <a:solidFill>
              <a:srgbClr val="D4D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015216" y="5733288"/>
            <a:ext cx="5020056" cy="49377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300" b="1">
                <a:solidFill>
                  <a:srgbClr val="2D4038"/>
                </a:solidFill>
                <a:latin typeface="Lato"/>
              </a:defRPr>
            </a:pPr>
            <a:r>
              <a:t>Entry fee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978640" y="6464808"/>
            <a:ext cx="5266944" cy="12161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52376" y="6638544"/>
            <a:ext cx="4910328" cy="82296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defRPr sz="2000" b="1">
                <a:solidFill>
                  <a:srgbClr val="125449"/>
                </a:solidFill>
                <a:latin typeface="Lato"/>
              </a:defRPr>
            </a:pPr>
            <a:r>
              <a:t>E = (12m − Bond Cost) / 1.001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51792" y="8037575"/>
            <a:ext cx="5120640" cy="5577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800" b="0">
                <a:solidFill>
                  <a:srgbClr val="65786F"/>
                </a:solidFill>
                <a:latin typeface="Lato"/>
              </a:defRPr>
            </a:pPr>
            <a:r>
              <a:t>Ten basis points: about $6,210.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56032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500" b="1">
                <a:solidFill>
                  <a:srgbClr val="125449"/>
                </a:solidFill>
                <a:latin typeface="Lato"/>
              </a:defRPr>
            </a:pPr>
            <a:r>
              <a:t>KAPPA FOUNDATION  /  GROUP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256032"/>
            <a:ext cx="521208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500" b="1">
                <a:solidFill>
                  <a:srgbClr val="125449"/>
                </a:solidFill>
                <a:latin typeface="Lato"/>
              </a:defRPr>
            </a:pPr>
            <a:r>
              <a:t>STOCK ALLOCATION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94944" y="832104"/>
            <a:ext cx="16888968" cy="0"/>
          </a:xfrm>
          <a:prstGeom prst="line">
            <a:avLst/>
          </a:prstGeom>
          <a:ln w="19050">
            <a:solidFill>
              <a:srgbClr val="125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088136"/>
            <a:ext cx="16642080" cy="85953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4300" b="1">
                <a:solidFill>
                  <a:srgbClr val="125449"/>
                </a:solidFill>
                <a:latin typeface="Lato"/>
              </a:defRPr>
            </a:pPr>
            <a:r>
              <a:t>Eight stocks, with strict weight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975104"/>
            <a:ext cx="16459200" cy="5577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100" b="0">
                <a:solidFill>
                  <a:srgbClr val="65786F"/>
                </a:solidFill>
                <a:latin typeface="Lato"/>
              </a:defRPr>
            </a:pPr>
            <a:r>
              <a:t>The candidate list spans six sectors; selected stocks span five.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35272" y="9692640"/>
            <a:ext cx="502920" cy="2834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400" b="1">
                <a:solidFill>
                  <a:srgbClr val="65786F"/>
                </a:solidFill>
                <a:latin typeface="Lato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2852928"/>
            <a:ext cx="11548872" cy="63642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024128" y="3209544"/>
          <a:ext cx="1046988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12554712" y="2852928"/>
            <a:ext cx="5001768" cy="6355080"/>
          </a:xfrm>
          <a:prstGeom prst="roundRect">
            <a:avLst>
              <a:gd name="adj" fmla="val 7000"/>
            </a:avLst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66192" y="3328416"/>
            <a:ext cx="411480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200" b="1">
                <a:solidFill>
                  <a:srgbClr val="2D4038"/>
                </a:solidFill>
                <a:latin typeface="Lato"/>
              </a:defRPr>
            </a:pPr>
            <a:r>
              <a:t>Stock cap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7048" y="3877056"/>
            <a:ext cx="4123944" cy="79552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5000" b="1">
                <a:solidFill>
                  <a:srgbClr val="125449"/>
                </a:solidFill>
                <a:latin typeface="Lato"/>
              </a:defRPr>
            </a:pPr>
            <a:r>
              <a:t>15%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957048" y="4956048"/>
            <a:ext cx="4142232" cy="0"/>
          </a:xfrm>
          <a:prstGeom prst="line">
            <a:avLst/>
          </a:prstGeom>
          <a:ln w="15240">
            <a:solidFill>
              <a:srgbClr val="D4D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957048" y="5257800"/>
            <a:ext cx="4142232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200" b="1">
                <a:solidFill>
                  <a:srgbClr val="2D4038"/>
                </a:solidFill>
                <a:latin typeface="Lato"/>
              </a:defRPr>
            </a:pPr>
            <a:r>
              <a:t>Technology cap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47904" y="5824728"/>
            <a:ext cx="4114800" cy="8046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5000" b="1">
                <a:solidFill>
                  <a:srgbClr val="C28E52"/>
                </a:solidFill>
                <a:latin typeface="Lato"/>
              </a:defRPr>
            </a:pPr>
            <a:r>
              <a:t>30%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966192" y="6894576"/>
            <a:ext cx="4123944" cy="0"/>
          </a:xfrm>
          <a:prstGeom prst="line">
            <a:avLst/>
          </a:prstGeom>
          <a:ln w="15240">
            <a:solidFill>
              <a:srgbClr val="D4D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957048" y="7251192"/>
            <a:ext cx="4133087" cy="5577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200" b="1">
                <a:solidFill>
                  <a:srgbClr val="125449"/>
                </a:solidFill>
                <a:latin typeface="Lato"/>
              </a:defRPr>
            </a:pPr>
            <a:r>
              <a:t>No selected ETFs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66192" y="8028431"/>
            <a:ext cx="4142232" cy="69494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700" b="0">
                <a:solidFill>
                  <a:srgbClr val="65786F"/>
                </a:solidFill>
                <a:latin typeface="Lato"/>
              </a:defRPr>
            </a:pPr>
            <a:r>
              <a:t>Stock concentration still matters.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56032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500" b="1">
                <a:solidFill>
                  <a:srgbClr val="125449"/>
                </a:solidFill>
                <a:latin typeface="Lato"/>
              </a:defRPr>
            </a:pPr>
            <a:r>
              <a:t>KAPPA FOUNDATION  /  GROUP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256032"/>
            <a:ext cx="521208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500" b="1">
                <a:solidFill>
                  <a:srgbClr val="125449"/>
                </a:solidFill>
                <a:latin typeface="Lato"/>
              </a:defRPr>
            </a:pPr>
            <a:r>
              <a:t>PORTFOLIO MODELS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94944" y="832104"/>
            <a:ext cx="16888968" cy="0"/>
          </a:xfrm>
          <a:prstGeom prst="line">
            <a:avLst/>
          </a:prstGeom>
          <a:ln w="19050">
            <a:solidFill>
              <a:srgbClr val="125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088136"/>
            <a:ext cx="16642080" cy="85953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4300" b="1">
                <a:solidFill>
                  <a:srgbClr val="125449"/>
                </a:solidFill>
                <a:latin typeface="Lato"/>
              </a:defRPr>
            </a:pPr>
            <a:r>
              <a:t>More expected return means more estimated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975104"/>
            <a:ext cx="16459200" cy="5577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100" b="0">
                <a:solidFill>
                  <a:srgbClr val="65786F"/>
                </a:solidFill>
                <a:latin typeface="Lato"/>
              </a:defRPr>
            </a:pPr>
            <a:r>
              <a:t>Model statistics are in sample, not observed 2023–2025 returns.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35272" y="9692640"/>
            <a:ext cx="502920" cy="2834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400" b="1">
                <a:solidFill>
                  <a:srgbClr val="65786F"/>
                </a:solidFill>
                <a:latin typeface="Lato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2852928"/>
            <a:ext cx="11009376" cy="63642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225296" y="3429000"/>
          <a:ext cx="10104120" cy="517550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12006072" y="2852928"/>
            <a:ext cx="5550408" cy="6355080"/>
          </a:xfrm>
          <a:prstGeom prst="roundRect">
            <a:avLst>
              <a:gd name="adj" fmla="val 7000"/>
            </a:avLst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335256" y="3246120"/>
            <a:ext cx="4873752" cy="15636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54712" y="3401568"/>
            <a:ext cx="4434840" cy="43891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200" b="1">
                <a:solidFill>
                  <a:srgbClr val="125449"/>
                </a:solidFill>
                <a:latin typeface="Lato"/>
              </a:defRPr>
            </a:pPr>
            <a:r>
              <a:t>Sample MV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73000" y="3913631"/>
            <a:ext cx="4398264" cy="79552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800" b="0">
                <a:solidFill>
                  <a:srgbClr val="2D4038"/>
                </a:solidFill>
                <a:latin typeface="Lato"/>
              </a:defRPr>
            </a:pPr>
            <a:r>
              <a:t>Full covariance from 96 months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35256" y="5102352"/>
            <a:ext cx="4873752" cy="15636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54712" y="5257800"/>
            <a:ext cx="4434840" cy="43891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200" b="1">
                <a:solidFill>
                  <a:srgbClr val="125449"/>
                </a:solidFill>
                <a:latin typeface="Lato"/>
              </a:defRPr>
            </a:pPr>
            <a:r>
              <a:t>Single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73000" y="5769864"/>
            <a:ext cx="4398264" cy="79552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800" b="0">
                <a:solidFill>
                  <a:srgbClr val="2D4038"/>
                </a:solidFill>
                <a:latin typeface="Lato"/>
              </a:defRPr>
            </a:pPr>
            <a:r>
              <a:t>Market-factor covariance assumption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35256" y="6958583"/>
            <a:ext cx="4873752" cy="15636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54712" y="7114031"/>
            <a:ext cx="4434840" cy="43891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200" b="1">
                <a:solidFill>
                  <a:srgbClr val="125449"/>
                </a:solidFill>
                <a:latin typeface="Lato"/>
              </a:defRPr>
            </a:pPr>
            <a:r>
              <a:t>Minimum Variance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73000" y="7626096"/>
            <a:ext cx="4398264" cy="79552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800" b="0">
                <a:solidFill>
                  <a:srgbClr val="2D4038"/>
                </a:solidFill>
                <a:latin typeface="Lato"/>
              </a:defRPr>
            </a:pPr>
            <a:r>
              <a:t>Reduce estimated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56032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500" b="1">
                <a:solidFill>
                  <a:srgbClr val="125449"/>
                </a:solidFill>
                <a:latin typeface="Lato"/>
              </a:defRPr>
            </a:pPr>
            <a:r>
              <a:t>KAPPA FOUNDATION  /  GROUP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256032"/>
            <a:ext cx="521208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500" b="1">
                <a:solidFill>
                  <a:srgbClr val="125449"/>
                </a:solidFill>
                <a:latin typeface="Lato"/>
              </a:defRPr>
            </a:pPr>
            <a:r>
              <a:t>PORTFOLIO MATH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94944" y="832104"/>
            <a:ext cx="16888968" cy="0"/>
          </a:xfrm>
          <a:prstGeom prst="line">
            <a:avLst/>
          </a:prstGeom>
          <a:ln w="19050">
            <a:solidFill>
              <a:srgbClr val="125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088136"/>
            <a:ext cx="16642080" cy="85953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4300" b="1">
                <a:solidFill>
                  <a:srgbClr val="125449"/>
                </a:solidFill>
                <a:latin typeface="Lato"/>
              </a:defRPr>
            </a:pPr>
            <a:r>
              <a:t>What the optimizer actually solves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975104"/>
            <a:ext cx="16459200" cy="5577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100" b="0">
                <a:solidFill>
                  <a:srgbClr val="65786F"/>
                </a:solidFill>
                <a:latin typeface="Lato"/>
              </a:defRPr>
            </a:pPr>
            <a:r>
              <a:t>The forecasts change, but the constraints stay comparable.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35272" y="9692640"/>
            <a:ext cx="502920" cy="2834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400" b="1">
                <a:solidFill>
                  <a:srgbClr val="65786F"/>
                </a:solidFill>
                <a:latin typeface="Lato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852928"/>
            <a:ext cx="10442448" cy="6364224"/>
          </a:xfrm>
          <a:prstGeom prst="roundRect">
            <a:avLst>
              <a:gd name="adj" fmla="val 7000"/>
            </a:avLst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300984"/>
            <a:ext cx="9189720" cy="48463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500" b="1">
                <a:solidFill>
                  <a:srgbClr val="125449"/>
                </a:solidFill>
                <a:latin typeface="Lato"/>
              </a:defRPr>
            </a:pPr>
            <a:r>
              <a:t>Risk-adjusted objective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61288" y="4069080"/>
            <a:ext cx="9537192" cy="13350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35024" y="4279392"/>
            <a:ext cx="9171432" cy="85039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defRPr sz="3200" b="1">
                <a:solidFill>
                  <a:srgbClr val="125449"/>
                </a:solidFill>
                <a:latin typeface="Lato"/>
              </a:defRPr>
            </a:pPr>
            <a:r>
              <a:t>max  μᵀw − (A/2) wᵀΣw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5733288"/>
            <a:ext cx="9052560" cy="47548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300" b="1">
                <a:solidFill>
                  <a:srgbClr val="2D4038"/>
                </a:solidFill>
                <a:latin typeface="Lato"/>
              </a:defRPr>
            </a:pPr>
            <a:r>
              <a:t>Investment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336792"/>
            <a:ext cx="9089136" cy="47548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900" b="0">
                <a:solidFill>
                  <a:srgbClr val="2D4038"/>
                </a:solidFill>
                <a:latin typeface="Lato"/>
              </a:defRPr>
            </a:pPr>
            <a:r>
              <a:t>• Σw = 1; w ≥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903720"/>
            <a:ext cx="9089136" cy="47548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900" b="0">
                <a:solidFill>
                  <a:srgbClr val="2D4038"/>
                </a:solidFill>
                <a:latin typeface="Lato"/>
              </a:defRPr>
            </a:pPr>
            <a:r>
              <a:t>• Each direct stock ≤ 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7470648"/>
            <a:ext cx="9089136" cy="47548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900" b="0">
                <a:solidFill>
                  <a:srgbClr val="2D4038"/>
                </a:solidFill>
                <a:latin typeface="Lato"/>
              </a:defRPr>
            </a:pPr>
            <a:r>
              <a:t>• Direct-stock sector ≤ 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8037575"/>
            <a:ext cx="9089136" cy="47548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900" b="0">
                <a:solidFill>
                  <a:srgbClr val="2D4038"/>
                </a:solidFill>
                <a:latin typeface="Lato"/>
              </a:defRPr>
            </a:pPr>
            <a:r>
              <a:t>• Each ETF ≤ 30%; combined ETFs ≤ 40%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03152" y="2852928"/>
            <a:ext cx="6044184" cy="63642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05488" y="3291840"/>
            <a:ext cx="5193792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400" b="1">
                <a:solidFill>
                  <a:srgbClr val="125449"/>
                </a:solidFill>
                <a:latin typeface="Lato"/>
              </a:defRPr>
            </a:pPr>
            <a:r>
              <a:t>Expected-return blend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78056" y="4078224"/>
            <a:ext cx="5285232" cy="1481328"/>
          </a:xfrm>
          <a:prstGeom prst="roundRect">
            <a:avLst>
              <a:gd name="adj" fmla="val 7000"/>
            </a:avLst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15800" y="4315968"/>
            <a:ext cx="4855464" cy="102412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defRPr sz="2400" b="1">
                <a:solidFill>
                  <a:srgbClr val="125449"/>
                </a:solidFill>
                <a:latin typeface="Lato"/>
              </a:defRPr>
            </a:pPr>
            <a:r>
              <a:t>μ = 0.25 μsample</a:t>
            </a:r>
          </a:p>
          <a:p>
            <a:pPr algn="ctr">
              <a:defRPr sz="2400" b="1">
                <a:solidFill>
                  <a:srgbClr val="125449"/>
                </a:solidFill>
                <a:latin typeface="Lato"/>
              </a:defRPr>
            </a:pPr>
            <a:r>
              <a:t>+ 0.75 μVTI prior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942064" y="5888736"/>
            <a:ext cx="5157216" cy="0"/>
          </a:xfrm>
          <a:prstGeom prst="line">
            <a:avLst/>
          </a:prstGeom>
          <a:ln w="15240">
            <a:solidFill>
              <a:srgbClr val="D4D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932920" y="6190488"/>
            <a:ext cx="5120640" cy="7680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4900" b="1">
                <a:solidFill>
                  <a:srgbClr val="C28E52"/>
                </a:solidFill>
                <a:latin typeface="Lato"/>
              </a:defRPr>
            </a:pPr>
            <a:r>
              <a:t>96 months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51208" y="7086600"/>
            <a:ext cx="5102352" cy="46634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000" b="1">
                <a:solidFill>
                  <a:srgbClr val="2D4038"/>
                </a:solidFill>
                <a:latin typeface="Lato"/>
              </a:defRPr>
            </a:pPr>
            <a:r>
              <a:t>Jan 2015 – Dec 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69496" y="7872983"/>
            <a:ext cx="5074920" cy="75895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700" b="0">
                <a:solidFill>
                  <a:srgbClr val="65786F"/>
                </a:solidFill>
                <a:latin typeface="Lato"/>
              </a:defRPr>
            </a:pPr>
            <a:r>
              <a:t>Foundation utility also scales by the equity share.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56032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500" b="1">
                <a:solidFill>
                  <a:srgbClr val="125449"/>
                </a:solidFill>
                <a:latin typeface="Lato"/>
              </a:defRPr>
            </a:pPr>
            <a:r>
              <a:t>KAPPA FOUNDATION  /  GROUP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256032"/>
            <a:ext cx="521208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500" b="1">
                <a:solidFill>
                  <a:srgbClr val="125449"/>
                </a:solidFill>
                <a:latin typeface="Lato"/>
              </a:defRPr>
            </a:pPr>
            <a:r>
              <a:t>RISK PREFERENCE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94944" y="832104"/>
            <a:ext cx="16888968" cy="0"/>
          </a:xfrm>
          <a:prstGeom prst="line">
            <a:avLst/>
          </a:prstGeom>
          <a:ln w="19050">
            <a:solidFill>
              <a:srgbClr val="125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088136"/>
            <a:ext cx="16642080" cy="85953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4300" b="1">
                <a:solidFill>
                  <a:srgbClr val="125449"/>
                </a:solidFill>
                <a:latin typeface="Lato"/>
              </a:defRPr>
            </a:pPr>
            <a:r>
              <a:t>Re-optimization delivers a tiny modeled gain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975104"/>
            <a:ext cx="16459200" cy="5577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100" b="0">
                <a:solidFill>
                  <a:srgbClr val="65786F"/>
                </a:solidFill>
                <a:latin typeface="Lato"/>
              </a:defRPr>
            </a:pPr>
            <a:r>
              <a:t>Keeping the frozen shares avoids overreacting to unstable forecasts.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35272" y="9692640"/>
            <a:ext cx="502920" cy="2834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400" b="1">
                <a:solidFill>
                  <a:srgbClr val="65786F"/>
                </a:solidFill>
                <a:latin typeface="Lato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852928"/>
            <a:ext cx="10442448" cy="6355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291840"/>
            <a:ext cx="9326880" cy="48463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500" b="1">
                <a:solidFill>
                  <a:srgbClr val="125449"/>
                </a:solidFill>
                <a:latin typeface="Lato"/>
              </a:defRPr>
            </a:pPr>
            <a:r>
              <a:t>Foundation equity contribution to utility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014215"/>
            <a:ext cx="9564624" cy="1298448"/>
          </a:xfrm>
          <a:prstGeom prst="roundRect">
            <a:avLst>
              <a:gd name="adj" fmla="val 7000"/>
            </a:avLst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4242816"/>
            <a:ext cx="9052560" cy="85953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defRPr sz="3000" b="1">
                <a:solidFill>
                  <a:srgbClr val="125449"/>
                </a:solidFill>
                <a:latin typeface="Lato"/>
              </a:defRPr>
            </a:pPr>
            <a:r>
              <a:t>U = F μp − (A/2) F² σp²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5733288"/>
            <a:ext cx="9171432" cy="43891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100" b="1">
                <a:solidFill>
                  <a:srgbClr val="2D4038"/>
                </a:solidFill>
                <a:latin typeface="Lato"/>
              </a:defRPr>
            </a:pPr>
            <a:r>
              <a:t>A = 3, revised Principal Matching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576" y="6409944"/>
            <a:ext cx="2871216" cy="47548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000" b="1">
                <a:solidFill>
                  <a:srgbClr val="2D4038"/>
                </a:solidFill>
                <a:latin typeface="Lato"/>
              </a:defRPr>
            </a:pPr>
            <a:r>
              <a:t>Frozen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6446520"/>
            <a:ext cx="3507569" cy="420624"/>
          </a:xfrm>
          <a:prstGeom prst="roundRect">
            <a:avLst>
              <a:gd name="adj" fmla="val 7000"/>
            </a:avLst>
          </a:prstGeom>
          <a:solidFill>
            <a:srgbClr val="125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6400800"/>
            <a:ext cx="2532888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2000" b="1">
                <a:solidFill>
                  <a:srgbClr val="125449"/>
                </a:solidFill>
                <a:latin typeface="Lato"/>
              </a:defRPr>
            </a:pPr>
            <a:r>
              <a:t>0.053328705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9576" y="7269480"/>
            <a:ext cx="2871216" cy="47548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000" b="1">
                <a:solidFill>
                  <a:srgbClr val="2D4038"/>
                </a:solidFill>
                <a:latin typeface="Lato"/>
              </a:defRPr>
            </a:pPr>
            <a:r>
              <a:t>Reoptimized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87952" y="7306056"/>
            <a:ext cx="3507570" cy="420624"/>
          </a:xfrm>
          <a:prstGeom prst="roundRect">
            <a:avLst>
              <a:gd name="adj" fmla="val 7000"/>
            </a:avLst>
          </a:prstGeom>
          <a:solidFill>
            <a:srgbClr val="C28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7260336"/>
            <a:ext cx="2532888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2000" b="1">
                <a:solidFill>
                  <a:srgbClr val="C28E52"/>
                </a:solidFill>
                <a:latin typeface="Lato"/>
              </a:defRPr>
            </a:pPr>
            <a:r>
              <a:t>0.053328718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84864" y="2852928"/>
            <a:ext cx="6062472" cy="6355080"/>
          </a:xfrm>
          <a:prstGeom prst="roundRect">
            <a:avLst>
              <a:gd name="adj" fmla="val 7000"/>
            </a:avLst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78056" y="3310128"/>
            <a:ext cx="5148072" cy="62179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300" b="1">
                <a:solidFill>
                  <a:srgbClr val="125449"/>
                </a:solidFill>
                <a:latin typeface="Lato"/>
              </a:defRPr>
            </a:pPr>
            <a:r>
              <a:t>Reconsider at higher risk aversion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50624" y="4224528"/>
            <a:ext cx="5248656" cy="95097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5000" b="1">
                <a:solidFill>
                  <a:srgbClr val="C28E52"/>
                </a:solidFill>
                <a:latin typeface="Lato"/>
              </a:defRPr>
            </a:pPr>
            <a:r>
              <a:t>A* ≈ 8.94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32920" y="5294376"/>
            <a:ext cx="5129784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800" b="0">
                <a:solidFill>
                  <a:srgbClr val="65786F"/>
                </a:solidFill>
                <a:latin typeface="Lato"/>
              </a:defRPr>
            </a:pPr>
            <a:r>
              <a:t>Fixed-policy comparison only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896344" y="6300216"/>
            <a:ext cx="5230368" cy="0"/>
          </a:xfrm>
          <a:prstGeom prst="line">
            <a:avLst/>
          </a:prstGeom>
          <a:ln w="15240">
            <a:solidFill>
              <a:srgbClr val="D4D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896344" y="6665976"/>
            <a:ext cx="5047488" cy="62179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300" b="1">
                <a:solidFill>
                  <a:srgbClr val="125449"/>
                </a:solidFill>
                <a:latin typeface="Lato"/>
              </a:defRPr>
            </a:pPr>
            <a:r>
              <a:t>Reassess and re-optimize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14632" y="7552944"/>
            <a:ext cx="5084064" cy="86868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800" b="0">
                <a:solidFill>
                  <a:srgbClr val="2D4038"/>
                </a:solidFill>
                <a:latin typeface="Lato"/>
              </a:defRPr>
            </a:pPr>
            <a:r>
              <a:t>Do not automatically buy the old Minimum Variance portfolio.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56032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500" b="1">
                <a:solidFill>
                  <a:srgbClr val="125449"/>
                </a:solidFill>
                <a:latin typeface="Lato"/>
              </a:defRPr>
            </a:pPr>
            <a:r>
              <a:t>KAPPA FOUNDATION  /  GROUP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256032"/>
            <a:ext cx="521208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500" b="1">
                <a:solidFill>
                  <a:srgbClr val="125449"/>
                </a:solidFill>
                <a:latin typeface="Lato"/>
              </a:defRPr>
            </a:pPr>
            <a:r>
              <a:t>FACTOR EVIDENCE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94944" y="832104"/>
            <a:ext cx="16888968" cy="0"/>
          </a:xfrm>
          <a:prstGeom prst="line">
            <a:avLst/>
          </a:prstGeom>
          <a:ln w="19050">
            <a:solidFill>
              <a:srgbClr val="125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088136"/>
            <a:ext cx="16642080" cy="85953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4300" b="1">
                <a:solidFill>
                  <a:srgbClr val="125449"/>
                </a:solidFill>
                <a:latin typeface="Lato"/>
              </a:defRPr>
            </a:pPr>
            <a:r>
              <a:t>FF3 fits the historical data better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975104"/>
            <a:ext cx="16459200" cy="5577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100" b="0">
                <a:solidFill>
                  <a:srgbClr val="65786F"/>
                </a:solidFill>
                <a:latin typeface="Lato"/>
              </a:defRPr>
            </a:pPr>
            <a:r>
              <a:t>A positive estimated intercept is not proof of future stock-picking skill.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35272" y="9692640"/>
            <a:ext cx="502920" cy="2834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400" b="1">
                <a:solidFill>
                  <a:srgbClr val="65786F"/>
                </a:solidFill>
                <a:latin typeface="Lato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2852928"/>
            <a:ext cx="8787384" cy="6355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282696"/>
            <a:ext cx="7644383" cy="48463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500" b="1">
                <a:solidFill>
                  <a:srgbClr val="125449"/>
                </a:solidFill>
                <a:latin typeface="Lato"/>
              </a:defRPr>
            </a:pPr>
            <a:r>
              <a:t>Adjusted R squared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143000" y="3950208"/>
          <a:ext cx="7781544" cy="33558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70432" y="7525512"/>
            <a:ext cx="8019288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000" b="0">
                <a:solidFill>
                  <a:srgbClr val="2D4038"/>
                </a:solidFill>
                <a:latin typeface="Lato"/>
              </a:defRPr>
            </a:pPr>
            <a:r>
              <a:t>Excess Rp = α + βm excess Rm + 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8129016"/>
            <a:ext cx="7982712" cy="43891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100" b="1">
                <a:solidFill>
                  <a:srgbClr val="125449"/>
                </a:solidFill>
                <a:latin typeface="Lato"/>
              </a:defRPr>
            </a:pPr>
            <a:r>
              <a:t>FF3 adds SMB and HML.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11512" y="2852928"/>
            <a:ext cx="7744968" cy="6355080"/>
          </a:xfrm>
          <a:prstGeom prst="roundRect">
            <a:avLst>
              <a:gd name="adj" fmla="val 7000"/>
            </a:avLst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04704" y="3273552"/>
            <a:ext cx="6775704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500" b="1">
                <a:solidFill>
                  <a:srgbClr val="125449"/>
                </a:solidFill>
                <a:latin typeface="Lato"/>
              </a:defRPr>
            </a:pPr>
            <a:r>
              <a:t>FF3 factor loadings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10177272" y="3968496"/>
          <a:ext cx="6784848" cy="344728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7" name="Connector 16"/>
          <p:cNvCxnSpPr/>
          <p:nvPr/>
        </p:nvCxnSpPr>
        <p:spPr>
          <a:xfrm>
            <a:off x="10232136" y="7726679"/>
            <a:ext cx="6848856" cy="0"/>
          </a:xfrm>
          <a:prstGeom prst="line">
            <a:avLst/>
          </a:prstGeom>
          <a:ln w="15240">
            <a:solidFill>
              <a:srgbClr val="D4D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213848" y="7982712"/>
            <a:ext cx="6976872" cy="64008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100" b="1">
                <a:solidFill>
                  <a:srgbClr val="125449"/>
                </a:solidFill>
                <a:latin typeface="Lato"/>
              </a:defRPr>
            </a:pPr>
            <a:r>
              <a:t>Monthly FF3 α ≈ +0.569% (in sample)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56032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500" b="1">
                <a:solidFill>
                  <a:srgbClr val="125449"/>
                </a:solidFill>
                <a:latin typeface="Lato"/>
              </a:defRPr>
            </a:pPr>
            <a:r>
              <a:t>KAPPA FOUNDATION  /  GROUP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256032"/>
            <a:ext cx="521208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500" b="1">
                <a:solidFill>
                  <a:srgbClr val="125449"/>
                </a:solidFill>
                <a:latin typeface="Lato"/>
              </a:defRPr>
            </a:pPr>
            <a:r>
              <a:t>STRESS &amp; GOAL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94944" y="832104"/>
            <a:ext cx="16888968" cy="0"/>
          </a:xfrm>
          <a:prstGeom prst="line">
            <a:avLst/>
          </a:prstGeom>
          <a:ln w="19050">
            <a:solidFill>
              <a:srgbClr val="125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088136"/>
            <a:ext cx="16642080" cy="85953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4300" b="1">
                <a:solidFill>
                  <a:srgbClr val="125449"/>
                </a:solidFill>
                <a:latin typeface="Lato"/>
              </a:defRPr>
            </a:pPr>
            <a:r>
              <a:t>Funding commitments does not eliminate market losses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975104"/>
            <a:ext cx="16459200" cy="5577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100" b="0">
                <a:solidFill>
                  <a:srgbClr val="65786F"/>
                </a:solidFill>
                <a:latin typeface="Lato"/>
              </a:defRPr>
            </a:pPr>
            <a:r>
              <a:t>The 2030 goal also depends on inflation and equity growth.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35272" y="9692640"/>
            <a:ext cx="502920" cy="2834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400" b="1">
                <a:solidFill>
                  <a:srgbClr val="65786F"/>
                </a:solidFill>
                <a:latin typeface="Lato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52928"/>
            <a:ext cx="10177272" cy="6355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264408"/>
            <a:ext cx="9162288" cy="48463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400" b="1">
                <a:solidFill>
                  <a:srgbClr val="125449"/>
                </a:solidFill>
                <a:latin typeface="Lato"/>
              </a:defRPr>
            </a:pPr>
            <a:r>
              <a:t>Combined shock: stocks −25%, yields +100bp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207008" y="3913632"/>
          <a:ext cx="9308592" cy="38770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207008" y="8266175"/>
            <a:ext cx="9162288" cy="5577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000" b="1">
                <a:solidFill>
                  <a:srgbClr val="2D4038"/>
                </a:solidFill>
                <a:latin typeface="Lato"/>
              </a:defRPr>
            </a:pPr>
            <a:r>
              <a:t>A one-time shock is not a rolling 12-month return.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237976" y="2852928"/>
            <a:ext cx="6309360" cy="6355080"/>
          </a:xfrm>
          <a:prstGeom prst="roundRect">
            <a:avLst>
              <a:gd name="adj" fmla="val 7000"/>
            </a:avLst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67744" y="3273552"/>
            <a:ext cx="5120640" cy="49377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200" b="1">
                <a:solidFill>
                  <a:srgbClr val="125449"/>
                </a:solidFill>
                <a:latin typeface="Lato"/>
              </a:defRPr>
            </a:pPr>
            <a:r>
              <a:t>2030 nominal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40312" y="4078224"/>
            <a:ext cx="5330952" cy="88696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5000" b="1">
                <a:solidFill>
                  <a:srgbClr val="125449"/>
                </a:solidFill>
                <a:latin typeface="Lato"/>
              </a:defRPr>
            </a:pPr>
            <a:r>
              <a:t>$9.596m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8600" y="5047488"/>
            <a:ext cx="5047488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800" b="0">
                <a:solidFill>
                  <a:srgbClr val="65786F"/>
                </a:solidFill>
                <a:latin typeface="Lato"/>
              </a:defRPr>
            </a:pPr>
            <a:r>
              <a:t>Assuming 2.3% inflation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631168" y="5742432"/>
            <a:ext cx="5522976" cy="0"/>
          </a:xfrm>
          <a:prstGeom prst="line">
            <a:avLst/>
          </a:prstGeom>
          <a:ln w="15240">
            <a:solidFill>
              <a:srgbClr val="D4D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658600" y="6025896"/>
            <a:ext cx="5111496" cy="48463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100" b="1">
                <a:solidFill>
                  <a:srgbClr val="2D4038"/>
                </a:solidFill>
                <a:latin typeface="Lato"/>
              </a:defRPr>
            </a:pPr>
            <a:r>
              <a:t>Equity CAGR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40312" y="6629400"/>
            <a:ext cx="5330952" cy="89611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5200" b="1">
                <a:solidFill>
                  <a:srgbClr val="C28E52"/>
                </a:solidFill>
                <a:latin typeface="Lato"/>
              </a:defRPr>
            </a:pPr>
            <a:r>
              <a:t>4.80%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622024" y="7872983"/>
            <a:ext cx="5440680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59184" y="7991856"/>
            <a:ext cx="5093208" cy="58521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defRPr sz="1600" b="1">
                <a:solidFill>
                  <a:srgbClr val="125449"/>
                </a:solidFill>
                <a:latin typeface="Lato"/>
              </a:defRPr>
            </a:pPr>
            <a:r>
              <a:t>r* = [(Target − Cash) / E]^(1/8) − 1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56032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500" b="1">
                <a:solidFill>
                  <a:srgbClr val="125449"/>
                </a:solidFill>
                <a:latin typeface="Lato"/>
              </a:defRPr>
            </a:pPr>
            <a:r>
              <a:t>KAPPA FOUNDATION  /  GROUP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256032"/>
            <a:ext cx="521208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500" b="1">
                <a:solidFill>
                  <a:srgbClr val="125449"/>
                </a:solidFill>
                <a:latin typeface="Lato"/>
              </a:defRPr>
            </a:pPr>
            <a:r>
              <a:t>FROZEN EVALUATION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94944" y="832104"/>
            <a:ext cx="16888968" cy="0"/>
          </a:xfrm>
          <a:prstGeom prst="line">
            <a:avLst/>
          </a:prstGeom>
          <a:ln w="19050">
            <a:solidFill>
              <a:srgbClr val="125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088136"/>
            <a:ext cx="16642080" cy="85953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4300" b="1">
                <a:solidFill>
                  <a:srgbClr val="125449"/>
                </a:solidFill>
                <a:latin typeface="Lato"/>
              </a:defRPr>
            </a:pPr>
            <a:r>
              <a:t>The selected shares grew, but VTI did better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975104"/>
            <a:ext cx="16459200" cy="5577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100" b="0">
                <a:solidFill>
                  <a:srgbClr val="65786F"/>
                </a:solidFill>
                <a:latin typeface="Lato"/>
              </a:defRPr>
            </a:pPr>
            <a:r>
              <a:t>Original $6.229m equity base, not revised $6.210m. Monthly returns, 2023–25.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35272" y="9692640"/>
            <a:ext cx="502920" cy="2834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400" b="1">
                <a:solidFill>
                  <a:srgbClr val="65786F"/>
                </a:solidFill>
                <a:latin typeface="Lato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2852928"/>
            <a:ext cx="16834104" cy="6355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088136" y="3236976"/>
          <a:ext cx="16120872" cy="540410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56032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500" b="1">
                <a:solidFill>
                  <a:srgbClr val="125449"/>
                </a:solidFill>
                <a:latin typeface="Lato"/>
              </a:defRPr>
            </a:pPr>
            <a:r>
              <a:t>KAPPA FOUNDATION  /  GROUP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256032"/>
            <a:ext cx="521208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500" b="1">
                <a:solidFill>
                  <a:srgbClr val="125449"/>
                </a:solidFill>
                <a:latin typeface="Lato"/>
              </a:defRPr>
            </a:pPr>
            <a:r>
              <a:t>RESULTS &amp; LIMITATIONS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94944" y="832104"/>
            <a:ext cx="16888968" cy="0"/>
          </a:xfrm>
          <a:prstGeom prst="line">
            <a:avLst/>
          </a:prstGeom>
          <a:ln w="19050">
            <a:solidFill>
              <a:srgbClr val="125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088136"/>
            <a:ext cx="16642080" cy="85953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4300" b="1">
                <a:solidFill>
                  <a:srgbClr val="125449"/>
                </a:solidFill>
                <a:latin typeface="Lato"/>
              </a:defRPr>
            </a:pPr>
            <a:r>
              <a:t>Selected shares underperformed the VTI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975104"/>
            <a:ext cx="16459200" cy="5577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100" b="0">
                <a:solidFill>
                  <a:srgbClr val="65786F"/>
                </a:solidFill>
                <a:latin typeface="Lato"/>
              </a:defRPr>
            </a:pPr>
            <a:r>
              <a:t>Positive absolute returns do not prove an equity-selection advantage.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35272" y="9692640"/>
            <a:ext cx="502920" cy="2834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400" b="1">
                <a:solidFill>
                  <a:srgbClr val="65786F"/>
                </a:solidFill>
                <a:latin typeface="Lato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52928"/>
            <a:ext cx="10415016" cy="63642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9576" y="3300984"/>
            <a:ext cx="8878824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500" b="1">
                <a:solidFill>
                  <a:srgbClr val="125449"/>
                </a:solidFill>
                <a:latin typeface="Lato"/>
              </a:defRPr>
            </a:pPr>
            <a:r>
              <a:t>CAGR after entry fee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225296" y="3986784"/>
          <a:ext cx="9473184" cy="38313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88720" y="8275320"/>
            <a:ext cx="9400032" cy="5394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300" b="1">
                <a:solidFill>
                  <a:srgbClr val="BE7460"/>
                </a:solidFill>
                <a:latin typeface="Lato"/>
              </a:defRPr>
            </a:pPr>
            <a:r>
              <a:t>VTI outperformed by 4.76 percentage 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75720" y="2852928"/>
            <a:ext cx="6080760" cy="6364224"/>
          </a:xfrm>
          <a:prstGeom prst="roundRect">
            <a:avLst>
              <a:gd name="adj" fmla="val 7000"/>
            </a:avLst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96344" y="3291840"/>
            <a:ext cx="5010912" cy="44805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500" b="1">
                <a:solidFill>
                  <a:srgbClr val="125449"/>
                </a:solidFill>
                <a:latin typeface="Lato"/>
              </a:defRPr>
            </a:pPr>
            <a:r>
              <a:t>Observed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05488" y="4187952"/>
            <a:ext cx="5065776" cy="6126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500" b="1">
                <a:solidFill>
                  <a:srgbClr val="2D4038"/>
                </a:solidFill>
                <a:latin typeface="Lato"/>
              </a:defRPr>
            </a:pPr>
            <a:r>
              <a:t>11.80% vs 12.60%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23776" y="4837176"/>
            <a:ext cx="4965192" cy="44805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800" b="0">
                <a:solidFill>
                  <a:srgbClr val="65786F"/>
                </a:solidFill>
                <a:latin typeface="Lato"/>
              </a:defRPr>
            </a:pPr>
            <a:r>
              <a:t>Annualized volatility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896344" y="5733288"/>
            <a:ext cx="5230368" cy="0"/>
          </a:xfrm>
          <a:prstGeom prst="line">
            <a:avLst/>
          </a:prstGeom>
          <a:ln w="15240">
            <a:solidFill>
              <a:srgbClr val="D4D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896344" y="6062472"/>
            <a:ext cx="5074920" cy="7772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5000" b="1">
                <a:solidFill>
                  <a:srgbClr val="C28E52"/>
                </a:solidFill>
                <a:latin typeface="Lato"/>
              </a:defRPr>
            </a:pPr>
            <a:r>
              <a:t>6.91%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32920" y="6894576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800" b="0">
                <a:solidFill>
                  <a:srgbClr val="2D4038"/>
                </a:solidFill>
                <a:latin typeface="Lato"/>
              </a:defRPr>
            </a:pPr>
            <a:r>
              <a:t>Annualized tracking 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32920" y="7754112"/>
            <a:ext cx="5038344" cy="82296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800" b="1">
                <a:solidFill>
                  <a:srgbClr val="125449"/>
                </a:solidFill>
                <a:latin typeface="Lato"/>
              </a:defRPr>
            </a:pPr>
            <a:r>
              <a:t>The future test did not change our 2022 decision.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56032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500" b="1">
                <a:solidFill>
                  <a:srgbClr val="125449"/>
                </a:solidFill>
                <a:latin typeface="Lato"/>
              </a:defRPr>
            </a:pPr>
            <a:r>
              <a:t>KAPPA FOUNDATION  /  GROUP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256032"/>
            <a:ext cx="521208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500" b="1">
                <a:solidFill>
                  <a:srgbClr val="125449"/>
                </a:solidFill>
                <a:latin typeface="Lato"/>
              </a:defRPr>
            </a:pPr>
            <a:r>
              <a:t>GOVERNANCE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94944" y="832104"/>
            <a:ext cx="16888968" cy="0"/>
          </a:xfrm>
          <a:prstGeom prst="line">
            <a:avLst/>
          </a:prstGeom>
          <a:ln w="19050">
            <a:solidFill>
              <a:srgbClr val="125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088136"/>
            <a:ext cx="16642080" cy="85953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4300" b="1">
                <a:solidFill>
                  <a:srgbClr val="125449"/>
                </a:solidFill>
                <a:latin typeface="Lato"/>
              </a:defRPr>
            </a:pPr>
            <a:r>
              <a:t>Implementation requires monitoring and discipline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975104"/>
            <a:ext cx="16459200" cy="5577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100" b="0">
                <a:solidFill>
                  <a:srgbClr val="65786F"/>
                </a:solidFill>
                <a:latin typeface="Lato"/>
              </a:defRPr>
            </a:pPr>
            <a:r>
              <a:t>Our proposed review rules still require trustee agreement.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35272" y="9692640"/>
            <a:ext cx="502920" cy="2834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400" b="1">
                <a:solidFill>
                  <a:srgbClr val="65786F"/>
                </a:solidFill>
                <a:latin typeface="Lato"/>
              </a:defRPr>
            </a:pPr>
            <a: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52928"/>
            <a:ext cx="16806672" cy="6355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8448" y="3328416"/>
            <a:ext cx="4270248" cy="1261872"/>
          </a:xfrm>
          <a:prstGeom prst="roundRect">
            <a:avLst>
              <a:gd name="adj" fmla="val 7000"/>
            </a:avLst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17904" y="3529584"/>
            <a:ext cx="1380744" cy="48463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400" b="1">
                <a:solidFill>
                  <a:srgbClr val="125449"/>
                </a:solidFill>
                <a:latin typeface="Lato"/>
              </a:defRPr>
            </a:pPr>
            <a:r>
              <a:t>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511296"/>
            <a:ext cx="2121408" cy="53035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3000" b="1">
                <a:solidFill>
                  <a:srgbClr val="C28E52"/>
                </a:solidFill>
                <a:latin typeface="Lato"/>
              </a:defRPr>
            </a:pPr>
            <a:r>
              <a:t>$2.4m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77840" y="3959352"/>
            <a:ext cx="859536" cy="0"/>
          </a:xfrm>
          <a:prstGeom prst="line">
            <a:avLst/>
          </a:prstGeom>
          <a:ln w="25400">
            <a:solidFill>
              <a:srgbClr val="125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28816" y="3328416"/>
            <a:ext cx="4270248" cy="1261872"/>
          </a:xfrm>
          <a:prstGeom prst="roundRect">
            <a:avLst>
              <a:gd name="adj" fmla="val 7000"/>
            </a:avLst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48272" y="3529584"/>
            <a:ext cx="1380744" cy="48463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400" b="1">
                <a:solidFill>
                  <a:srgbClr val="125449"/>
                </a:solidFill>
                <a:latin typeface="Lato"/>
              </a:defRPr>
            </a:pPr>
            <a:r>
              <a:t>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7" y="3511296"/>
            <a:ext cx="2121408" cy="53035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3000" b="1">
                <a:solidFill>
                  <a:srgbClr val="C28E52"/>
                </a:solidFill>
                <a:latin typeface="Lato"/>
              </a:defRPr>
            </a:pPr>
            <a:r>
              <a:t>$1.2m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808208" y="3959352"/>
            <a:ext cx="859536" cy="0"/>
          </a:xfrm>
          <a:prstGeom prst="line">
            <a:avLst/>
          </a:prstGeom>
          <a:ln w="25400">
            <a:solidFill>
              <a:srgbClr val="125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1759184" y="3328416"/>
            <a:ext cx="4270248" cy="1261872"/>
          </a:xfrm>
          <a:prstGeom prst="roundRect">
            <a:avLst>
              <a:gd name="adj" fmla="val 7000"/>
            </a:avLst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8640" y="3529584"/>
            <a:ext cx="1380744" cy="48463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400" b="1">
                <a:solidFill>
                  <a:srgbClr val="125449"/>
                </a:solidFill>
                <a:latin typeface="Lato"/>
              </a:defRPr>
            </a:pPr>
            <a:r>
              <a:t>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61136" y="3511296"/>
            <a:ext cx="2121408" cy="53035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3000" b="1">
                <a:solidFill>
                  <a:srgbClr val="C28E52"/>
                </a:solidFill>
                <a:latin typeface="Lato"/>
              </a:defRPr>
            </a:pPr>
            <a:r>
              <a:t>$2.4m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5056632"/>
            <a:ext cx="15361920" cy="49377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500" b="1">
                <a:solidFill>
                  <a:srgbClr val="125449"/>
                </a:solidFill>
                <a:latin typeface="Lato"/>
              </a:defRPr>
            </a:pPr>
            <a:r>
              <a:t>Rolling withdrawal-adjusted review levels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07592" y="5907024"/>
            <a:ext cx="6976872" cy="2103120"/>
          </a:xfrm>
          <a:prstGeom prst="roundRect">
            <a:avLst>
              <a:gd name="adj" fmla="val 7000"/>
            </a:avLst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27632" y="6227064"/>
            <a:ext cx="6217920" cy="5760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3100" b="1">
                <a:solidFill>
                  <a:srgbClr val="C28E52"/>
                </a:solidFill>
                <a:latin typeface="Lato"/>
              </a:defRPr>
            </a:pPr>
            <a:r>
              <a:t>12% trailing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36776" y="6995160"/>
            <a:ext cx="6190488" cy="49377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800" b="0">
                <a:solidFill>
                  <a:srgbClr val="2D4038"/>
                </a:solidFill>
                <a:latin typeface="Lato"/>
              </a:defRPr>
            </a:pPr>
            <a:r>
              <a:t>Warning: review cash and assumptions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08008" y="5907024"/>
            <a:ext cx="6958584" cy="2103120"/>
          </a:xfrm>
          <a:prstGeom prst="roundRect">
            <a:avLst>
              <a:gd name="adj" fmla="val 7000"/>
            </a:avLst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37192" y="6227064"/>
            <a:ext cx="6153912" cy="5760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3100" b="1">
                <a:solidFill>
                  <a:srgbClr val="BE7460"/>
                </a:solidFill>
                <a:latin typeface="Lato"/>
              </a:defRPr>
            </a:pPr>
            <a:r>
              <a:t>15% trailing 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7192" y="6995160"/>
            <a:ext cx="6153912" cy="49377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800" b="0">
                <a:solidFill>
                  <a:srgbClr val="2D4038"/>
                </a:solidFill>
                <a:latin typeface="Lato"/>
              </a:defRPr>
            </a:pPr>
            <a:r>
              <a:t>Stronger trustee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8485632"/>
            <a:ext cx="15160751" cy="521207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000" b="1">
                <a:solidFill>
                  <a:srgbClr val="125449"/>
                </a:solidFill>
                <a:latin typeface="Lato"/>
              </a:defRPr>
            </a:pPr>
            <a:r>
              <a:t>Rolling TWR = Π(1 + withdrawal-adjusted monthly return) − 1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56032"/>
            <a:ext cx="914400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500" b="1">
                <a:solidFill>
                  <a:srgbClr val="125449"/>
                </a:solidFill>
                <a:latin typeface="Lato"/>
              </a:defRPr>
            </a:pPr>
            <a:r>
              <a:t>KAPPA FOUNDATION  /  GROUP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256032"/>
            <a:ext cx="521208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500" b="1">
                <a:solidFill>
                  <a:srgbClr val="125449"/>
                </a:solidFill>
                <a:latin typeface="Lato"/>
              </a:defRPr>
            </a:pPr>
            <a:r>
              <a:t>BOARD DECISION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94944" y="832104"/>
            <a:ext cx="16888968" cy="0"/>
          </a:xfrm>
          <a:prstGeom prst="line">
            <a:avLst/>
          </a:prstGeom>
          <a:ln w="19050">
            <a:solidFill>
              <a:srgbClr val="125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088136"/>
            <a:ext cx="16642080" cy="85953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4300" b="1">
                <a:solidFill>
                  <a:srgbClr val="125449"/>
                </a:solidFill>
                <a:latin typeface="Lato"/>
              </a:defRPr>
            </a:pPr>
            <a:r>
              <a:t>One clear recommendation, with risks disclosed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975104"/>
            <a:ext cx="16459200" cy="5577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100" b="0">
                <a:solidFill>
                  <a:srgbClr val="65786F"/>
                </a:solidFill>
                <a:latin typeface="Lato"/>
              </a:defRPr>
            </a:pPr>
            <a:r>
              <a:t>What we would ask the trustees to approve.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35272" y="9692640"/>
            <a:ext cx="502920" cy="2834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>
              <a:defRPr sz="1400" b="1">
                <a:solidFill>
                  <a:srgbClr val="65786F"/>
                </a:solidFill>
                <a:latin typeface="Lato"/>
              </a:defRPr>
            </a:pPr>
            <a: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2862072"/>
            <a:ext cx="7607808" cy="6345936"/>
          </a:xfrm>
          <a:prstGeom prst="roundRect">
            <a:avLst>
              <a:gd name="adj" fmla="val 7000"/>
            </a:avLst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6688" y="5146608"/>
            <a:ext cx="1293327" cy="4061399"/>
          </a:xfrm>
          <a:prstGeom prst="rect">
            <a:avLst/>
          </a:prstGeom>
          <a:solidFill>
            <a:srgbClr val="8DAE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46553" y="5958888"/>
            <a:ext cx="219865" cy="26399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41484" y="5958888"/>
            <a:ext cx="219865" cy="26399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46553" y="6852396"/>
            <a:ext cx="219865" cy="26399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41484" y="6852396"/>
            <a:ext cx="219865" cy="26399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46553" y="7745904"/>
            <a:ext cx="219865" cy="26399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41484" y="7745904"/>
            <a:ext cx="219865" cy="26399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20015" y="3433206"/>
            <a:ext cx="1293327" cy="5774801"/>
          </a:xfrm>
          <a:prstGeom prst="rect">
            <a:avLst/>
          </a:prstGeom>
          <a:solidFill>
            <a:srgbClr val="125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39881" y="4588166"/>
            <a:ext cx="219865" cy="375362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34811" y="4588166"/>
            <a:ext cx="219865" cy="375362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39881" y="5858622"/>
            <a:ext cx="219865" cy="375362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34811" y="5858622"/>
            <a:ext cx="219865" cy="375362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39881" y="7129079"/>
            <a:ext cx="219865" cy="375362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34811" y="7129079"/>
            <a:ext cx="219865" cy="375362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65499" y="4448556"/>
            <a:ext cx="1293327" cy="4759452"/>
          </a:xfrm>
          <a:prstGeom prst="rect">
            <a:avLst/>
          </a:prstGeom>
          <a:solidFill>
            <a:srgbClr val="C28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85364" y="5400446"/>
            <a:ext cx="219865" cy="309364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80295" y="5400446"/>
            <a:ext cx="219865" cy="309364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85364" y="6447525"/>
            <a:ext cx="219865" cy="309364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80295" y="6447525"/>
            <a:ext cx="219865" cy="309364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85364" y="7494605"/>
            <a:ext cx="219865" cy="309364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80295" y="7494605"/>
            <a:ext cx="219865" cy="309364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0982" y="3115909"/>
            <a:ext cx="1293327" cy="6092098"/>
          </a:xfrm>
          <a:prstGeom prst="rect">
            <a:avLst/>
          </a:prstGeom>
          <a:solidFill>
            <a:srgbClr val="31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30848" y="4334329"/>
            <a:ext cx="219865" cy="395986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25778" y="4334329"/>
            <a:ext cx="219865" cy="395986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0848" y="5674590"/>
            <a:ext cx="219865" cy="395986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25778" y="5674590"/>
            <a:ext cx="219865" cy="395986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30848" y="7014852"/>
            <a:ext cx="219865" cy="395986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25778" y="7014852"/>
            <a:ext cx="219865" cy="395986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32544" y="4956230"/>
            <a:ext cx="1293327" cy="4251777"/>
          </a:xfrm>
          <a:prstGeom prst="rect">
            <a:avLst/>
          </a:prstGeom>
          <a:solidFill>
            <a:srgbClr val="276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952409" y="5806586"/>
            <a:ext cx="219865" cy="276365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547340" y="5806586"/>
            <a:ext cx="219865" cy="276365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52409" y="6741977"/>
            <a:ext cx="219865" cy="276365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47340" y="6741977"/>
            <a:ext cx="219865" cy="276365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52409" y="7677368"/>
            <a:ext cx="219865" cy="276365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47340" y="7677368"/>
            <a:ext cx="219865" cy="276365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22376" y="8827251"/>
            <a:ext cx="7607808" cy="380756"/>
          </a:xfrm>
          <a:prstGeom prst="rect">
            <a:avLst/>
          </a:prstGeom>
          <a:solidFill>
            <a:srgbClr val="125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695944" y="2862072"/>
            <a:ext cx="8851392" cy="6345936"/>
          </a:xfrm>
          <a:prstGeom prst="roundRect">
            <a:avLst>
              <a:gd name="adj" fmla="val 7000"/>
            </a:avLst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171432" y="3328416"/>
            <a:ext cx="658368" cy="658368"/>
          </a:xfrm>
          <a:prstGeom prst="roundRect">
            <a:avLst>
              <a:gd name="adj" fmla="val 7000"/>
            </a:avLst>
          </a:prstGeom>
          <a:solidFill>
            <a:srgbClr val="125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26296" y="3383280"/>
            <a:ext cx="548640" cy="5394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Lato"/>
              </a:defRPr>
            </a:pPr>
            <a: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30968" y="3300984"/>
            <a:ext cx="6839712" cy="49377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500" b="1">
                <a:solidFill>
                  <a:srgbClr val="125449"/>
                </a:solidFill>
                <a:latin typeface="Lato"/>
              </a:defRPr>
            </a:pPr>
            <a:r>
              <a:t>Fund the promises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40112" y="3959352"/>
            <a:ext cx="6867144" cy="59436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800" b="0">
                <a:solidFill>
                  <a:srgbClr val="2D4038"/>
                </a:solidFill>
                <a:latin typeface="Lato"/>
              </a:defRPr>
            </a:pPr>
            <a:r>
              <a:t>Principal-match every revised payment.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162288" y="4672584"/>
            <a:ext cx="7891272" cy="0"/>
          </a:xfrm>
          <a:prstGeom prst="line">
            <a:avLst/>
          </a:prstGeom>
          <a:ln w="15240">
            <a:solidFill>
              <a:srgbClr val="D4D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171432" y="5029200"/>
            <a:ext cx="658368" cy="658368"/>
          </a:xfrm>
          <a:prstGeom prst="roundRect">
            <a:avLst>
              <a:gd name="adj" fmla="val 7000"/>
            </a:avLst>
          </a:prstGeom>
          <a:solidFill>
            <a:srgbClr val="125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26296" y="5084064"/>
            <a:ext cx="548640" cy="5394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Lato"/>
              </a:defRPr>
            </a:pPr>
            <a:r>
              <a:t>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30968" y="5001768"/>
            <a:ext cx="6839712" cy="49377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500" b="1">
                <a:solidFill>
                  <a:srgbClr val="125449"/>
                </a:solidFill>
                <a:latin typeface="Lato"/>
              </a:defRPr>
            </a:pPr>
            <a:r>
              <a:t>Keep the original equity choice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40112" y="5660136"/>
            <a:ext cx="6867144" cy="59436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800" b="0">
                <a:solidFill>
                  <a:srgbClr val="2D4038"/>
                </a:solidFill>
                <a:latin typeface="Lato"/>
              </a:defRPr>
            </a:pPr>
            <a:r>
              <a:t>Retain Sample MV weights without hindsight.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162288" y="6373368"/>
            <a:ext cx="7891272" cy="0"/>
          </a:xfrm>
          <a:prstGeom prst="line">
            <a:avLst/>
          </a:prstGeom>
          <a:ln w="15240">
            <a:solidFill>
              <a:srgbClr val="D4D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9171432" y="6729984"/>
            <a:ext cx="658368" cy="658368"/>
          </a:xfrm>
          <a:prstGeom prst="roundRect">
            <a:avLst>
              <a:gd name="adj" fmla="val 7000"/>
            </a:avLst>
          </a:prstGeom>
          <a:solidFill>
            <a:srgbClr val="C28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26296" y="6784848"/>
            <a:ext cx="548640" cy="5394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Lato"/>
              </a:defRPr>
            </a:pPr>
            <a:r>
              <a:t>03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30968" y="6702552"/>
            <a:ext cx="6839712" cy="49377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2500" b="1">
                <a:solidFill>
                  <a:srgbClr val="125449"/>
                </a:solidFill>
                <a:latin typeface="Lato"/>
              </a:defRPr>
            </a:pPr>
            <a:r>
              <a:t>Monitor and reconsider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40112" y="7360920"/>
            <a:ext cx="6867144" cy="59436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800" b="0">
                <a:solidFill>
                  <a:srgbClr val="2D4038"/>
                </a:solidFill>
                <a:latin typeface="Lato"/>
              </a:defRPr>
            </a:pPr>
            <a:r>
              <a:t>Use cash needs and rolling losses to review.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08008" y="8549640"/>
            <a:ext cx="7680960" cy="56692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defRPr sz="1600" b="0">
                <a:solidFill>
                  <a:srgbClr val="65786F"/>
                </a:solidFill>
                <a:latin typeface="Lato"/>
              </a:defRPr>
            </a:pPr>
            <a:r>
              <a:t>The 2030 goal is uncertain. Human review and university acceptance remain separate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Kappa Foundation | Group investment presentation</dc:title>
  <dc:subject/>
  <dc:creator>Kappa Foundation Group 4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