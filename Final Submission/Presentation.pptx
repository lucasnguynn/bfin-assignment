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2B2E31"/>
                </a:solidFill>
                <a:latin typeface="Aptos"/>
              </a:defRPr>
            </a:pPr>
            <a:r>
              <a:t>Recommendation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43584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2B2E31"/>
                </a:solidFill>
                <a:latin typeface="Aptos"/>
              </a:defRPr>
            </a:pPr>
            <a:r>
              <a:t>Fund payments first, then invest for growth.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16712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B2E31"/>
                </a:solidFill>
                <a:latin typeface="Aptos"/>
              </a:defRPr>
            </a:pPr>
            <a:r>
              <a:t>Principal matching is our chosen revised funding plan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62656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B2E31"/>
                </a:solidFill>
                <a:latin typeface="Aptos"/>
              </a:defRPr>
            </a:pPr>
            <a:r>
              <a:t>Keep the original Sample MV stock weights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3758184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B2E31"/>
                </a:solidFill>
                <a:latin typeface="Aptos"/>
              </a:defRPr>
            </a:pPr>
            <a:r>
              <a:t>Net equity USD 6.210m, after a 10bp entry fee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4553712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B2E31"/>
                </a:solidFill>
                <a:latin typeface="Aptos"/>
              </a:defRPr>
            </a:pPr>
            <a:r>
              <a:t>Required 2030 equity CAGR about 4.80%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6492240"/>
            <a:ext cx="100584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737578"/>
                </a:solidFill>
                <a:latin typeface="Aptos"/>
              </a:defRPr>
            </a:pPr>
            <a:r>
              <a:t>Source: Revised funding and approved stock policy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2B2E31"/>
                </a:solidFill>
                <a:latin typeface="Aptos"/>
              </a:defRPr>
            </a:pPr>
            <a:r>
              <a:t>Payment schedule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43584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2B2E31"/>
                </a:solidFill>
                <a:latin typeface="Aptos"/>
              </a:defRPr>
            </a:pPr>
            <a:r>
              <a:t>Total commitments stay at USD 6m.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16712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B2E31"/>
                </a:solidFill>
                <a:latin typeface="Aptos"/>
              </a:defRPr>
            </a:pPr>
            <a:r>
              <a:t>2024: USD 2.4m in both schedules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62656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B2E31"/>
                </a:solidFill>
                <a:latin typeface="Aptos"/>
              </a:defRPr>
            </a:pPr>
            <a:r>
              <a:t>2025: a new USD 1.2m payment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3758184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B2E31"/>
                </a:solidFill>
                <a:latin typeface="Aptos"/>
              </a:defRPr>
            </a:pPr>
            <a:r>
              <a:t>2027: USD 2.4m, down from USD 3.6m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4553712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B2E31"/>
                </a:solidFill>
                <a:latin typeface="Aptos"/>
              </a:defRPr>
            </a:pPr>
            <a:r>
              <a:t>Keep the 2022 case-date information cutoff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6492240"/>
            <a:ext cx="100584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737578"/>
                </a:solidFill>
                <a:latin typeface="Aptos"/>
              </a:defRPr>
            </a:pPr>
            <a:r>
              <a:t>Source: Trustee mandate update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2B2E31"/>
                </a:solidFill>
                <a:latin typeface="Aptos"/>
              </a:defRPr>
            </a:pPr>
            <a:r>
              <a:t>Funding trade-off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43584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2B2E31"/>
                </a:solidFill>
                <a:latin typeface="Aptos"/>
              </a:defRPr>
            </a:pPr>
            <a:r>
              <a:t>Principal matching leaves a larger cash cushion.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16712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B2E31"/>
                </a:solidFill>
                <a:latin typeface="Aptos"/>
              </a:defRPr>
            </a:pPr>
            <a:r>
              <a:t>Bond cost USD 5.784m; revised equity USD 6.210m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62656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B2E31"/>
                </a:solidFill>
                <a:latin typeface="Aptos"/>
              </a:defRPr>
            </a:pPr>
            <a:r>
              <a:t>Coupon funding allows roughly USD 354k more equity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3758184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B2E31"/>
                </a:solidFill>
                <a:latin typeface="Aptos"/>
              </a:defRPr>
            </a:pPr>
            <a:r>
              <a:t>Cash after 2025 payment: USD 396k vs near zero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4553712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B2E31"/>
                </a:solidFill>
                <a:latin typeface="Aptos"/>
              </a:defRPr>
            </a:pPr>
            <a:r>
              <a:t>The bond financing choice is a liquidity judgement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6492240"/>
            <a:ext cx="100584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737578"/>
                </a:solidFill>
                <a:latin typeface="Aptos"/>
              </a:defRPr>
            </a:pPr>
            <a:r>
              <a:t>Source: Bond cash-flow ledgers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2B2E31"/>
                </a:solidFill>
                <a:latin typeface="Aptos"/>
              </a:defRPr>
            </a:pPr>
            <a:r>
              <a:t>Stock allocation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43584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2B2E31"/>
                </a:solidFill>
                <a:latin typeface="Aptos"/>
              </a:defRPr>
            </a:pPr>
            <a:r>
              <a:t>We hold eight stocks, not a broad index.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16712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B2E31"/>
                </a:solidFill>
                <a:latin typeface="Aptos"/>
              </a:defRPr>
            </a:pPr>
            <a:r>
              <a:t>AAPL, MSFT and PG each at the 15% stock cap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62656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B2E31"/>
                </a:solidFill>
                <a:latin typeface="Aptos"/>
              </a:defRPr>
            </a:pPr>
            <a:r>
              <a:t>Technology holdings total 30%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3758184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B2E31"/>
                </a:solidFill>
                <a:latin typeface="Aptos"/>
              </a:defRPr>
            </a:pPr>
            <a:r>
              <a:t>No ETFs in the chosen portfolio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4553712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B2E31"/>
                </a:solidFill>
                <a:latin typeface="Aptos"/>
              </a:defRPr>
            </a:pPr>
            <a:r>
              <a:t>Concentration remains the main risk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6492240"/>
            <a:ext cx="100584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737578"/>
                </a:solidFill>
                <a:latin typeface="Aptos"/>
              </a:defRPr>
            </a:pPr>
            <a:r>
              <a:t>Source: Frozen decision weights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2B2E31"/>
                </a:solidFill>
                <a:latin typeface="Aptos"/>
              </a:defRPr>
            </a:pPr>
            <a:r>
              <a:t>Portfolio methods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43584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2B2E31"/>
                </a:solidFill>
                <a:latin typeface="Aptos"/>
              </a:defRPr>
            </a:pPr>
            <a:r>
              <a:t>Reoptimizing adds little at A = 3.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16712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B2E31"/>
                </a:solidFill>
                <a:latin typeface="Aptos"/>
              </a:defRPr>
            </a:pPr>
            <a:r>
              <a:t>Sample MV: 12.05% estimated return; 14.98% volatility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62656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B2E31"/>
                </a:solidFill>
                <a:latin typeface="Aptos"/>
              </a:defRPr>
            </a:pPr>
            <a:r>
              <a:t>Minimum Variance: 10.86%; 13.15%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3758184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B2E31"/>
                </a:solidFill>
                <a:latin typeface="Aptos"/>
              </a:defRPr>
            </a:pPr>
            <a:r>
              <a:t>Revised principal utility 0.053328705 vs 0.053328718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4553712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B2E31"/>
                </a:solidFill>
                <a:latin typeface="Aptos"/>
              </a:defRPr>
            </a:pPr>
            <a:r>
              <a:t>A = 8.94 compares fixed portfolios only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6492240"/>
            <a:ext cx="100584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737578"/>
                </a:solidFill>
                <a:latin typeface="Aptos"/>
              </a:defRPr>
            </a:pPr>
            <a:r>
              <a:t>Source: Portfolio comparisons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2B2E31"/>
                </a:solidFill>
                <a:latin typeface="Aptos"/>
              </a:defRPr>
            </a:pPr>
            <a:r>
              <a:t>Factor evidence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43584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2B2E31"/>
                </a:solidFill>
                <a:latin typeface="Aptos"/>
              </a:defRPr>
            </a:pPr>
            <a:r>
              <a:t>Market risk and a large-stock tilt drive returns.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16712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B2E31"/>
                </a:solidFill>
                <a:latin typeface="Aptos"/>
              </a:defRPr>
            </a:pPr>
            <a:r>
              <a:t>FF3 market beta 0.867 and SMB -0.426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62656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B2E31"/>
                </a:solidFill>
                <a:latin typeface="Aptos"/>
              </a:defRPr>
            </a:pPr>
            <a:r>
              <a:t>FF3 adjusted R-squared 0.844; CAPM 0.785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3758184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B2E31"/>
                </a:solidFill>
                <a:latin typeface="Aptos"/>
              </a:defRPr>
            </a:pPr>
            <a:r>
              <a:t>Positive historical alpha does not prove skill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4553712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B2E31"/>
                </a:solidFill>
                <a:latin typeface="Aptos"/>
              </a:defRPr>
            </a:pPr>
            <a:r>
              <a:t>Funding-only changes leave normalized factor returns unchanged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6492240"/>
            <a:ext cx="100584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737578"/>
                </a:solidFill>
                <a:latin typeface="Aptos"/>
              </a:defRPr>
            </a:pPr>
            <a:r>
              <a:t>Source: CAPM and FF3 outputs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2B2E31"/>
                </a:solidFill>
                <a:latin typeface="Aptos"/>
              </a:defRPr>
            </a:pPr>
            <a:r>
              <a:t>Downside and goals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43584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2B2E31"/>
                </a:solidFill>
                <a:latin typeface="Aptos"/>
              </a:defRPr>
            </a:pPr>
            <a:r>
              <a:t>Payment certainty does not eliminate equity risk.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16712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B2E31"/>
                </a:solidFill>
                <a:latin typeface="Aptos"/>
              </a:defRPr>
            </a:pPr>
            <a:r>
              <a:t>Equity -25% and yields +100bp: 14.42% loss with principal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62656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B2E31"/>
                </a:solidFill>
                <a:latin typeface="Aptos"/>
              </a:defRPr>
            </a:pPr>
            <a:r>
              <a:t>Coupon-funded alternative: 15.08% modeled loss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3758184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B2E31"/>
                </a:solidFill>
                <a:latin typeface="Aptos"/>
              </a:defRPr>
            </a:pPr>
            <a:r>
              <a:t>These are not the trustees' 12-month warning/review measure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4553712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B2E31"/>
                </a:solidFill>
                <a:latin typeface="Aptos"/>
              </a:defRPr>
            </a:pPr>
            <a:r>
              <a:t>Inflation and buffers change the 2030 hurdle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6492240"/>
            <a:ext cx="100584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737578"/>
                </a:solidFill>
                <a:latin typeface="Aptos"/>
              </a:defRPr>
            </a:pPr>
            <a:r>
              <a:t>Source: Combined stress and 2030 sensitivity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2B2E31"/>
                </a:solidFill>
                <a:latin typeface="Aptos"/>
              </a:defRPr>
            </a:pPr>
            <a:r>
              <a:t>Observed 2023-2025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43584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2B2E31"/>
                </a:solidFill>
                <a:latin typeface="Aptos"/>
              </a:defRPr>
            </a:pPr>
            <a:r>
              <a:t>Selected stocks grew but trailed VTI.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16712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B2E31"/>
                </a:solidFill>
                <a:latin typeface="Aptos"/>
              </a:defRPr>
            </a:pPr>
            <a:r>
              <a:t>After-fee CAGR: stocks 17.69%; VTI 22.45%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62656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B2E31"/>
                </a:solidFill>
                <a:latin typeface="Aptos"/>
              </a:defRPr>
            </a:pPr>
            <a:r>
              <a:t>Monthly-return volatility: 11.80% vs 12.60%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3758184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B2E31"/>
                </a:solidFill>
                <a:latin typeface="Aptos"/>
              </a:defRPr>
            </a:pPr>
            <a:r>
              <a:t>Annualized active return -4.11%; tracking error 6.91%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4553712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B2E31"/>
                </a:solidFill>
                <a:latin typeface="Aptos"/>
              </a:defRPr>
            </a:pPr>
            <a:r>
              <a:t>Later results did not change the original decision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6492240"/>
            <a:ext cx="100584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737578"/>
                </a:solidFill>
                <a:latin typeface="Aptos"/>
              </a:defRPr>
            </a:pPr>
            <a:r>
              <a:t>Source: Archived Yahoo data, 36 months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94360" y="502920"/>
            <a:ext cx="10972800" cy="502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700" b="1">
                <a:solidFill>
                  <a:srgbClr val="2B2E31"/>
                </a:solidFill>
                <a:latin typeface="Aptos"/>
              </a:defRPr>
            </a:pPr>
            <a:r>
              <a:t>Implementation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94360" y="1243584"/>
            <a:ext cx="109728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700" b="1">
                <a:solidFill>
                  <a:srgbClr val="2B2E31"/>
                </a:solidFill>
                <a:latin typeface="Aptos"/>
              </a:defRPr>
            </a:pPr>
            <a:r>
              <a:t>Keep the evidence and decisions clear.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04672" y="2167128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B2E31"/>
                </a:solidFill>
                <a:latin typeface="Aptos"/>
              </a:defRPr>
            </a:pPr>
            <a:r>
              <a:t>Track the revised 2024, 2025 and 2027 payments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04672" y="2962656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B2E31"/>
                </a:solidFill>
                <a:latin typeface="Aptos"/>
              </a:defRPr>
            </a:pPr>
            <a:r>
              <a:t>Review withdrawal-adjusted 12-month losses at 12% and 15%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04672" y="3758184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B2E31"/>
                </a:solidFill>
                <a:latin typeface="Aptos"/>
              </a:defRPr>
            </a:pPr>
            <a:r>
              <a:t>Case bonds have modeled, not observed, market prices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04672" y="4553712"/>
            <a:ext cx="105156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600" b="0">
                <a:solidFill>
                  <a:srgbClr val="2B2E31"/>
                </a:solidFill>
                <a:latin typeface="Aptos"/>
              </a:defRPr>
            </a:pPr>
            <a:r>
              <a:t>University acceptance and original emailed hashes remain unverified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12648" y="6492240"/>
            <a:ext cx="10058400" cy="210312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900" b="0">
                <a:solidFill>
                  <a:srgbClr val="737578"/>
                </a:solidFill>
                <a:latin typeface="Aptos"/>
              </a:defRPr>
            </a:pPr>
            <a:r>
              <a:t>Source: Decision log and source records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