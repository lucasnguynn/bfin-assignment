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Sheet1!$A$2:$A$2</c:f>
              <c:strCache>
                <c:ptCount val="1"/>
                <c:pt idx="0">
                  <c:v>2022 allocation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5.784228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Sheet1!$A$2:$A$2</c:f>
              <c:strCache>
                <c:ptCount val="1"/>
                <c:pt idx="0">
                  <c:v>2022 allocation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6.209562437562439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2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5.784228</c:v>
                </c:pt>
                <c:pt idx="1">
                  <c:v>5.429776178571429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6.209562437562439</c:v>
                </c:pt>
                <c:pt idx="1">
                  <c:v>6.563660161267304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132.0</c:v>
                </c:pt>
                <c:pt idx="1">
                  <c:v>264.0</c:v>
                </c:pt>
                <c:pt idx="2">
                  <c:v>396.0</c:v>
                </c:pt>
                <c:pt idx="3">
                  <c:v>480.0</c:v>
                </c:pt>
                <c:pt idx="4">
                  <c:v>564.0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-178.26366</c:v>
                </c:pt>
                <c:pt idx="1">
                  <c:v>-168.60238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"/>
          <c:min val="-2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5.784228</c:v>
                </c:pt>
                <c:pt idx="1">
                  <c:v>6.209562437562439</c:v>
                </c:pt>
                <c:pt idx="2">
                  <c:v>0.0062095624375613405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4.2422367106611</c:v>
                </c:pt>
                <c:pt idx="1">
                  <c:v>9.0978816882768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12.046581187371338</c:v>
                </c:pt>
                <c:pt idx="1">
                  <c:v>11.905535603931195</c:v>
                </c:pt>
                <c:pt idx="2">
                  <c:v>10.857185131194342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14.97572487681616</c:v>
                </c:pt>
                <c:pt idx="1">
                  <c:v>14.462438864444218</c:v>
                </c:pt>
                <c:pt idx="2">
                  <c:v>13.147012521086127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0.7849860862</c:v>
                </c:pt>
                <c:pt idx="1">
                  <c:v>0.8436523346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0.8667145258</c:v>
                </c:pt>
                <c:pt idx="1">
                  <c:v>-0.4264931863</c:v>
                </c:pt>
                <c:pt idx="2">
                  <c:v>0.01012961894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-0.6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6.239471978362903</c:v>
                </c:pt>
                <c:pt idx="1">
                  <c:v>6.086479329211524</c:v>
                </c:pt>
                <c:pt idx="2">
                  <c:v>6.417813165432623</c:v>
                </c:pt>
                <c:pt idx="3">
                  <c:v>6.585992914749419</c:v>
                </c:pt>
                <c:pt idx="4">
                  <c:v>6.49873462731366</c:v>
                </c:pt>
                <c:pt idx="5">
                  <c:v>6.929780097555062</c:v>
                </c:pt>
                <c:pt idx="6">
                  <c:v>7.096359696054172</c:v>
                </c:pt>
                <c:pt idx="7">
                  <c:v>6.978356028023962</c:v>
                </c:pt>
                <c:pt idx="8">
                  <c:v>6.616625804238342</c:v>
                </c:pt>
                <c:pt idx="9">
                  <c:v>6.478906397425493</c:v>
                </c:pt>
                <c:pt idx="10">
                  <c:v>7.003124601405863</c:v>
                </c:pt>
                <c:pt idx="11">
                  <c:v>7.156387899031231</c:v>
                </c:pt>
                <c:pt idx="12">
                  <c:v>7.278824457962308</c:v>
                </c:pt>
                <c:pt idx="13">
                  <c:v>7.497959929662004</c:v>
                </c:pt>
                <c:pt idx="14">
                  <c:v>7.667773299699701</c:v>
                </c:pt>
                <c:pt idx="15">
                  <c:v>7.334844744778028</c:v>
                </c:pt>
                <c:pt idx="16">
                  <c:v>7.742171921830142</c:v>
                </c:pt>
                <c:pt idx="17">
                  <c:v>7.987636087708457</c:v>
                </c:pt>
                <c:pt idx="18">
                  <c:v>8.157190509183105</c:v>
                </c:pt>
                <c:pt idx="19">
                  <c:v>8.420152328421429</c:v>
                </c:pt>
                <c:pt idx="20">
                  <c:v>8.609451927851515</c:v>
                </c:pt>
                <c:pt idx="21">
                  <c:v>8.281306910184194</c:v>
                </c:pt>
                <c:pt idx="22">
                  <c:v>8.655922572358321</c:v>
                </c:pt>
                <c:pt idx="23">
                  <c:v>8.423394683829885</c:v>
                </c:pt>
                <c:pt idx="24">
                  <c:v>8.434793088879488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7.983484352604796</c:v>
                </c:pt>
                <c:pt idx="28">
                  <c:v>8.390850387883885</c:v>
                </c:pt>
                <c:pt idx="29">
                  <c:v>8.713980561730134</c:v>
                </c:pt>
                <c:pt idx="30">
                  <c:v>9.041409119046639</c:v>
                </c:pt>
                <c:pt idx="31">
                  <c:v>9.194397883144122</c:v>
                </c:pt>
                <c:pt idx="32">
                  <c:v>9.667555095078423</c:v>
                </c:pt>
                <c:pt idx="33">
                  <c:v>10.21073575123062</c:v>
                </c:pt>
                <c:pt idx="34">
                  <c:v>10.31642045406127</c:v>
                </c:pt>
                <c:pt idx="35">
                  <c:v>10.151162705802479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</c:v>
                </c:pt>
                <c:pt idx="1">
                  <c:v>6.527279287447569</c:v>
                </c:pt>
                <c:pt idx="2">
                  <c:v>6.703979923936968</c:v>
                </c:pt>
                <c:pt idx="3">
                  <c:v>6.776243176824008</c:v>
                </c:pt>
                <c:pt idx="4">
                  <c:v>6.805146589209631</c:v>
                </c:pt>
                <c:pt idx="5">
                  <c:v>7.263045056810266</c:v>
                </c:pt>
                <c:pt idx="6">
                  <c:v>7.5291285386018005</c:v>
                </c:pt>
                <c:pt idx="7">
                  <c:v>7.383722181265966</c:v>
                </c:pt>
                <c:pt idx="8">
                  <c:v>7.029224372946399</c:v>
                </c:pt>
                <c:pt idx="9">
                  <c:v>6.843243060078389</c:v>
                </c:pt>
                <c:pt idx="10">
                  <c:v>7.48755725741883</c:v>
                </c:pt>
                <c:pt idx="11">
                  <c:v>7.883941141755932</c:v>
                </c:pt>
                <c:pt idx="12">
                  <c:v>7.972012866572021</c:v>
                </c:pt>
                <c:pt idx="13">
                  <c:v>8.394425561798016</c:v>
                </c:pt>
                <c:pt idx="14">
                  <c:v>8.668058873036832</c:v>
                </c:pt>
                <c:pt idx="15">
                  <c:v>8.291521229039201</c:v>
                </c:pt>
                <c:pt idx="16">
                  <c:v>8.686069334833224</c:v>
                </c:pt>
                <c:pt idx="17">
                  <c:v>8.953505909755226</c:v>
                </c:pt>
                <c:pt idx="18">
                  <c:v>9.122864481388486</c:v>
                </c:pt>
                <c:pt idx="19">
                  <c:v>9.31732374380738</c:v>
                </c:pt>
                <c:pt idx="20">
                  <c:v>9.506545869496385</c:v>
                </c:pt>
                <c:pt idx="21">
                  <c:v>9.435034976263902</c:v>
                </c:pt>
                <c:pt idx="22">
                  <c:v>10.067216456025479</c:v>
                </c:pt>
                <c:pt idx="23">
                  <c:v>9.761125698720097</c:v>
                </c:pt>
                <c:pt idx="24">
                  <c:v>10.05718289533457</c:v>
                </c:pt>
                <c:pt idx="25">
                  <c:v>9.867219952468298</c:v>
                </c:pt>
                <c:pt idx="26">
                  <c:v>9.289462302323603</c:v>
                </c:pt>
                <c:pt idx="27">
                  <c:v>9.221188549305827</c:v>
                </c:pt>
                <c:pt idx="28">
                  <c:v>9.79780979009803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</c:v>
                </c:pt>
                <c:pt idx="35">
                  <c:v>11.430109149424421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5"/>
          <c:min val="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</c:v>
                </c:pt>
                <c:pt idx="1">
                  <c:v>22.446857497005148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total, $m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4.80%</c:v>
                </c:pt>
                <c:pt idx="2">
                  <c:v>8%</c:v>
                </c:pt>
                <c:pt idx="3">
                  <c:v>12%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6.773562437562439</c:v>
                </c:pt>
                <c:pt idx="1">
                  <c:v>9.596106331618323</c:v>
                </c:pt>
                <c:pt idx="2">
                  <c:v>12.057466708315923</c:v>
                </c:pt>
                <c:pt idx="3">
                  <c:v>15.938647936308048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 target, $m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4.80%</c:v>
                </c:pt>
                <c:pt idx="2">
                  <c:v>8%</c:v>
                </c:pt>
                <c:pt idx="3">
                  <c:v>12%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9.596106443820231</c:v>
                </c:pt>
                <c:pt idx="1">
                  <c:v>9.596106443820231</c:v>
                </c:pt>
                <c:pt idx="2">
                  <c:v>9.596106443820231</c:v>
                </c:pt>
                <c:pt idx="3">
                  <c:v>9.596106443820231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Case-date $12m reconciliation: principal-matching bond cost $5,784,228; net equity $6,209,562.44; 10bp equity entry fee $6,209.56. All quantities are from archived case calculations; no photographs.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Group-selected principal bonds 2,400 Beta, 1,200 Gamma, 2,400 Delta; net equity $6,209,562.44 and 4.7951% growth hurdle. Revised payments: $2.4m in 2024, $1.2m in 2025, $2.4m in 2027; the 2025 retained cash is $396k.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Selected principal-matched bond ledger: retained cash $132k end-2023, $264k end-2024, $396k end-2025, $480k end-2026, $564k end-2027. Gamma principal $1.2m meets the 2025 liability.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All three models use the common sample covariance for displayed risk: Sample MV 12.0466%/14.9757%; Single Index 11.9055%/14.4624%; Minimum Variance 10.8572%/13.1470%. Single Index is optimized with its own covariance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Source-derived utility frozen 0.053328704612, reoptimized 0.053328717792, gain 1.31799698655e-08. Bars cannot communicate this tiny utility difference faithfully. A*=8.938687 is a pairwise fixed-policy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frozen policy equity base $6,229,246.75, not revised principal $6,209,562.44. Actual archived Yahoo stock prices, 752 common dates, 36 month-end observations, 10bp initial fee, unchanged shares.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Group-proposed (not trustee-authorized) 12% early warning and 15% review based on rolling withdrawal-adjusted returns.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2030 equity scenario sensitivity holds bond cash $564,000 at zero reinvestment: total=net equity (1+r)^8 plus residual cash. 2022-dollar $8m goal inflates at 2.3% for 8 years to $9.596m nominal. These are modeled illustrations, not return forecasts. Funding remains a group proposal; no trustee or LMS approval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920240"/>
            <a:ext cx="11247120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76304" y="1920240"/>
            <a:ext cx="5971032" cy="60990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932920" y="2331720"/>
            <a:ext cx="5257800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Where the $12m starts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1951208" y="3081528"/>
          <a:ext cx="5184648" cy="24323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78640" y="5715000"/>
            <a:ext cx="52760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$5.784m bonds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0" y="6300216"/>
            <a:ext cx="526694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C28E52"/>
                </a:solidFill>
                <a:latin typeface="Lato"/>
              </a:defRPr>
            </a:pPr>
            <a:r>
              <a:t>$6.210m equities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87784" y="6912864"/>
            <a:ext cx="52303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$6,210 entry fee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2468880"/>
            <a:ext cx="10698480" cy="2788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FOUNDATION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6400800"/>
            <a:ext cx="10451592" cy="10698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Investment recommendation</a:t>
            </a:r>
          </a:p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and revised mandate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8796528"/>
            <a:ext cx="16230600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The $12 million allocation that puts our payment dates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0" y="2871216"/>
            <a:ext cx="6016752" cy="63185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78056" y="3255264"/>
            <a:ext cx="534924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Revised commitments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1850624" y="4023360"/>
          <a:ext cx="5394960" cy="392277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14632" y="8174736"/>
            <a:ext cx="5257800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$6.0m across three 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3392424"/>
            <a:ext cx="2706624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t>SELECTED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" y="4041648"/>
            <a:ext cx="9482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t>Principal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5157216"/>
            <a:ext cx="927201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2,400 Beta    1,200 Gamma    2,400 Delta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88720" y="6199632"/>
            <a:ext cx="4050791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t>$6.21m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3872" y="6199632"/>
            <a:ext cx="4169663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6152" y="7013448"/>
            <a:ext cx="414223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t>Net equity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7013448"/>
            <a:ext cx="4251960" cy="6309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Required equity CAGR to 2030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8074152"/>
            <a:ext cx="9253728" cy="64922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467344"/>
            <a:ext cx="14502384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264408"/>
            <a:ext cx="9235440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129016"/>
            <a:ext cx="9244584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68912" y="3282696"/>
            <a:ext cx="5221224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9392"/>
            <a:ext cx="5202936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175504"/>
            <a:ext cx="510235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36208"/>
            <a:ext cx="516636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086600"/>
            <a:ext cx="508406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7891272"/>
            <a:ext cx="5038344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35840" y="3099816"/>
            <a:ext cx="4946904" cy="23408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73584" y="3447288"/>
            <a:ext cx="4462272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2025 principal maturity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46152" y="4041648"/>
            <a:ext cx="4553712" cy="8412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125449"/>
                </a:solidFill>
                <a:latin typeface="Lato"/>
              </a:defRPr>
            </a:pPr>
            <a:r>
              <a:t>$1.20m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40" y="4837176"/>
            <a:ext cx="4471416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0">
                <a:solidFill>
                  <a:srgbClr val="65786F"/>
                </a:solidFill>
                <a:latin typeface="Lato"/>
              </a:defRPr>
            </a:pPr>
            <a:r>
              <a:t>Gamma redemption covers the payment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19304" y="5769864"/>
            <a:ext cx="4361688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2025 reserve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91872" y="6382512"/>
            <a:ext cx="4507992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t>$396,000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737592" y="7671816"/>
            <a:ext cx="431596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64408"/>
            <a:ext cx="9070848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293608"/>
            <a:ext cx="9098280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51208" y="3273552"/>
            <a:ext cx="5129784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06656" y="4315968"/>
            <a:ext cx="4910328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760720"/>
            <a:ext cx="50017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0936" y="6629400"/>
            <a:ext cx="4965192" cy="10881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129016"/>
            <a:ext cx="5129784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0" y="3319272"/>
            <a:ext cx="518464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096512"/>
            <a:ext cx="5358384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33288"/>
            <a:ext cx="502005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52376" y="6638544"/>
            <a:ext cx="4910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037575"/>
            <a:ext cx="512064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66192" y="3328416"/>
            <a:ext cx="41148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77056"/>
            <a:ext cx="412394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257800"/>
            <a:ext cx="4142232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24728"/>
            <a:ext cx="4114800" cy="8046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251192"/>
            <a:ext cx="4133087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028431"/>
            <a:ext cx="4142232" cy="6949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54712" y="3401568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3913631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54712" y="5257800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5769864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54712" y="7114031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626096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00984"/>
            <a:ext cx="918972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279392"/>
            <a:ext cx="9171432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t>max  μᵀw − (A/2) wᵀΣw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733288"/>
            <a:ext cx="9052560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36792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03720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470648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037575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05488" y="3291840"/>
            <a:ext cx="5193792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15800" y="4315968"/>
            <a:ext cx="4855464" cy="10241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90488"/>
            <a:ext cx="5120640" cy="7680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086600"/>
            <a:ext cx="5102352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7872983"/>
            <a:ext cx="507492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291840"/>
            <a:ext cx="932688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4242816"/>
            <a:ext cx="905256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33288"/>
            <a:ext cx="917143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300216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Frozen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6291072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125449"/>
                </a:solidFill>
                <a:latin typeface="Lato"/>
              </a:defRPr>
            </a:pPr>
            <a:r>
              <a:t>0.053328705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7086600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Reoptimized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7077456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C28E52"/>
                </a:solidFill>
                <a:latin typeface="Lato"/>
              </a:defRPr>
            </a:pPr>
            <a:r>
              <a:t>0.053328718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43584" y="7863840"/>
            <a:ext cx="908913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325880" y="8092440"/>
            <a:ext cx="9162288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Gain: +0.00000001318 in utility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78056" y="3310128"/>
            <a:ext cx="5148072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24528"/>
            <a:ext cx="5248656" cy="9509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294376"/>
            <a:ext cx="51297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665976"/>
            <a:ext cx="5047488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552944"/>
            <a:ext cx="5084064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282696"/>
            <a:ext cx="7644383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25512"/>
            <a:ext cx="80192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29016"/>
            <a:ext cx="798271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3273552"/>
            <a:ext cx="677570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7982712"/>
            <a:ext cx="6976872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916228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266175"/>
            <a:ext cx="9162288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67744" y="3273552"/>
            <a:ext cx="512064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078224"/>
            <a:ext cx="5330952" cy="8869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047488"/>
            <a:ext cx="50474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25896"/>
            <a:ext cx="511149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29400"/>
            <a:ext cx="5330952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59184" y="7991856"/>
            <a:ext cx="5093208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Original $6.229m equity base, not revised $6.210m. Monthly returns, 2023–25.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300984"/>
            <a:ext cx="887882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275320"/>
            <a:ext cx="9400032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96344" y="3291840"/>
            <a:ext cx="501091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187952"/>
            <a:ext cx="5065776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837176"/>
            <a:ext cx="496519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62472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894576"/>
            <a:ext cx="50292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754112"/>
            <a:ext cx="5038344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Our proposed review rules still require trustee agreement.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56632"/>
            <a:ext cx="1536192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6227064"/>
            <a:ext cx="6217920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6995160"/>
            <a:ext cx="619048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6227064"/>
            <a:ext cx="6153912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6995160"/>
            <a:ext cx="61539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485632"/>
            <a:ext cx="15160751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62072"/>
            <a:ext cx="7607808" cy="63459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218688"/>
            <a:ext cx="69585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goal under equity scenarios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051560" y="3858768"/>
          <a:ext cx="6894576" cy="40599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15568" y="8174736"/>
            <a:ext cx="6894576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Return scenarios, not forecasts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8622792"/>
            <a:ext cx="6812280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0">
                <a:solidFill>
                  <a:srgbClr val="65786F"/>
                </a:solidFill>
                <a:latin typeface="Lato"/>
              </a:defRPr>
            </a:pPr>
            <a:r>
              <a:t>2.3% inflation | unspent bond cash at 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3383280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3300984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Fund the promises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3959352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Principal-match every revised payment.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5084064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5001768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Keep the original equity 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660136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Retain Sample MV weights without hindsight.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296" y="6784848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0968" y="6702552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Monitor and reconsider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0112" y="7360920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Use cash needs and rolling losses to review.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8549640"/>
            <a:ext cx="768096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