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ppt/notesSlides/notesSlide2.xml" ContentType="application/vnd.openxmlformats-officedocument.presentationml.notesSlide+xml"/>
  <Override PartName="/ppt/charts/chart2.xml" ContentType="application/vnd.openxmlformats-officedocument.drawingml.chart+xml"/>
  <Override PartName="/ppt/notesSlides/notesSlide3.xml" ContentType="application/vnd.openxmlformats-officedocument.presentationml.notesSlide+xml"/>
  <Override PartName="/ppt/charts/chart3.xml" ContentType="application/vnd.openxmlformats-officedocument.drawingml.chart+xml"/>
  <Override PartName="/ppt/notesSlides/notesSlide4.xml" ContentType="application/vnd.openxmlformats-officedocument.presentationml.notesSlide+xml"/>
  <Override PartName="/ppt/charts/chart4.xml" ContentType="application/vnd.openxmlformats-officedocument.drawingml.chart+xml"/>
  <Override PartName="/ppt/notesSlides/notesSlide5.xml" ContentType="application/vnd.openxmlformats-officedocument.presentationml.notesSlide+xml"/>
  <Override PartName="/ppt/charts/chart5.xml" ContentType="application/vnd.openxmlformats-officedocument.drawingml.chart+xml"/>
  <Override PartName="/ppt/notesSlides/notesSlide6.xml" ContentType="application/vnd.openxmlformats-officedocument.presentationml.notesSlide+xml"/>
  <Override PartName="/ppt/charts/chart6.xml" ContentType="application/vnd.openxmlformats-officedocument.drawingml.chart+xml"/>
  <Override PartName="/ppt/notesSlides/notesSlide7.xml" ContentType="application/vnd.openxmlformats-officedocument.presentationml.notesSlide+xml"/>
  <Override PartName="/ppt/charts/chart7.xml" ContentType="application/vnd.openxmlformats-officedocument.drawingml.chart+xml"/>
  <Override PartName="/ppt/notesSlides/notesSlide8.xml" ContentType="application/vnd.openxmlformats-officedocument.presentationml.notesSlide+xml"/>
  <Override PartName="/ppt/charts/chart8.xml" ContentType="application/vnd.openxmlformats-officedocument.drawingml.chart+xml"/>
  <Override PartName="/ppt/notesSlides/notesSlide9.xml" ContentType="application/vnd.openxmlformats-officedocument.presentationml.notesSlide+xml"/>
  <Override PartName="/ppt/charts/chart9.xml" ContentType="application/vnd.openxmlformats-officedocument.drawingml.chart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notesSlides/notesSlide13.xml" ContentType="application/vnd.openxmlformats-officedocument.presentationml.notesSlide+xml"/>
  <Override PartName="/ppt/charts/chart12.xml" ContentType="application/vnd.openxmlformats-officedocument.drawingml.chart+xml"/>
  <Override PartName="/ppt/notesSlides/notesSlide14.xml" ContentType="application/vnd.openxmlformats-officedocument.presentationml.notesSlide+xml"/>
  <Override PartName="/ppt/charts/chart13.xml" ContentType="application/vnd.openxmlformats-officedocument.drawingml.chart+xml"/>
  <Override PartName="/ppt/notesSlides/notesSlide15.xml" ContentType="application/vnd.openxmlformats-officedocument.presentationml.notesSlide+xml"/>
  <Override PartName="/ppt/charts/chart14.xml" ContentType="application/vnd.openxmlformats-officedocument.drawingml.chart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charts/chart15.xml" ContentType="application/vnd.openxmlformats-officedocument.drawingml.char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18288000" cy="10287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39" d="100"/>
          <a:sy n="39" d="100"/>
        </p:scale>
        <p:origin x="940" y="5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7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8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9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10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0"/>
    <c:plotArea>
      <c:layout/>
      <c:barChart>
        <c:barDir val="bar"/>
        <c:grouping val="stack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Bonds</c:v>
                </c:pt>
              </c:strCache>
            </c:strRef>
          </c:tx>
          <c:spPr>
            <a:solidFill>
              <a:srgbClr val="125449"/>
            </a:solidFill>
            <a:ln w="33020">
              <a:solidFill>
                <a:srgbClr val="125449"/>
              </a:solidFill>
            </a:ln>
          </c:spPr>
          <c:invertIfNegative val="1"/>
          <c:cat>
            <c:strRef>
              <c:f>Sheet1!$A$2:$A$2</c:f>
              <c:strCache>
                <c:ptCount val="1"/>
                <c:pt idx="0">
                  <c:v>2022 allocation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5.7842279999999997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 w="33020">
                    <a:solidFill>
                      <a:srgbClr val="125449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FA36-46B7-B1C7-70972581C6C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Net equities</c:v>
                </c:pt>
              </c:strCache>
            </c:strRef>
          </c:tx>
          <c:spPr>
            <a:solidFill>
              <a:srgbClr val="C28E52"/>
            </a:solidFill>
            <a:ln w="33020">
              <a:solidFill>
                <a:srgbClr val="C28E52"/>
              </a:solidFill>
            </a:ln>
          </c:spPr>
          <c:invertIfNegative val="1"/>
          <c:cat>
            <c:strRef>
              <c:f>Sheet1!$A$2:$A$2</c:f>
              <c:strCache>
                <c:ptCount val="1"/>
                <c:pt idx="0">
                  <c:v>2022 allocation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6.2095624375624388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 w="33020">
                    <a:solidFill>
                      <a:srgbClr val="C28E52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FA36-46B7-B1C7-70972581C6C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5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Lato"/>
              </a:defRPr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12.2"/>
          <c:min val="0"/>
        </c:scaling>
        <c:delete val="0"/>
        <c:axPos val="b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500">
                <a:latin typeface="Lato"/>
              </a:defRPr>
            </a:pPr>
            <a:endParaRPr lang="en-US"/>
          </a:p>
        </c:txPr>
        <c:crossAx val="-2068027336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1500">
              <a:latin typeface="Lato"/>
            </a:defRPr>
          </a:pPr>
          <a:endParaRPr lang="en-US"/>
        </a:p>
      </c:txPr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USD million</c:v>
                </c:pt>
              </c:strCache>
            </c:strRef>
          </c:tx>
          <c:spPr>
            <a:solidFill>
              <a:srgbClr val="125449"/>
            </a:solidFill>
            <a:ln w="33020">
              <a:solidFill>
                <a:srgbClr val="125449"/>
              </a:solidFill>
            </a:ln>
          </c:spPr>
          <c:invertIfNegative val="1"/>
          <c:cat>
            <c:strRef>
              <c:f>Sheet1!$A$2:$A$4</c:f>
              <c:strCache>
                <c:ptCount val="3"/>
                <c:pt idx="0">
                  <c:v>2024</c:v>
                </c:pt>
                <c:pt idx="1">
                  <c:v>2025</c:v>
                </c:pt>
                <c:pt idx="2">
                  <c:v>2027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2.4</c:v>
                </c:pt>
                <c:pt idx="1">
                  <c:v>1.2</c:v>
                </c:pt>
                <c:pt idx="2">
                  <c:v>2.4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 w="33020">
                    <a:solidFill>
                      <a:srgbClr val="125449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F29E-4531-B31F-10987AEFD4C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Lato"/>
              </a:defRPr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3"/>
          <c:min val="0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500">
                <a:latin typeface="Lato"/>
              </a:defRPr>
            </a:pPr>
            <a:endParaRPr lang="en-US"/>
          </a:p>
        </c:txPr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Original</c:v>
                </c:pt>
              </c:strCache>
            </c:strRef>
          </c:tx>
          <c:spPr>
            <a:solidFill>
              <a:srgbClr val="8DAE9D"/>
            </a:solidFill>
            <a:ln w="33020">
              <a:solidFill>
                <a:srgbClr val="8DAE9D"/>
              </a:solidFill>
            </a:ln>
          </c:spPr>
          <c:invertIfNegative val="1"/>
          <c:cat>
            <c:strRef>
              <c:f>Sheet1!$A$2:$A$4</c:f>
              <c:strCache>
                <c:ptCount val="3"/>
                <c:pt idx="0">
                  <c:v>2024</c:v>
                </c:pt>
                <c:pt idx="1">
                  <c:v>2025</c:v>
                </c:pt>
                <c:pt idx="2">
                  <c:v>2027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2.4</c:v>
                </c:pt>
                <c:pt idx="1">
                  <c:v>0</c:v>
                </c:pt>
                <c:pt idx="2">
                  <c:v>3.6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 w="33020">
                    <a:solidFill>
                      <a:srgbClr val="8DAE9D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1A6B-4110-BDBE-27EDDFDC95A2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Revised</c:v>
                </c:pt>
              </c:strCache>
            </c:strRef>
          </c:tx>
          <c:spPr>
            <a:solidFill>
              <a:srgbClr val="125449"/>
            </a:solidFill>
            <a:ln w="33020">
              <a:solidFill>
                <a:srgbClr val="125449"/>
              </a:solidFill>
            </a:ln>
          </c:spPr>
          <c:invertIfNegative val="1"/>
          <c:cat>
            <c:strRef>
              <c:f>Sheet1!$A$2:$A$4</c:f>
              <c:strCache>
                <c:ptCount val="3"/>
                <c:pt idx="0">
                  <c:v>2024</c:v>
                </c:pt>
                <c:pt idx="1">
                  <c:v>2025</c:v>
                </c:pt>
                <c:pt idx="2">
                  <c:v>2027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2.4</c:v>
                </c:pt>
                <c:pt idx="1">
                  <c:v>1.2</c:v>
                </c:pt>
                <c:pt idx="2">
                  <c:v>2.4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 w="33020">
                    <a:solidFill>
                      <a:srgbClr val="125449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1A6B-4110-BDBE-27EDDFDC95A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Lato"/>
              </a:defRPr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4"/>
          <c:min val="0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500">
                <a:latin typeface="Lato"/>
              </a:defRPr>
            </a:pPr>
            <a:endParaRPr lang="en-US"/>
          </a:p>
        </c:txPr>
        <c:crossAx val="-2068027336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1500">
              <a:latin typeface="Lato"/>
            </a:defRPr>
          </a:pPr>
          <a:endParaRPr lang="en-US"/>
        </a:p>
      </c:txPr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0"/>
    <c:plotArea>
      <c:layout/>
      <c:barChart>
        <c:barDir val="bar"/>
        <c:grouping val="stack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Bonds</c:v>
                </c:pt>
              </c:strCache>
            </c:strRef>
          </c:tx>
          <c:spPr>
            <a:solidFill>
              <a:srgbClr val="125449"/>
            </a:solidFill>
            <a:ln w="33020">
              <a:solidFill>
                <a:srgbClr val="125449"/>
              </a:solidFill>
            </a:ln>
          </c:spPr>
          <c:invertIfNegative val="1"/>
          <c:cat>
            <c:strRef>
              <c:f>Sheet1!$A$2:$A$3</c:f>
              <c:strCache>
                <c:ptCount val="2"/>
                <c:pt idx="0">
                  <c:v>Principal</c:v>
                </c:pt>
                <c:pt idx="1">
                  <c:v>Coupon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5.7842279999999997</c:v>
                </c:pt>
                <c:pt idx="1">
                  <c:v>5.4297761785714291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 w="33020">
                    <a:solidFill>
                      <a:srgbClr val="125449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445A-4639-9841-A18CD5D6BE5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Equities</c:v>
                </c:pt>
              </c:strCache>
            </c:strRef>
          </c:tx>
          <c:spPr>
            <a:solidFill>
              <a:srgbClr val="C28E52"/>
            </a:solidFill>
            <a:ln w="33020">
              <a:solidFill>
                <a:srgbClr val="C28E52"/>
              </a:solidFill>
            </a:ln>
          </c:spPr>
          <c:invertIfNegative val="1"/>
          <c:cat>
            <c:strRef>
              <c:f>Sheet1!$A$2:$A$3</c:f>
              <c:strCache>
                <c:ptCount val="2"/>
                <c:pt idx="0">
                  <c:v>Principal</c:v>
                </c:pt>
                <c:pt idx="1">
                  <c:v>Coupon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6.2095624375624388</c:v>
                </c:pt>
                <c:pt idx="1">
                  <c:v>6.563660161267304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 w="33020">
                    <a:solidFill>
                      <a:srgbClr val="C28E52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445A-4639-9841-A18CD5D6BE5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5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Lato"/>
              </a:defRPr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12"/>
          <c:min val="0"/>
        </c:scaling>
        <c:delete val="0"/>
        <c:axPos val="b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500">
                <a:latin typeface="Lato"/>
              </a:defRPr>
            </a:pPr>
            <a:endParaRPr lang="en-US"/>
          </a:p>
        </c:txPr>
        <c:crossAx val="-2068027336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1500">
              <a:latin typeface="Lato"/>
            </a:defRPr>
          </a:pPr>
          <a:endParaRPr lang="en-US"/>
        </a:p>
      </c:txPr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Retained cash, USD thousands</c:v>
                </c:pt>
              </c:strCache>
            </c:strRef>
          </c:tx>
          <c:spPr>
            <a:solidFill>
              <a:srgbClr val="125449"/>
            </a:solidFill>
            <a:ln w="33020">
              <a:solidFill>
                <a:srgbClr val="125449"/>
              </a:solidFill>
            </a:ln>
          </c:spPr>
          <c:invertIfNegative val="1"/>
          <c:cat>
            <c:strRef>
              <c:f>Sheet1!$A$2:$A$6</c:f>
              <c:strCache>
                <c:ptCount val="5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  <c:pt idx="4">
                  <c:v>2027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132</c:v>
                </c:pt>
                <c:pt idx="1">
                  <c:v>264</c:v>
                </c:pt>
                <c:pt idx="2">
                  <c:v>396</c:v>
                </c:pt>
                <c:pt idx="3">
                  <c:v>480</c:v>
                </c:pt>
                <c:pt idx="4">
                  <c:v>564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 w="33020">
                    <a:solidFill>
                      <a:srgbClr val="125449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6BDA-43E8-AC18-1B2067320C9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Lato"/>
              </a:defRPr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640"/>
          <c:min val="0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500">
                <a:latin typeface="Lato"/>
              </a:defRPr>
            </a:pPr>
            <a:endParaRPr lang="en-US"/>
          </a:p>
        </c:txPr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overlay val="0"/>
    </c:title>
    <c:autoTitleDeleted val="0"/>
    <c:plotArea>
      <c:layout/>
      <c:barChart>
        <c:barDir val="bar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Change, USD thousands</c:v>
                </c:pt>
              </c:strCache>
            </c:strRef>
          </c:tx>
          <c:spPr>
            <a:solidFill>
              <a:srgbClr val="BE7460"/>
            </a:solidFill>
            <a:ln w="33020">
              <a:solidFill>
                <a:srgbClr val="BE7460"/>
              </a:solidFill>
            </a:ln>
          </c:spPr>
          <c:invertIfNegative val="1"/>
          <c:cat>
            <c:strRef>
              <c:f>Sheet1!$A$2:$A$3</c:f>
              <c:strCache>
                <c:ptCount val="2"/>
                <c:pt idx="0">
                  <c:v>Principal</c:v>
                </c:pt>
                <c:pt idx="1">
                  <c:v>Coupon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-178.26365999999999</c:v>
                </c:pt>
                <c:pt idx="1">
                  <c:v>-168.60238000000001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 w="33020">
                    <a:solidFill>
                      <a:srgbClr val="BE7460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6EE7-4175-A66D-DA3001FCCF0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Lato"/>
              </a:defRPr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0"/>
          <c:min val="-200"/>
        </c:scaling>
        <c:delete val="0"/>
        <c:axPos val="b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500">
                <a:latin typeface="Lato"/>
              </a:defRPr>
            </a:pPr>
            <a:endParaRPr lang="en-US"/>
          </a:p>
        </c:txPr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title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USD millions</c:v>
                </c:pt>
              </c:strCache>
            </c:strRef>
          </c:tx>
          <c:spPr>
            <a:solidFill>
              <a:srgbClr val="125449"/>
            </a:solidFill>
            <a:ln w="33020">
              <a:solidFill>
                <a:srgbClr val="125449"/>
              </a:solidFill>
            </a:ln>
          </c:spPr>
          <c:cat>
            <c:strRef>
              <c:f>Sheet1!$A$2:$A$4</c:f>
              <c:strCache>
                <c:ptCount val="3"/>
                <c:pt idx="0">
                  <c:v>Bonds</c:v>
                </c:pt>
                <c:pt idx="1">
                  <c:v>Net equities</c:v>
                </c:pt>
                <c:pt idx="2">
                  <c:v>Entry fee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5.7842279999999997</c:v>
                </c:pt>
                <c:pt idx="1">
                  <c:v>6.2095624375624388</c:v>
                </c:pt>
                <c:pt idx="2">
                  <c:v>6.2095624375613405E-3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1E9-4067-B6FD-81235FEE56F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 val="b"/>
      <c:overlay val="0"/>
      <c:txPr>
        <a:bodyPr/>
        <a:lstStyle/>
        <a:p>
          <a:pPr>
            <a:defRPr sz="1500">
              <a:latin typeface="Lato"/>
            </a:defRPr>
          </a:pPr>
          <a:endParaRPr lang="en-US"/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overlay val="0"/>
    </c:title>
    <c:autoTitleDeleted val="0"/>
    <c:plotArea>
      <c:layout/>
      <c:barChart>
        <c:barDir val="bar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Weight %</c:v>
                </c:pt>
              </c:strCache>
            </c:strRef>
          </c:tx>
          <c:spPr>
            <a:solidFill>
              <a:srgbClr val="125449"/>
            </a:solidFill>
            <a:ln w="33020">
              <a:solidFill>
                <a:srgbClr val="125449"/>
              </a:solidFill>
            </a:ln>
          </c:spPr>
          <c:invertIfNegative val="1"/>
          <c:cat>
            <c:strRef>
              <c:f>Sheet1!$A$2:$A$9</c:f>
              <c:strCache>
                <c:ptCount val="8"/>
                <c:pt idx="0">
                  <c:v>JPM</c:v>
                </c:pt>
                <c:pt idx="1">
                  <c:v>JNJ</c:v>
                </c:pt>
                <c:pt idx="2">
                  <c:v>KO</c:v>
                </c:pt>
                <c:pt idx="3">
                  <c:v>PFE</c:v>
                </c:pt>
                <c:pt idx="4">
                  <c:v>CAT</c:v>
                </c:pt>
                <c:pt idx="5">
                  <c:v>AAPL</c:v>
                </c:pt>
                <c:pt idx="6">
                  <c:v>MSFT</c:v>
                </c:pt>
                <c:pt idx="7">
                  <c:v>PG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4.2422367106610999</c:v>
                </c:pt>
                <c:pt idx="1">
                  <c:v>9.0978816882768001</c:v>
                </c:pt>
                <c:pt idx="2">
                  <c:v>12.5925519843878</c:v>
                </c:pt>
                <c:pt idx="3">
                  <c:v>14.170655069310401</c:v>
                </c:pt>
                <c:pt idx="4">
                  <c:v>14.896674547364</c:v>
                </c:pt>
                <c:pt idx="5">
                  <c:v>15</c:v>
                </c:pt>
                <c:pt idx="6">
                  <c:v>15</c:v>
                </c:pt>
                <c:pt idx="7">
                  <c:v>15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 w="33020">
                    <a:solidFill>
                      <a:srgbClr val="125449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320A-4F77-907F-4ABEB979A7D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Lato"/>
              </a:defRPr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16"/>
          <c:min val="0"/>
        </c:scaling>
        <c:delete val="0"/>
        <c:axPos val="b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500">
                <a:latin typeface="Lato"/>
              </a:defRPr>
            </a:pPr>
            <a:endParaRPr lang="en-US"/>
          </a:p>
        </c:txPr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Return %</c:v>
                </c:pt>
              </c:strCache>
            </c:strRef>
          </c:tx>
          <c:spPr>
            <a:solidFill>
              <a:srgbClr val="125449"/>
            </a:solidFill>
            <a:ln w="33020">
              <a:solidFill>
                <a:srgbClr val="125449"/>
              </a:solidFill>
            </a:ln>
          </c:spPr>
          <c:invertIfNegative val="1"/>
          <c:cat>
            <c:strRef>
              <c:f>Sheet1!$A$2:$A$4</c:f>
              <c:strCache>
                <c:ptCount val="3"/>
                <c:pt idx="0">
                  <c:v>Sample MV</c:v>
                </c:pt>
                <c:pt idx="1">
                  <c:v>Single Index</c:v>
                </c:pt>
                <c:pt idx="2">
                  <c:v>Min. Variance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12.046581187371338</c:v>
                </c:pt>
                <c:pt idx="1">
                  <c:v>11.905535603931195</c:v>
                </c:pt>
                <c:pt idx="2">
                  <c:v>10.857185131194342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 w="33020">
                    <a:solidFill>
                      <a:srgbClr val="125449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0E18-45E3-A7C1-20009C306993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Volatility %</c:v>
                </c:pt>
              </c:strCache>
            </c:strRef>
          </c:tx>
          <c:spPr>
            <a:solidFill>
              <a:srgbClr val="C28E52"/>
            </a:solidFill>
            <a:ln w="33020">
              <a:solidFill>
                <a:srgbClr val="C28E52"/>
              </a:solidFill>
            </a:ln>
          </c:spPr>
          <c:invertIfNegative val="1"/>
          <c:cat>
            <c:strRef>
              <c:f>Sheet1!$A$2:$A$4</c:f>
              <c:strCache>
                <c:ptCount val="3"/>
                <c:pt idx="0">
                  <c:v>Sample MV</c:v>
                </c:pt>
                <c:pt idx="1">
                  <c:v>Single Index</c:v>
                </c:pt>
                <c:pt idx="2">
                  <c:v>Min. Variance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14.975724876816161</c:v>
                </c:pt>
                <c:pt idx="1">
                  <c:v>14.462438864444218</c:v>
                </c:pt>
                <c:pt idx="2">
                  <c:v>13.147012521086127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 w="33020">
                    <a:solidFill>
                      <a:srgbClr val="C28E52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0E18-45E3-A7C1-20009C30699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Lato"/>
              </a:defRPr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17"/>
          <c:min val="0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500">
                <a:latin typeface="Lato"/>
              </a:defRPr>
            </a:pPr>
            <a:endParaRPr lang="en-US"/>
          </a:p>
        </c:txPr>
        <c:crossAx val="-2068027336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1500">
              <a:latin typeface="Lato"/>
            </a:defRPr>
          </a:pPr>
          <a:endParaRPr lang="en-US"/>
        </a:p>
      </c:txPr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overlay val="0"/>
    </c:title>
    <c:autoTitleDeleted val="0"/>
    <c:plotArea>
      <c:layout/>
      <c:barChart>
        <c:barDir val="bar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Adjusted R²</c:v>
                </c:pt>
              </c:strCache>
            </c:strRef>
          </c:tx>
          <c:spPr>
            <a:solidFill>
              <a:srgbClr val="125449"/>
            </a:solidFill>
            <a:ln w="33020">
              <a:solidFill>
                <a:srgbClr val="125449"/>
              </a:solidFill>
            </a:ln>
          </c:spPr>
          <c:invertIfNegative val="1"/>
          <c:cat>
            <c:strRef>
              <c:f>Sheet1!$A$2:$A$3</c:f>
              <c:strCache>
                <c:ptCount val="2"/>
                <c:pt idx="0">
                  <c:v>CAPM</c:v>
                </c:pt>
                <c:pt idx="1">
                  <c:v>FF3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0.78498608619999999</c:v>
                </c:pt>
                <c:pt idx="1">
                  <c:v>0.8436523346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 w="33020">
                    <a:solidFill>
                      <a:srgbClr val="125449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23DD-48E9-A1BA-858828D9F6C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Lato"/>
              </a:defRPr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1"/>
          <c:min val="0"/>
        </c:scaling>
        <c:delete val="0"/>
        <c:axPos val="b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500">
                <a:latin typeface="Lato"/>
              </a:defRPr>
            </a:pPr>
            <a:endParaRPr lang="en-US"/>
          </a:p>
        </c:txPr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overlay val="0"/>
    </c:title>
    <c:autoTitleDeleted val="0"/>
    <c:plotArea>
      <c:layout/>
      <c:barChart>
        <c:barDir val="bar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Exposure</c:v>
                </c:pt>
              </c:strCache>
            </c:strRef>
          </c:tx>
          <c:spPr>
            <a:solidFill>
              <a:srgbClr val="C28E52"/>
            </a:solidFill>
            <a:ln w="33020">
              <a:solidFill>
                <a:srgbClr val="C28E52"/>
              </a:solidFill>
            </a:ln>
          </c:spPr>
          <c:invertIfNegative val="1"/>
          <c:cat>
            <c:strRef>
              <c:f>Sheet1!$A$2:$A$4</c:f>
              <c:strCache>
                <c:ptCount val="3"/>
                <c:pt idx="0">
                  <c:v>Market β</c:v>
                </c:pt>
                <c:pt idx="1">
                  <c:v>SMB</c:v>
                </c:pt>
                <c:pt idx="2">
                  <c:v>HML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0.86671452579999997</c:v>
                </c:pt>
                <c:pt idx="1">
                  <c:v>-0.42649318629999999</c:v>
                </c:pt>
                <c:pt idx="2">
                  <c:v>1.012961894E-2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 w="33020">
                    <a:solidFill>
                      <a:srgbClr val="C28E52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FCBD-4A07-9DC9-338532B03EB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Lato"/>
              </a:defRPr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1"/>
          <c:min val="-0.6"/>
        </c:scaling>
        <c:delete val="0"/>
        <c:axPos val="b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500">
                <a:latin typeface="Lato"/>
              </a:defRPr>
            </a:pPr>
            <a:endParaRPr lang="en-US"/>
          </a:p>
        </c:txPr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overlay val="0"/>
    </c:title>
    <c:autoTitleDeleted val="0"/>
    <c:plotArea>
      <c:layout/>
      <c:barChart>
        <c:barDir val="bar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Fund loss %</c:v>
                </c:pt>
              </c:strCache>
            </c:strRef>
          </c:tx>
          <c:spPr>
            <a:solidFill>
              <a:srgbClr val="BE7460"/>
            </a:solidFill>
            <a:ln w="33020">
              <a:solidFill>
                <a:srgbClr val="BE7460"/>
              </a:solidFill>
            </a:ln>
          </c:spPr>
          <c:invertIfNegative val="1"/>
          <c:cat>
            <c:strRef>
              <c:f>Sheet1!$A$2:$A$3</c:f>
              <c:strCache>
                <c:ptCount val="2"/>
                <c:pt idx="0">
                  <c:v>Principal</c:v>
                </c:pt>
                <c:pt idx="1">
                  <c:v>Coupon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14.42</c:v>
                </c:pt>
                <c:pt idx="1">
                  <c:v>15.08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 w="33020">
                    <a:solidFill>
                      <a:srgbClr val="BE7460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504F-4C64-8449-E8467B6C3A8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Lato"/>
              </a:defRPr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17"/>
          <c:min val="0"/>
        </c:scaling>
        <c:delete val="0"/>
        <c:axPos val="b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500">
                <a:latin typeface="Lato"/>
              </a:defRPr>
            </a:pPr>
            <a:endParaRPr lang="en-US"/>
          </a:p>
        </c:txPr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Selected shares</c:v>
                </c:pt>
              </c:strCache>
            </c:strRef>
          </c:tx>
          <c:spPr>
            <a:ln w="33020">
              <a:solidFill>
                <a:srgbClr val="125449"/>
              </a:solidFill>
            </a:ln>
          </c:spPr>
          <c:marker>
            <c:symbol val="none"/>
          </c:marker>
          <c:cat>
            <c:strRef>
              <c:f>Sheet1!$A$2:$A$37</c:f>
              <c:strCache>
                <c:ptCount val="36"/>
                <c:pt idx="0">
                  <c:v>2023-01</c:v>
                </c:pt>
                <c:pt idx="6">
                  <c:v>2023-07</c:v>
                </c:pt>
                <c:pt idx="12">
                  <c:v>2024-01</c:v>
                </c:pt>
                <c:pt idx="18">
                  <c:v>2024-07</c:v>
                </c:pt>
                <c:pt idx="24">
                  <c:v>2025-01</c:v>
                </c:pt>
                <c:pt idx="30">
                  <c:v>2025-07</c:v>
                </c:pt>
                <c:pt idx="35">
                  <c:v>2025-12</c:v>
                </c:pt>
              </c:strCache>
            </c:strRef>
          </c:cat>
          <c:val>
            <c:numRef>
              <c:f>Sheet1!$B$2:$B$37</c:f>
              <c:numCache>
                <c:formatCode>General</c:formatCode>
                <c:ptCount val="36"/>
                <c:pt idx="0">
                  <c:v>6.2394719783629027</c:v>
                </c:pt>
                <c:pt idx="1">
                  <c:v>6.0864793292115236</c:v>
                </c:pt>
                <c:pt idx="2">
                  <c:v>6.4178131654326229</c:v>
                </c:pt>
                <c:pt idx="3">
                  <c:v>6.5859929147494194</c:v>
                </c:pt>
                <c:pt idx="4">
                  <c:v>6.4987346273136604</c:v>
                </c:pt>
                <c:pt idx="5">
                  <c:v>6.9297800975550619</c:v>
                </c:pt>
                <c:pt idx="6">
                  <c:v>7.0963596960541722</c:v>
                </c:pt>
                <c:pt idx="7">
                  <c:v>6.9783560280239616</c:v>
                </c:pt>
                <c:pt idx="8">
                  <c:v>6.6166258042383417</c:v>
                </c:pt>
                <c:pt idx="9">
                  <c:v>6.4789063974254928</c:v>
                </c:pt>
                <c:pt idx="10">
                  <c:v>7.0031246014058626</c:v>
                </c:pt>
                <c:pt idx="11">
                  <c:v>7.1563878990312313</c:v>
                </c:pt>
                <c:pt idx="12">
                  <c:v>7.2788244579623083</c:v>
                </c:pt>
                <c:pt idx="13">
                  <c:v>7.4979599296620041</c:v>
                </c:pt>
                <c:pt idx="14">
                  <c:v>7.667773299699701</c:v>
                </c:pt>
                <c:pt idx="15">
                  <c:v>7.3348447447780281</c:v>
                </c:pt>
                <c:pt idx="16">
                  <c:v>7.7421719218301419</c:v>
                </c:pt>
                <c:pt idx="17">
                  <c:v>7.9876360877084567</c:v>
                </c:pt>
                <c:pt idx="18">
                  <c:v>8.1571905091831045</c:v>
                </c:pt>
                <c:pt idx="19">
                  <c:v>8.4201523284214286</c:v>
                </c:pt>
                <c:pt idx="20">
                  <c:v>8.6094519278515147</c:v>
                </c:pt>
                <c:pt idx="21">
                  <c:v>8.2813069101841936</c:v>
                </c:pt>
                <c:pt idx="22">
                  <c:v>8.6559225723583211</c:v>
                </c:pt>
                <c:pt idx="23">
                  <c:v>8.4233946838298852</c:v>
                </c:pt>
                <c:pt idx="24">
                  <c:v>8.4347930888794878</c:v>
                </c:pt>
                <c:pt idx="25">
                  <c:v>8.495586139909129</c:v>
                </c:pt>
                <c:pt idx="26">
                  <c:v>8.135286121558984</c:v>
                </c:pt>
                <c:pt idx="27">
                  <c:v>7.9834843526047958</c:v>
                </c:pt>
                <c:pt idx="28">
                  <c:v>8.3908503878838854</c:v>
                </c:pt>
                <c:pt idx="29">
                  <c:v>8.7139805617301338</c:v>
                </c:pt>
                <c:pt idx="30">
                  <c:v>9.041409119046639</c:v>
                </c:pt>
                <c:pt idx="31">
                  <c:v>9.1943978831441218</c:v>
                </c:pt>
                <c:pt idx="32">
                  <c:v>9.6675550950784235</c:v>
                </c:pt>
                <c:pt idx="33">
                  <c:v>10.21073575123062</c:v>
                </c:pt>
                <c:pt idx="34">
                  <c:v>10.316420454061269</c:v>
                </c:pt>
                <c:pt idx="35">
                  <c:v>10.151162705802479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44BA-4F7C-9A52-C0401DC7F8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VTI</c:v>
                </c:pt>
              </c:strCache>
            </c:strRef>
          </c:tx>
          <c:spPr>
            <a:ln w="33020">
              <a:solidFill>
                <a:srgbClr val="C28E52"/>
              </a:solidFill>
            </a:ln>
          </c:spPr>
          <c:marker>
            <c:symbol val="none"/>
          </c:marker>
          <c:cat>
            <c:strRef>
              <c:f>Sheet1!$A$2:$A$37</c:f>
              <c:strCache>
                <c:ptCount val="36"/>
                <c:pt idx="0">
                  <c:v>2023-01</c:v>
                </c:pt>
                <c:pt idx="6">
                  <c:v>2023-07</c:v>
                </c:pt>
                <c:pt idx="12">
                  <c:v>2024-01</c:v>
                </c:pt>
                <c:pt idx="18">
                  <c:v>2024-07</c:v>
                </c:pt>
                <c:pt idx="24">
                  <c:v>2025-01</c:v>
                </c:pt>
                <c:pt idx="30">
                  <c:v>2025-07</c:v>
                </c:pt>
                <c:pt idx="35">
                  <c:v>2025-12</c:v>
                </c:pt>
              </c:strCache>
            </c:strRef>
          </c:cat>
          <c:val>
            <c:numRef>
              <c:f>Sheet1!$C$2:$C$37</c:f>
              <c:numCache>
                <c:formatCode>General</c:formatCode>
                <c:ptCount val="36"/>
                <c:pt idx="0">
                  <c:v>6.6879091229788861</c:v>
                </c:pt>
                <c:pt idx="1">
                  <c:v>6.5272792874475689</c:v>
                </c:pt>
                <c:pt idx="2">
                  <c:v>6.7039799239369682</c:v>
                </c:pt>
                <c:pt idx="3">
                  <c:v>6.7762431768240079</c:v>
                </c:pt>
                <c:pt idx="4">
                  <c:v>6.805146589209631</c:v>
                </c:pt>
                <c:pt idx="5">
                  <c:v>7.2630450568102658</c:v>
                </c:pt>
                <c:pt idx="6">
                  <c:v>7.5291285386018005</c:v>
                </c:pt>
                <c:pt idx="7">
                  <c:v>7.3837221812659664</c:v>
                </c:pt>
                <c:pt idx="8">
                  <c:v>7.0292243729463992</c:v>
                </c:pt>
                <c:pt idx="9">
                  <c:v>6.8432430600783887</c:v>
                </c:pt>
                <c:pt idx="10">
                  <c:v>7.48755725741883</c:v>
                </c:pt>
                <c:pt idx="11">
                  <c:v>7.8839411417559324</c:v>
                </c:pt>
                <c:pt idx="12">
                  <c:v>7.9720128665720207</c:v>
                </c:pt>
                <c:pt idx="13">
                  <c:v>8.3944255617980161</c:v>
                </c:pt>
                <c:pt idx="14">
                  <c:v>8.6680588730368324</c:v>
                </c:pt>
                <c:pt idx="15">
                  <c:v>8.2915212290392013</c:v>
                </c:pt>
                <c:pt idx="16">
                  <c:v>8.6860693348332241</c:v>
                </c:pt>
                <c:pt idx="17">
                  <c:v>8.9535059097552256</c:v>
                </c:pt>
                <c:pt idx="18">
                  <c:v>9.1228644813884863</c:v>
                </c:pt>
                <c:pt idx="19">
                  <c:v>9.3173237438073802</c:v>
                </c:pt>
                <c:pt idx="20">
                  <c:v>9.5065458694963851</c:v>
                </c:pt>
                <c:pt idx="21">
                  <c:v>9.4350349762639016</c:v>
                </c:pt>
                <c:pt idx="22">
                  <c:v>10.067216456025479</c:v>
                </c:pt>
                <c:pt idx="23">
                  <c:v>9.7611256987200967</c:v>
                </c:pt>
                <c:pt idx="24">
                  <c:v>10.05718289533457</c:v>
                </c:pt>
                <c:pt idx="25">
                  <c:v>9.8672199524682984</c:v>
                </c:pt>
                <c:pt idx="26">
                  <c:v>9.2894623023236029</c:v>
                </c:pt>
                <c:pt idx="27">
                  <c:v>9.2211885493058272</c:v>
                </c:pt>
                <c:pt idx="28">
                  <c:v>9.7978097900980305</c:v>
                </c:pt>
                <c:pt idx="29">
                  <c:v>10.303706075427641</c:v>
                </c:pt>
                <c:pt idx="30">
                  <c:v>10.539663691559849</c:v>
                </c:pt>
                <c:pt idx="31">
                  <c:v>10.787482777054711</c:v>
                </c:pt>
                <c:pt idx="32">
                  <c:v>11.1564086819546</c:v>
                </c:pt>
                <c:pt idx="33">
                  <c:v>11.402878346925961</c:v>
                </c:pt>
                <c:pt idx="34">
                  <c:v>11.433134327783611</c:v>
                </c:pt>
                <c:pt idx="35">
                  <c:v>11.430109149424421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44BA-4F7C-9A52-C0401DC7F8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Lato"/>
              </a:defRPr>
            </a:pPr>
            <a:endParaRPr lang="en-US"/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  <c:max val="12.5"/>
          <c:min val="5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500">
                <a:latin typeface="Lato"/>
              </a:defRPr>
            </a:pPr>
            <a:endParaRPr lang="en-US"/>
          </a:p>
        </c:txPr>
        <c:crossAx val="2118791784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1500">
              <a:latin typeface="Lato"/>
            </a:defRPr>
          </a:pPr>
          <a:endParaRPr lang="en-US"/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overlay val="0"/>
    </c:title>
    <c:autoTitleDeleted val="0"/>
    <c:plotArea>
      <c:layout/>
      <c:barChart>
        <c:barDir val="bar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CAGR %</c:v>
                </c:pt>
              </c:strCache>
            </c:strRef>
          </c:tx>
          <c:spPr>
            <a:solidFill>
              <a:srgbClr val="125449"/>
            </a:solidFill>
            <a:ln w="33020">
              <a:solidFill>
                <a:srgbClr val="125449"/>
              </a:solidFill>
            </a:ln>
          </c:spPr>
          <c:invertIfNegative val="1"/>
          <c:cat>
            <c:strRef>
              <c:f>Sheet1!$A$2:$A$3</c:f>
              <c:strCache>
                <c:ptCount val="2"/>
                <c:pt idx="0">
                  <c:v>Selected</c:v>
                </c:pt>
                <c:pt idx="1">
                  <c:v>VTI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17.686386152185651</c:v>
                </c:pt>
                <c:pt idx="1">
                  <c:v>22.446857497005148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 w="33020">
                    <a:solidFill>
                      <a:srgbClr val="125449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B0DF-4F97-BC0E-BC8398DA89D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Lato"/>
              </a:defRPr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26"/>
          <c:min val="0"/>
        </c:scaling>
        <c:delete val="0"/>
        <c:axPos val="b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500">
                <a:latin typeface="Lato"/>
              </a:defRPr>
            </a:pPr>
            <a:endParaRPr lang="en-US"/>
          </a:p>
        </c:txPr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Fund total, $m</c:v>
                </c:pt>
              </c:strCache>
            </c:strRef>
          </c:tx>
          <c:spPr>
            <a:solidFill>
              <a:srgbClr val="125449"/>
            </a:solidFill>
            <a:ln w="33020">
              <a:solidFill>
                <a:srgbClr val="125449"/>
              </a:solidFill>
            </a:ln>
          </c:spPr>
          <c:invertIfNegative val="1"/>
          <c:cat>
            <c:strRef>
              <c:f>Sheet1!$A$2:$A$5</c:f>
              <c:strCache>
                <c:ptCount val="4"/>
                <c:pt idx="0">
                  <c:v>0%</c:v>
                </c:pt>
                <c:pt idx="1">
                  <c:v>4.80%</c:v>
                </c:pt>
                <c:pt idx="2">
                  <c:v>8%</c:v>
                </c:pt>
                <c:pt idx="3">
                  <c:v>12%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6.7735624375624388</c:v>
                </c:pt>
                <c:pt idx="1">
                  <c:v>9.5961063316183228</c:v>
                </c:pt>
                <c:pt idx="2">
                  <c:v>12.057466708315923</c:v>
                </c:pt>
                <c:pt idx="3">
                  <c:v>15.938647936308048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 w="33020">
                    <a:solidFill>
                      <a:srgbClr val="125449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BC24-408C-9AFB-157CA9BE062A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2030 target, $m</c:v>
                </c:pt>
              </c:strCache>
            </c:strRef>
          </c:tx>
          <c:spPr>
            <a:solidFill>
              <a:srgbClr val="C28E52"/>
            </a:solidFill>
            <a:ln w="33020">
              <a:solidFill>
                <a:srgbClr val="C28E52"/>
              </a:solidFill>
            </a:ln>
          </c:spPr>
          <c:invertIfNegative val="1"/>
          <c:cat>
            <c:strRef>
              <c:f>Sheet1!$A$2:$A$5</c:f>
              <c:strCache>
                <c:ptCount val="4"/>
                <c:pt idx="0">
                  <c:v>0%</c:v>
                </c:pt>
                <c:pt idx="1">
                  <c:v>4.80%</c:v>
                </c:pt>
                <c:pt idx="2">
                  <c:v>8%</c:v>
                </c:pt>
                <c:pt idx="3">
                  <c:v>12%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9.596106443820231</c:v>
                </c:pt>
                <c:pt idx="1">
                  <c:v>9.596106443820231</c:v>
                </c:pt>
                <c:pt idx="2">
                  <c:v>9.596106443820231</c:v>
                </c:pt>
                <c:pt idx="3">
                  <c:v>9.596106443820231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 w="33020">
                    <a:solidFill>
                      <a:srgbClr val="C28E52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BC24-408C-9AFB-157CA9BE062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Lato"/>
              </a:defRPr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17"/>
          <c:min val="0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500">
                <a:latin typeface="Lato"/>
              </a:defRPr>
            </a:pPr>
            <a:endParaRPr lang="en-US"/>
          </a:p>
        </c:txPr>
        <c:crossAx val="-2068027336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1500">
              <a:latin typeface="Lato"/>
            </a:defRPr>
          </a:pPr>
          <a:endParaRPr lang="en-US"/>
        </a:p>
      </c:txPr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360989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Source and model notes: Case-date $12m reconciliation: principal-matching bond cost $5,784,228; net equity $6,209,562.44; 10bp equity entry fee $6,209.56. All quantities are from archived case calculations; no photographs.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Source and model notes: Group-selected principal bonds 2,400 Beta, 1,200 Gamma, 2,400 Delta; net equity $6,209,562.44 and 4.7951% growth hurdle. Revised payments: $2.4m in 2024, $1.2m in 2025, $2.4m in 2027; the 2025 retained cash is $396k.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Source and model notes: 2022 Original $2.4m in 2024 and $3.6m in 2027, vs revised split. USD millions.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Source and model notes: Bond costs Principal 5,784,228 and Coupon 5,429,776.18; equity 6,209,562.44 and 6,563,660.16; no double counting.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Source and model notes: Selected principal-matched bond ledger: retained cash $132k end-2023, $264k end-2024, $396k end-2025, $480k end-2026, $564k end-2027. Gamma principal $1.2m meets the 2025 liability.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Source and model notes: +100bp bond sleeve price change Principal -178,263.66 and Coupon -168,602.38. Modified duration and convexity approximation, cash flow PV.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Source and model notes: Initial bond 5,784,228 + net equity 6,209,562.44 + fee 6,209.56 = $12m exactly.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Source and model notes: Original exact frozen allocation weights, 15% direct-stock cap, 30% sector cap, 30% ETF, 40% combined ETF.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Source and model notes: All three models use the common sample covariance for displayed risk: Sample MV 12.0466%/14.9757%; Single Index 11.9055%/14.4624%; Minimum Variance 10.8572%/13.1470%. Single Index is optimized with its own covariance assumption.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Source and model notes: Representative mean/variance objective; foundation utility uses E/12m; Sample MV risk aversion A=3, A=6 tested.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Source and model notes: Source-derived utility frozen 0.053328704612, reoptimized 0.053328717792, gain 1.31799698655e-08. Bars cannot communicate this tiny utility difference faithfully. A*=8.938687 is a pairwise fixed-policy comparison.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Source and model notes: Factor coefficients from n=96 OLS with HAC sensitivity, CAPM r2adj .784986, FF3 .843652, market .866715, SMB -.42649, HML .0101.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Source and model notes: Target 8m*1.023^8=9,596,106.44; principal retained cash 564k; stress fund impact 14.42%; coupon 15.08%.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Source and model notes: Original frozen policy equity base $6,229,246.75, not revised principal $6,209,562.44. Actual archived Yahoo stock prices, 752 common dates, 36 month-end observations, 10bp initial fee, unchanged shares. Not observed whole-fund returns.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Source and model notes: Observed growth sleeve CAGR Selected 17.6864%, VTI 22.4469%; volatility 11.80/12.60; tracking error 6.9062.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Source and model notes: Group-proposed (not trustee-authorized) 12% early warning and 15% review based on rolling withdrawal-adjusted returns. Revised monitor uses case YTM modeled bonds, not historical traded bond prices.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Source and model notes: 2030 equity scenario sensitivity holds bond cash $564,000 at zero reinvestment: total=net equity (1+r)^8 plus residual cash. 2022-dollar $8m goal inflates at 2.3% for 8 years to $9.596m nominal. These are modeled illustrations, not return forecasts. Funding remains a group proposal; no trustee or LMS approval is implied.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5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6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7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8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9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0.xm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4" Type="http://schemas.openxmlformats.org/officeDocument/2006/relationships/chart" Target="../charts/chart1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2.xm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3.xm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4.xm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5.xm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67512" y="306658"/>
            <a:ext cx="9144000" cy="246221"/>
          </a:xfrm>
          <a:prstGeom prst="rect">
            <a:avLst/>
          </a:prstGeom>
          <a:noFill/>
        </p:spPr>
        <p:txBody>
          <a:bodyPr wrap="square" lIns="36576" tIns="0" rIns="36576" bIns="0" anchor="ctr">
            <a:spAutoFit/>
          </a:bodyPr>
          <a:lstStyle/>
          <a:p>
            <a:pPr algn="l">
              <a:defRPr sz="1500" b="1">
                <a:solidFill>
                  <a:srgbClr val="125449"/>
                </a:solidFill>
                <a:latin typeface="Lato"/>
              </a:defRPr>
            </a:pPr>
            <a:r>
              <a:rPr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KAPPA FOUNDATION  /  GROUP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252960" y="306658"/>
            <a:ext cx="5212080" cy="246221"/>
          </a:xfrm>
          <a:prstGeom prst="rect">
            <a:avLst/>
          </a:prstGeom>
          <a:noFill/>
        </p:spPr>
        <p:txBody>
          <a:bodyPr wrap="square" lIns="36576" tIns="0" rIns="36576" bIns="0" anchor="ctr">
            <a:spAutoFit/>
          </a:bodyPr>
          <a:lstStyle/>
          <a:p>
            <a:pPr algn="r">
              <a:defRPr sz="1500" b="1">
                <a:solidFill>
                  <a:srgbClr val="125449"/>
                </a:solidFill>
                <a:latin typeface="Lato"/>
              </a:defRPr>
            </a:pPr>
            <a:r>
              <a:rPr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INVESTMENT RECOMMENDATION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94944" y="832104"/>
            <a:ext cx="16888968" cy="0"/>
          </a:xfrm>
          <a:prstGeom prst="line">
            <a:avLst/>
          </a:prstGeom>
          <a:ln w="19050">
            <a:solidFill>
              <a:srgbClr val="12544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13232" y="1179350"/>
            <a:ext cx="16642080" cy="677108"/>
          </a:xfrm>
          <a:prstGeom prst="rect">
            <a:avLst/>
          </a:prstGeom>
          <a:noFill/>
        </p:spPr>
        <p:txBody>
          <a:bodyPr wrap="square" lIns="36576" tIns="0" rIns="36576" bIns="0" anchor="ctr">
            <a:spAutoFit/>
          </a:bodyPr>
          <a:lstStyle/>
          <a:p>
            <a:pPr algn="l">
              <a:defRPr sz="4300" b="1">
                <a:solidFill>
                  <a:srgbClr val="125449"/>
                </a:solidFill>
                <a:latin typeface="Lato"/>
              </a:defRPr>
            </a:pPr>
            <a:endParaRPr sz="44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740664" y="2069330"/>
            <a:ext cx="16459200" cy="369332"/>
          </a:xfrm>
          <a:prstGeom prst="rect">
            <a:avLst/>
          </a:prstGeom>
          <a:noFill/>
        </p:spPr>
        <p:txBody>
          <a:bodyPr wrap="square" lIns="36576" tIns="0" rIns="36576" bIns="0" anchor="ctr">
            <a:spAutoFit/>
          </a:bodyPr>
          <a:lstStyle/>
          <a:p>
            <a:pPr algn="l">
              <a:defRPr sz="2100" b="0">
                <a:solidFill>
                  <a:srgbClr val="65786F"/>
                </a:solidFill>
                <a:latin typeface="Lato"/>
              </a:defRPr>
            </a:pPr>
            <a:endParaRPr sz="24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7035272" y="9711262"/>
            <a:ext cx="502920" cy="246221"/>
          </a:xfrm>
          <a:prstGeom prst="rect">
            <a:avLst/>
          </a:prstGeom>
          <a:noFill/>
        </p:spPr>
        <p:txBody>
          <a:bodyPr wrap="square" lIns="36576" tIns="0" rIns="36576" bIns="0" anchor="ctr">
            <a:spAutoFit/>
          </a:bodyPr>
          <a:lstStyle/>
          <a:p>
            <a:pPr algn="r">
              <a:defRPr sz="1400" b="1">
                <a:solidFill>
                  <a:srgbClr val="65786F"/>
                </a:solidFill>
                <a:latin typeface="Lato"/>
              </a:defRPr>
            </a:pPr>
            <a:r>
              <a:rPr sz="1600">
                <a:latin typeface="Times New Roman" panose="02020603050405020304" pitchFamily="18" charset="0"/>
                <a:cs typeface="Times New Roman" panose="02020603050405020304" pitchFamily="18" charset="0"/>
              </a:rPr>
              <a:t>01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" y="1920240"/>
            <a:ext cx="11247120" cy="6099048"/>
          </a:xfrm>
          <a:prstGeom prst="rect">
            <a:avLst/>
          </a:prstGeom>
          <a:solidFill>
            <a:srgbClr val="1254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11576304" y="1920240"/>
            <a:ext cx="5971032" cy="6099048"/>
          </a:xfrm>
          <a:prstGeom prst="roundRect">
            <a:avLst>
              <a:gd name="adj" fmla="val 7000"/>
            </a:avLst>
          </a:prstGeom>
          <a:solidFill>
            <a:srgbClr val="EA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1932920" y="2390596"/>
            <a:ext cx="5257800" cy="430887"/>
          </a:xfrm>
          <a:prstGeom prst="rect">
            <a:avLst/>
          </a:prstGeom>
          <a:noFill/>
        </p:spPr>
        <p:txBody>
          <a:bodyPr wrap="square" lIns="36576" tIns="0" rIns="36576" bIns="0" anchor="ctr">
            <a:spAutoFit/>
          </a:bodyPr>
          <a:lstStyle/>
          <a:p>
            <a:pPr algn="l">
              <a:defRPr sz="2500" b="1">
                <a:solidFill>
                  <a:srgbClr val="125449"/>
                </a:solidFill>
                <a:latin typeface="Lato"/>
              </a:defRPr>
            </a:pPr>
            <a:r>
              <a:rPr sz="2800">
                <a:latin typeface="Times New Roman" panose="02020603050405020304" pitchFamily="18" charset="0"/>
                <a:cs typeface="Times New Roman" panose="02020603050405020304" pitchFamily="18" charset="0"/>
              </a:rPr>
              <a:t>Where the $12m starts</a:t>
            </a:r>
          </a:p>
        </p:txBody>
      </p:sp>
      <p:graphicFrame>
        <p:nvGraphicFramePr>
          <p:cNvPr id="12" name="Chart 1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79066430"/>
              </p:ext>
            </p:extLst>
          </p:nvPr>
        </p:nvGraphicFramePr>
        <p:xfrm>
          <a:off x="11951208" y="3081528"/>
          <a:ext cx="5184648" cy="243230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11978640" y="5758934"/>
            <a:ext cx="5276088" cy="369332"/>
          </a:xfrm>
          <a:prstGeom prst="rect">
            <a:avLst/>
          </a:prstGeom>
          <a:noFill/>
        </p:spPr>
        <p:txBody>
          <a:bodyPr wrap="square" lIns="36576" tIns="0" rIns="36576" bIns="0" anchor="ctr">
            <a:spAutoFit/>
          </a:bodyPr>
          <a:lstStyle/>
          <a:p>
            <a:pPr algn="l">
              <a:defRPr sz="2100" b="1">
                <a:solidFill>
                  <a:srgbClr val="125449"/>
                </a:solidFill>
                <a:latin typeface="Lato"/>
              </a:defRPr>
            </a:pPr>
            <a:r>
              <a:rPr sz="2400">
                <a:latin typeface="Times New Roman" panose="02020603050405020304" pitchFamily="18" charset="0"/>
                <a:cs typeface="Times New Roman" panose="02020603050405020304" pitchFamily="18" charset="0"/>
              </a:rPr>
              <a:t>$5.784m bonds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978640" y="6344150"/>
            <a:ext cx="5266944" cy="369332"/>
          </a:xfrm>
          <a:prstGeom prst="rect">
            <a:avLst/>
          </a:prstGeom>
          <a:noFill/>
        </p:spPr>
        <p:txBody>
          <a:bodyPr wrap="square" lIns="36576" tIns="0" rIns="36576" bIns="0" anchor="ctr">
            <a:spAutoFit/>
          </a:bodyPr>
          <a:lstStyle/>
          <a:p>
            <a:pPr algn="l">
              <a:defRPr sz="2100" b="1">
                <a:solidFill>
                  <a:srgbClr val="C28E52"/>
                </a:solidFill>
                <a:latin typeface="Lato"/>
              </a:defRPr>
            </a:pPr>
            <a:r>
              <a:rPr sz="2400">
                <a:latin typeface="Times New Roman" panose="02020603050405020304" pitchFamily="18" charset="0"/>
                <a:cs typeface="Times New Roman" panose="02020603050405020304" pitchFamily="18" charset="0"/>
              </a:rPr>
              <a:t>$6.210m equities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987784" y="6987575"/>
            <a:ext cx="5230368" cy="307777"/>
          </a:xfrm>
          <a:prstGeom prst="rect">
            <a:avLst/>
          </a:prstGeom>
          <a:noFill/>
        </p:spPr>
        <p:txBody>
          <a:bodyPr wrap="square" lIns="36576" tIns="0" rIns="36576" bIns="0" anchor="ctr">
            <a:spAutoFit/>
          </a:bodyPr>
          <a:lstStyle/>
          <a:p>
            <a:pPr algn="l">
              <a:defRPr sz="1800" b="0">
                <a:solidFill>
                  <a:srgbClr val="65786F"/>
                </a:solidFill>
                <a:latin typeface="Lato"/>
              </a:defRPr>
            </a:pPr>
            <a:r>
              <a:rPr sz="2000">
                <a:latin typeface="Times New Roman" panose="02020603050405020304" pitchFamily="18" charset="0"/>
                <a:cs typeface="Times New Roman" panose="02020603050405020304" pitchFamily="18" charset="0"/>
              </a:rPr>
              <a:t>$6,210 entry fee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1832" y="2632233"/>
            <a:ext cx="10698480" cy="2462213"/>
          </a:xfrm>
          <a:prstGeom prst="rect">
            <a:avLst/>
          </a:prstGeom>
          <a:noFill/>
        </p:spPr>
        <p:txBody>
          <a:bodyPr wrap="square" lIns="36576" tIns="0" rIns="36576" bIns="0" anchor="ctr">
            <a:spAutoFit/>
          </a:bodyPr>
          <a:lstStyle/>
          <a:p>
            <a:pPr algn="l">
              <a:defRPr sz="7300" b="1">
                <a:solidFill>
                  <a:srgbClr val="FFFFFF"/>
                </a:solidFill>
                <a:latin typeface="Lato"/>
              </a:defRPr>
            </a:pPr>
            <a:r>
              <a:rPr sz="8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KAPPA</a:t>
            </a:r>
          </a:p>
          <a:p>
            <a:pPr algn="l">
              <a:defRPr sz="7300" b="1">
                <a:solidFill>
                  <a:srgbClr val="FFFFFF"/>
                </a:solidFill>
                <a:latin typeface="Lato"/>
              </a:defRPr>
            </a:pPr>
            <a:r>
              <a:rPr sz="8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FOUNDATION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1768" y="6769679"/>
            <a:ext cx="11247119" cy="492443"/>
          </a:xfrm>
          <a:prstGeom prst="rect">
            <a:avLst/>
          </a:prstGeom>
          <a:noFill/>
        </p:spPr>
        <p:txBody>
          <a:bodyPr wrap="square" lIns="36576" tIns="0" rIns="36576" bIns="0" anchor="ctr">
            <a:spAutoFit/>
          </a:bodyPr>
          <a:lstStyle/>
          <a:p>
            <a:pPr algn="l">
              <a:defRPr sz="2900" b="0">
                <a:solidFill>
                  <a:srgbClr val="F8F5EF"/>
                </a:solidFill>
                <a:latin typeface="Lato"/>
              </a:defRPr>
            </a:pPr>
            <a:r>
              <a:rPr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Investment recommendation</a:t>
            </a: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and revised mandate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6977" y="8271639"/>
            <a:ext cx="16230600" cy="430887"/>
          </a:xfrm>
          <a:prstGeom prst="rect">
            <a:avLst/>
          </a:prstGeom>
          <a:noFill/>
        </p:spPr>
        <p:txBody>
          <a:bodyPr wrap="square" lIns="36576" tIns="0" rIns="36576" bIns="0" anchor="ctr">
            <a:spAutoFit/>
          </a:bodyPr>
          <a:lstStyle/>
          <a:p>
            <a:pPr algn="l">
              <a:defRPr sz="2400" b="1">
                <a:solidFill>
                  <a:srgbClr val="125449"/>
                </a:solidFill>
                <a:latin typeface="Lato"/>
              </a:defRPr>
            </a:pPr>
            <a:r>
              <a:rPr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$12 million allocation that puts our payment dates first.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2B787B6-69D3-EDEA-2118-D82F6AA67E32}"/>
              </a:ext>
            </a:extLst>
          </p:cNvPr>
          <p:cNvSpPr txBox="1"/>
          <p:nvPr/>
        </p:nvSpPr>
        <p:spPr>
          <a:xfrm>
            <a:off x="306977" y="9111097"/>
            <a:ext cx="9192986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2800" b="1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Lecturer:</a:t>
            </a:r>
            <a:r>
              <a:rPr lang="en-US" sz="2800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Dr. Omer </a:t>
            </a:r>
            <a:r>
              <a:rPr lang="en-US" sz="2800" b="0" i="0" dirty="0" err="1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Cayirli</a:t>
            </a:r>
            <a:endParaRPr lang="en-US" sz="2800" dirty="0"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00000"/>
              </a:lnSpc>
              <a:buNone/>
            </a:pPr>
            <a:r>
              <a:rPr lang="en-US" sz="2800" b="1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Research &amp; Teaching Assistant:</a:t>
            </a:r>
            <a:r>
              <a:rPr lang="en-US" sz="2800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Ty Dam Phuong Ngoc</a:t>
            </a:r>
            <a:endParaRPr lang="en-US" sz="2800" dirty="0"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67512" y="314352"/>
            <a:ext cx="9144000" cy="230832"/>
          </a:xfrm>
          <a:prstGeom prst="rect">
            <a:avLst/>
          </a:prstGeom>
          <a:noFill/>
        </p:spPr>
        <p:txBody>
          <a:bodyPr wrap="square" lIns="36576" tIns="0" rIns="36576" bIns="0" anchor="ctr">
            <a:spAutoFit/>
          </a:bodyPr>
          <a:lstStyle/>
          <a:p>
            <a:pPr algn="l">
              <a:defRPr sz="1500" b="1">
                <a:solidFill>
                  <a:srgbClr val="125449"/>
                </a:solidFill>
                <a:latin typeface="Lato"/>
              </a:defRPr>
            </a:pPr>
            <a:r>
              <a:rPr>
                <a:latin typeface="Times New Roman" panose="02020603050405020304" pitchFamily="18" charset="0"/>
                <a:cs typeface="Times New Roman" panose="02020603050405020304" pitchFamily="18" charset="0"/>
              </a:rPr>
              <a:t>KAPPA FOUNDATION  /  GROUP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252960" y="314352"/>
            <a:ext cx="5212080" cy="230832"/>
          </a:xfrm>
          <a:prstGeom prst="rect">
            <a:avLst/>
          </a:prstGeom>
          <a:noFill/>
        </p:spPr>
        <p:txBody>
          <a:bodyPr wrap="square" lIns="36576" tIns="0" rIns="36576" bIns="0" anchor="ctr">
            <a:spAutoFit/>
          </a:bodyPr>
          <a:lstStyle/>
          <a:p>
            <a:pPr algn="r">
              <a:defRPr sz="1500" b="1">
                <a:solidFill>
                  <a:srgbClr val="125449"/>
                </a:solidFill>
                <a:latin typeface="Lato"/>
              </a:defRPr>
            </a:pPr>
            <a:r>
              <a:rPr>
                <a:latin typeface="Times New Roman" panose="02020603050405020304" pitchFamily="18" charset="0"/>
                <a:cs typeface="Times New Roman" panose="02020603050405020304" pitchFamily="18" charset="0"/>
              </a:rPr>
              <a:t>EXECUTIVE DECISION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94944" y="832104"/>
            <a:ext cx="16888968" cy="0"/>
          </a:xfrm>
          <a:prstGeom prst="line">
            <a:avLst/>
          </a:prstGeom>
          <a:ln w="19050">
            <a:solidFill>
              <a:srgbClr val="12544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13232" y="1187044"/>
            <a:ext cx="16642080" cy="661720"/>
          </a:xfrm>
          <a:prstGeom prst="rect">
            <a:avLst/>
          </a:prstGeom>
          <a:noFill/>
        </p:spPr>
        <p:txBody>
          <a:bodyPr wrap="square" lIns="36576" tIns="0" rIns="36576" bIns="0" anchor="ctr">
            <a:spAutoFit/>
          </a:bodyPr>
          <a:lstStyle/>
          <a:p>
            <a:pPr algn="l">
              <a:defRPr sz="4300" b="1">
                <a:solidFill>
                  <a:srgbClr val="125449"/>
                </a:solidFill>
                <a:latin typeface="Lato"/>
              </a:defRPr>
            </a:pPr>
            <a:r>
              <a:rPr>
                <a:latin typeface="Times New Roman" panose="02020603050405020304" pitchFamily="18" charset="0"/>
                <a:cs typeface="Times New Roman" panose="02020603050405020304" pitchFamily="18" charset="0"/>
              </a:rPr>
              <a:t>Our recommendation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" y="2092413"/>
            <a:ext cx="16459200" cy="323165"/>
          </a:xfrm>
          <a:prstGeom prst="rect">
            <a:avLst/>
          </a:prstGeom>
          <a:noFill/>
        </p:spPr>
        <p:txBody>
          <a:bodyPr wrap="square" lIns="36576" tIns="0" rIns="36576" bIns="0" anchor="ctr">
            <a:spAutoFit/>
          </a:bodyPr>
          <a:lstStyle/>
          <a:p>
            <a:pPr algn="l">
              <a:defRPr sz="2100" b="0">
                <a:solidFill>
                  <a:srgbClr val="65786F"/>
                </a:solidFill>
                <a:latin typeface="Lato"/>
              </a:defRPr>
            </a:pPr>
            <a:r>
              <a:rPr>
                <a:latin typeface="Times New Roman" panose="02020603050405020304" pitchFamily="18" charset="0"/>
                <a:cs typeface="Times New Roman" panose="02020603050405020304" pitchFamily="18" charset="0"/>
              </a:rPr>
              <a:t>Meet the obligations without changing the frozen stock weights.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035272" y="9726650"/>
            <a:ext cx="502920" cy="215444"/>
          </a:xfrm>
          <a:prstGeom prst="rect">
            <a:avLst/>
          </a:prstGeom>
          <a:noFill/>
        </p:spPr>
        <p:txBody>
          <a:bodyPr wrap="square" lIns="36576" tIns="0" rIns="36576" bIns="0" anchor="ctr">
            <a:spAutoFit/>
          </a:bodyPr>
          <a:lstStyle/>
          <a:p>
            <a:pPr algn="r">
              <a:defRPr sz="1400" b="1">
                <a:solidFill>
                  <a:srgbClr val="65786F"/>
                </a:solidFill>
                <a:latin typeface="Lato"/>
              </a:defRPr>
            </a:pPr>
            <a:r>
              <a:rPr>
                <a:latin typeface="Times New Roman" panose="02020603050405020304" pitchFamily="18" charset="0"/>
                <a:cs typeface="Times New Roman" panose="02020603050405020304" pitchFamily="18" charset="0"/>
              </a:rPr>
              <a:t>02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880360"/>
            <a:ext cx="10424160" cy="6318504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11521440" y="2871216"/>
            <a:ext cx="6016752" cy="6318504"/>
          </a:xfrm>
          <a:prstGeom prst="roundRect">
            <a:avLst>
              <a:gd name="adj" fmla="val 7000"/>
            </a:avLst>
          </a:prstGeom>
          <a:solidFill>
            <a:srgbClr val="EA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1878056" y="3354062"/>
            <a:ext cx="5349240" cy="369332"/>
          </a:xfrm>
          <a:prstGeom prst="rect">
            <a:avLst/>
          </a:prstGeom>
          <a:noFill/>
        </p:spPr>
        <p:txBody>
          <a:bodyPr wrap="square" lIns="36576" tIns="0" rIns="36576" bIns="0" anchor="ctr">
            <a:spAutoFit/>
          </a:bodyPr>
          <a:lstStyle/>
          <a:p>
            <a:pPr algn="l">
              <a:defRPr sz="2400" b="1">
                <a:solidFill>
                  <a:srgbClr val="125449"/>
                </a:solidFill>
                <a:latin typeface="Lato"/>
              </a:defRPr>
            </a:pPr>
            <a:r>
              <a:rPr>
                <a:latin typeface="Times New Roman" panose="02020603050405020304" pitchFamily="18" charset="0"/>
                <a:cs typeface="Times New Roman" panose="02020603050405020304" pitchFamily="18" charset="0"/>
              </a:rPr>
              <a:t>Revised commitments</a:t>
            </a:r>
          </a:p>
        </p:txBody>
      </p:sp>
      <p:graphicFrame>
        <p:nvGraphicFramePr>
          <p:cNvPr id="12" name="Chart 1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65999358"/>
              </p:ext>
            </p:extLst>
          </p:nvPr>
        </p:nvGraphicFramePr>
        <p:xfrm>
          <a:off x="11850624" y="4023360"/>
          <a:ext cx="5394960" cy="392277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11914632" y="8327171"/>
            <a:ext cx="5257800" cy="307777"/>
          </a:xfrm>
          <a:prstGeom prst="rect">
            <a:avLst/>
          </a:prstGeom>
          <a:noFill/>
        </p:spPr>
        <p:txBody>
          <a:bodyPr wrap="square" lIns="36576" tIns="0" rIns="36576" bIns="0" anchor="ctr">
            <a:spAutoFit/>
          </a:bodyPr>
          <a:lstStyle/>
          <a:p>
            <a:pPr algn="l">
              <a:defRPr sz="2000" b="1">
                <a:solidFill>
                  <a:srgbClr val="2D4038"/>
                </a:solidFill>
                <a:latin typeface="Lato"/>
              </a:defRPr>
            </a:pPr>
            <a:r>
              <a:rPr>
                <a:latin typeface="Times New Roman" panose="02020603050405020304" pitchFamily="18" charset="0"/>
                <a:cs typeface="Times New Roman" panose="02020603050405020304" pitchFamily="18" charset="0"/>
              </a:rPr>
              <a:t>$6.0m across three dates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52144" y="3355848"/>
            <a:ext cx="2880360" cy="493776"/>
          </a:xfrm>
          <a:prstGeom prst="roundRect">
            <a:avLst>
              <a:gd name="adj" fmla="val 7000"/>
            </a:avLst>
          </a:prstGeom>
          <a:solidFill>
            <a:srgbClr val="1254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1243584" y="3464460"/>
            <a:ext cx="2706624" cy="230832"/>
          </a:xfrm>
          <a:prstGeom prst="rect">
            <a:avLst/>
          </a:prstGeom>
          <a:noFill/>
        </p:spPr>
        <p:txBody>
          <a:bodyPr wrap="square" lIns="36576" tIns="0" rIns="36576" bIns="0" anchor="ctr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Lato"/>
              </a:defRPr>
            </a:pPr>
            <a:r>
              <a:rPr>
                <a:latin typeface="Times New Roman" panose="02020603050405020304" pitchFamily="18" charset="0"/>
                <a:cs typeface="Times New Roman" panose="02020603050405020304" pitchFamily="18" charset="0"/>
              </a:rPr>
              <a:t>SELECTED POLICY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6424" y="4091490"/>
            <a:ext cx="9482328" cy="723275"/>
          </a:xfrm>
          <a:prstGeom prst="rect">
            <a:avLst/>
          </a:prstGeom>
          <a:noFill/>
        </p:spPr>
        <p:txBody>
          <a:bodyPr wrap="square" lIns="36576" tIns="0" rIns="36576" bIns="0" anchor="ctr">
            <a:spAutoFit/>
          </a:bodyPr>
          <a:lstStyle/>
          <a:p>
            <a:pPr algn="l">
              <a:defRPr sz="4700" b="1">
                <a:solidFill>
                  <a:srgbClr val="125449"/>
                </a:solidFill>
                <a:latin typeface="Lato"/>
              </a:defRPr>
            </a:pPr>
            <a:r>
              <a:rPr>
                <a:latin typeface="Times New Roman" panose="02020603050405020304" pitchFamily="18" charset="0"/>
                <a:cs typeface="Times New Roman" panose="02020603050405020304" pitchFamily="18" charset="0"/>
              </a:rPr>
              <a:t>Principal matching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79576" y="5222560"/>
            <a:ext cx="9272016" cy="353943"/>
          </a:xfrm>
          <a:prstGeom prst="rect">
            <a:avLst/>
          </a:prstGeom>
          <a:noFill/>
        </p:spPr>
        <p:txBody>
          <a:bodyPr wrap="square" lIns="36576" tIns="0" rIns="36576" bIns="0" anchor="ctr">
            <a:spAutoFit/>
          </a:bodyPr>
          <a:lstStyle/>
          <a:p>
            <a:pPr algn="l">
              <a:defRPr sz="2300" b="1">
                <a:solidFill>
                  <a:srgbClr val="2D4038"/>
                </a:solidFill>
                <a:latin typeface="Lato"/>
              </a:defRPr>
            </a:pPr>
            <a:r>
              <a:rPr>
                <a:latin typeface="Times New Roman" panose="02020603050405020304" pitchFamily="18" charset="0"/>
                <a:cs typeface="Times New Roman" panose="02020603050405020304" pitchFamily="18" charset="0"/>
              </a:rPr>
              <a:t>2,400 Beta    1,200 Gamma    2,400 Delta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179576" y="5843016"/>
            <a:ext cx="9473184" cy="0"/>
          </a:xfrm>
          <a:prstGeom prst="line">
            <a:avLst/>
          </a:prstGeom>
          <a:ln w="15240">
            <a:solidFill>
              <a:srgbClr val="D4DC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1188720" y="6165283"/>
            <a:ext cx="4050791" cy="800219"/>
          </a:xfrm>
          <a:prstGeom prst="rect">
            <a:avLst/>
          </a:prstGeom>
          <a:noFill/>
        </p:spPr>
        <p:txBody>
          <a:bodyPr wrap="square" lIns="36576" tIns="0" rIns="36576" bIns="0" anchor="ctr">
            <a:spAutoFit/>
          </a:bodyPr>
          <a:lstStyle/>
          <a:p>
            <a:pPr algn="l">
              <a:defRPr sz="5200" b="1">
                <a:solidFill>
                  <a:srgbClr val="125449"/>
                </a:solidFill>
                <a:latin typeface="Lato"/>
              </a:defRPr>
            </a:pPr>
            <a:r>
              <a:rPr>
                <a:latin typeface="Times New Roman" panose="02020603050405020304" pitchFamily="18" charset="0"/>
                <a:cs typeface="Times New Roman" panose="02020603050405020304" pitchFamily="18" charset="0"/>
              </a:rPr>
              <a:t>$6.21m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33872" y="6165283"/>
            <a:ext cx="4169663" cy="800219"/>
          </a:xfrm>
          <a:prstGeom prst="rect">
            <a:avLst/>
          </a:prstGeom>
          <a:noFill/>
        </p:spPr>
        <p:txBody>
          <a:bodyPr wrap="square" lIns="36576" tIns="0" rIns="36576" bIns="0" anchor="ctr">
            <a:spAutoFit/>
          </a:bodyPr>
          <a:lstStyle/>
          <a:p>
            <a:pPr algn="l">
              <a:defRPr sz="5200" b="1">
                <a:solidFill>
                  <a:srgbClr val="C28E52"/>
                </a:solidFill>
                <a:latin typeface="Lato"/>
              </a:defRPr>
            </a:pPr>
            <a:r>
              <a:rPr>
                <a:latin typeface="Times New Roman" panose="02020603050405020304" pitchFamily="18" charset="0"/>
                <a:cs typeface="Times New Roman" panose="02020603050405020304" pitchFamily="18" charset="0"/>
              </a:rPr>
              <a:t>4.80%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16152" y="7091282"/>
            <a:ext cx="4142232" cy="292388"/>
          </a:xfrm>
          <a:prstGeom prst="rect">
            <a:avLst/>
          </a:prstGeom>
          <a:noFill/>
        </p:spPr>
        <p:txBody>
          <a:bodyPr wrap="square" lIns="36576" tIns="0" rIns="36576" bIns="0" anchor="ctr">
            <a:spAutoFit/>
          </a:bodyPr>
          <a:lstStyle/>
          <a:p>
            <a:pPr algn="l">
              <a:defRPr sz="1900" b="0">
                <a:solidFill>
                  <a:srgbClr val="65786F"/>
                </a:solidFill>
                <a:latin typeface="Lato"/>
              </a:defRPr>
            </a:pPr>
            <a:r>
              <a:rPr>
                <a:latin typeface="Times New Roman" panose="02020603050405020304" pitchFamily="18" charset="0"/>
                <a:cs typeface="Times New Roman" panose="02020603050405020304" pitchFamily="18" charset="0"/>
              </a:rPr>
              <a:t>Net equity investment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97880" y="7190416"/>
            <a:ext cx="4251960" cy="276999"/>
          </a:xfrm>
          <a:prstGeom prst="rect">
            <a:avLst/>
          </a:prstGeom>
          <a:noFill/>
        </p:spPr>
        <p:txBody>
          <a:bodyPr wrap="square" lIns="36576" tIns="0" rIns="36576" bIns="0" anchor="ctr">
            <a:spAutoFit/>
          </a:bodyPr>
          <a:lstStyle/>
          <a:p>
            <a:pPr algn="l">
              <a:defRPr sz="1800" b="0">
                <a:solidFill>
                  <a:srgbClr val="65786F"/>
                </a:solidFill>
                <a:latin typeface="Lato"/>
              </a:defRPr>
            </a:pPr>
            <a:r>
              <a:rPr>
                <a:latin typeface="Times New Roman" panose="02020603050405020304" pitchFamily="18" charset="0"/>
                <a:cs typeface="Times New Roman" panose="02020603050405020304" pitchFamily="18" charset="0"/>
              </a:rPr>
              <a:t>Required equity CAGR to 2030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25296" y="8214098"/>
            <a:ext cx="9253728" cy="369332"/>
          </a:xfrm>
          <a:prstGeom prst="rect">
            <a:avLst/>
          </a:prstGeom>
          <a:noFill/>
        </p:spPr>
        <p:txBody>
          <a:bodyPr wrap="square" lIns="36576" tIns="0" rIns="36576" bIns="0" anchor="ctr">
            <a:spAutoFit/>
          </a:bodyPr>
          <a:lstStyle/>
          <a:p>
            <a:pPr algn="l">
              <a:defRPr sz="2400" b="1">
                <a:solidFill>
                  <a:srgbClr val="2D4038"/>
                </a:solidFill>
                <a:latin typeface="Lato"/>
              </a:defRPr>
            </a:pPr>
            <a:r>
              <a:rPr>
                <a:latin typeface="Times New Roman" panose="02020603050405020304" pitchFamily="18" charset="0"/>
                <a:cs typeface="Times New Roman" panose="02020603050405020304" pitchFamily="18" charset="0"/>
              </a:rPr>
              <a:t>A $396k cash reserve remains after the 2025 commitment.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67512" y="306658"/>
            <a:ext cx="9144000" cy="246221"/>
          </a:xfrm>
          <a:prstGeom prst="rect">
            <a:avLst/>
          </a:prstGeom>
          <a:noFill/>
        </p:spPr>
        <p:txBody>
          <a:bodyPr wrap="square" lIns="36576" tIns="0" rIns="36576" bIns="0" anchor="ctr">
            <a:spAutoFit/>
          </a:bodyPr>
          <a:lstStyle/>
          <a:p>
            <a:pPr algn="l">
              <a:defRPr sz="1500" b="1">
                <a:solidFill>
                  <a:srgbClr val="125449"/>
                </a:solidFill>
                <a:latin typeface="Lato"/>
              </a:defRPr>
            </a:pPr>
            <a:r>
              <a:rPr sz="1600">
                <a:latin typeface="Times New Roman" panose="02020603050405020304" pitchFamily="18" charset="0"/>
                <a:cs typeface="Times New Roman" panose="02020603050405020304" pitchFamily="18" charset="0"/>
              </a:rPr>
              <a:t>KAPPA FOUNDATION  /  GROUP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252960" y="306658"/>
            <a:ext cx="5212080" cy="246221"/>
          </a:xfrm>
          <a:prstGeom prst="rect">
            <a:avLst/>
          </a:prstGeom>
          <a:noFill/>
        </p:spPr>
        <p:txBody>
          <a:bodyPr wrap="square" lIns="36576" tIns="0" rIns="36576" bIns="0" anchor="ctr">
            <a:spAutoFit/>
          </a:bodyPr>
          <a:lstStyle/>
          <a:p>
            <a:pPr algn="r">
              <a:defRPr sz="1500" b="1">
                <a:solidFill>
                  <a:srgbClr val="125449"/>
                </a:solidFill>
                <a:latin typeface="Lato"/>
              </a:defRPr>
            </a:pPr>
            <a:r>
              <a:rPr sz="1600">
                <a:latin typeface="Times New Roman" panose="02020603050405020304" pitchFamily="18" charset="0"/>
                <a:cs typeface="Times New Roman" panose="02020603050405020304" pitchFamily="18" charset="0"/>
              </a:rPr>
              <a:t>MANDATE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94944" y="832104"/>
            <a:ext cx="16888968" cy="0"/>
          </a:xfrm>
          <a:prstGeom prst="line">
            <a:avLst/>
          </a:prstGeom>
          <a:ln w="19050">
            <a:solidFill>
              <a:srgbClr val="12544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13232" y="1179350"/>
            <a:ext cx="16642080" cy="677108"/>
          </a:xfrm>
          <a:prstGeom prst="rect">
            <a:avLst/>
          </a:prstGeom>
          <a:noFill/>
        </p:spPr>
        <p:txBody>
          <a:bodyPr wrap="square" lIns="36576" tIns="0" rIns="36576" bIns="0" anchor="ctr">
            <a:spAutoFit/>
          </a:bodyPr>
          <a:lstStyle/>
          <a:p>
            <a:pPr algn="l">
              <a:defRPr sz="4300" b="1">
                <a:solidFill>
                  <a:srgbClr val="125449"/>
                </a:solidFill>
                <a:latin typeface="Lato"/>
              </a:defRPr>
            </a:pPr>
            <a:r>
              <a:rPr sz="4400">
                <a:latin typeface="Times New Roman" panose="02020603050405020304" pitchFamily="18" charset="0"/>
                <a:cs typeface="Times New Roman" panose="02020603050405020304" pitchFamily="18" charset="0"/>
              </a:rPr>
              <a:t>The $6m total stays the same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" y="2069330"/>
            <a:ext cx="16459200" cy="369332"/>
          </a:xfrm>
          <a:prstGeom prst="rect">
            <a:avLst/>
          </a:prstGeom>
          <a:noFill/>
        </p:spPr>
        <p:txBody>
          <a:bodyPr wrap="square" lIns="36576" tIns="0" rIns="36576" bIns="0" anchor="ctr">
            <a:spAutoFit/>
          </a:bodyPr>
          <a:lstStyle/>
          <a:p>
            <a:pPr algn="l">
              <a:defRPr sz="2100" b="0">
                <a:solidFill>
                  <a:srgbClr val="65786F"/>
                </a:solidFill>
                <a:latin typeface="Lato"/>
              </a:defRPr>
            </a:pP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Only the timing of the second commitment has changed.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035272" y="9711262"/>
            <a:ext cx="502920" cy="246221"/>
          </a:xfrm>
          <a:prstGeom prst="rect">
            <a:avLst/>
          </a:prstGeom>
          <a:noFill/>
        </p:spPr>
        <p:txBody>
          <a:bodyPr wrap="square" lIns="36576" tIns="0" rIns="36576" bIns="0" anchor="ctr">
            <a:spAutoFit/>
          </a:bodyPr>
          <a:lstStyle/>
          <a:p>
            <a:pPr algn="r">
              <a:defRPr sz="1400" b="1">
                <a:solidFill>
                  <a:srgbClr val="65786F"/>
                </a:solidFill>
                <a:latin typeface="Lato"/>
              </a:defRPr>
            </a:pPr>
            <a:r>
              <a:rPr sz="1600">
                <a:latin typeface="Times New Roman" panose="02020603050405020304" pitchFamily="18" charset="0"/>
                <a:cs typeface="Times New Roman" panose="02020603050405020304" pitchFamily="18" charset="0"/>
              </a:rPr>
              <a:t>03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2376" y="2852928"/>
            <a:ext cx="16824960" cy="6364224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10" name="Chart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17794337"/>
              </p:ext>
            </p:extLst>
          </p:nvPr>
        </p:nvGraphicFramePr>
        <p:xfrm>
          <a:off x="1280160" y="3401568"/>
          <a:ext cx="15032736" cy="504748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1975104" y="8515850"/>
            <a:ext cx="14502384" cy="369332"/>
          </a:xfrm>
          <a:prstGeom prst="rect">
            <a:avLst/>
          </a:prstGeom>
          <a:noFill/>
        </p:spPr>
        <p:txBody>
          <a:bodyPr wrap="square" lIns="36576" tIns="0" rIns="36576" bIns="0" anchor="ctr">
            <a:spAutoFit/>
          </a:bodyPr>
          <a:lstStyle/>
          <a:p>
            <a:pPr algn="ctr">
              <a:defRPr sz="2000" b="1">
                <a:solidFill>
                  <a:srgbClr val="125449"/>
                </a:solidFill>
                <a:latin typeface="Lato"/>
              </a:defRPr>
            </a:pPr>
            <a:r>
              <a:rPr sz="2400">
                <a:latin typeface="Times New Roman" panose="02020603050405020304" pitchFamily="18" charset="0"/>
                <a:cs typeface="Times New Roman" panose="02020603050405020304" pitchFamily="18" charset="0"/>
              </a:rPr>
              <a:t>Revised: $2.4m in 2024, $1.2m in 2025, $2.4m in 2027.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67512" y="306658"/>
            <a:ext cx="9144000" cy="246221"/>
          </a:xfrm>
          <a:prstGeom prst="rect">
            <a:avLst/>
          </a:prstGeom>
          <a:noFill/>
        </p:spPr>
        <p:txBody>
          <a:bodyPr wrap="square" lIns="36576" tIns="0" rIns="36576" bIns="0" anchor="ctr">
            <a:spAutoFit/>
          </a:bodyPr>
          <a:lstStyle/>
          <a:p>
            <a:pPr algn="l">
              <a:defRPr sz="1500" b="1">
                <a:solidFill>
                  <a:srgbClr val="125449"/>
                </a:solidFill>
                <a:latin typeface="Lato"/>
              </a:defRPr>
            </a:pPr>
            <a:r>
              <a:rPr sz="1600">
                <a:latin typeface="Times New Roman" panose="02020603050405020304" pitchFamily="18" charset="0"/>
                <a:cs typeface="Times New Roman" panose="02020603050405020304" pitchFamily="18" charset="0"/>
              </a:rPr>
              <a:t>KAPPA FOUNDATION  /  GROUP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252960" y="306658"/>
            <a:ext cx="5212080" cy="246221"/>
          </a:xfrm>
          <a:prstGeom prst="rect">
            <a:avLst/>
          </a:prstGeom>
          <a:noFill/>
        </p:spPr>
        <p:txBody>
          <a:bodyPr wrap="square" lIns="36576" tIns="0" rIns="36576" bIns="0" anchor="ctr">
            <a:spAutoFit/>
          </a:bodyPr>
          <a:lstStyle/>
          <a:p>
            <a:pPr algn="r">
              <a:defRPr sz="1500" b="1">
                <a:solidFill>
                  <a:srgbClr val="125449"/>
                </a:solidFill>
                <a:latin typeface="Lato"/>
              </a:defRPr>
            </a:pPr>
            <a:r>
              <a:rPr sz="1600">
                <a:latin typeface="Times New Roman" panose="02020603050405020304" pitchFamily="18" charset="0"/>
                <a:cs typeface="Times New Roman" panose="02020603050405020304" pitchFamily="18" charset="0"/>
              </a:rPr>
              <a:t>BOND STRATEGY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94944" y="832104"/>
            <a:ext cx="16888968" cy="0"/>
          </a:xfrm>
          <a:prstGeom prst="line">
            <a:avLst/>
          </a:prstGeom>
          <a:ln w="19050">
            <a:solidFill>
              <a:srgbClr val="12544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13232" y="1179350"/>
            <a:ext cx="16642080" cy="677108"/>
          </a:xfrm>
          <a:prstGeom prst="rect">
            <a:avLst/>
          </a:prstGeom>
          <a:noFill/>
        </p:spPr>
        <p:txBody>
          <a:bodyPr wrap="square" lIns="36576" tIns="0" rIns="36576" bIns="0" anchor="ctr">
            <a:spAutoFit/>
          </a:bodyPr>
          <a:lstStyle/>
          <a:p>
            <a:pPr algn="l">
              <a:defRPr sz="4300" b="1">
                <a:solidFill>
                  <a:srgbClr val="125449"/>
                </a:solidFill>
                <a:latin typeface="Lato"/>
              </a:defRPr>
            </a:pPr>
            <a:r>
              <a:rPr sz="4400">
                <a:latin typeface="Times New Roman" panose="02020603050405020304" pitchFamily="18" charset="0"/>
                <a:cs typeface="Times New Roman" panose="02020603050405020304" pitchFamily="18" charset="0"/>
              </a:rPr>
              <a:t>We give up growth capital for liquidity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" y="2069330"/>
            <a:ext cx="16459200" cy="369332"/>
          </a:xfrm>
          <a:prstGeom prst="rect">
            <a:avLst/>
          </a:prstGeom>
          <a:noFill/>
        </p:spPr>
        <p:txBody>
          <a:bodyPr wrap="square" lIns="36576" tIns="0" rIns="36576" bIns="0" anchor="ctr">
            <a:spAutoFit/>
          </a:bodyPr>
          <a:lstStyle/>
          <a:p>
            <a:pPr algn="l">
              <a:defRPr sz="2100" b="0">
                <a:solidFill>
                  <a:srgbClr val="65786F"/>
                </a:solidFill>
                <a:latin typeface="Lato"/>
              </a:defRPr>
            </a:pPr>
            <a:r>
              <a:rPr sz="2400">
                <a:latin typeface="Times New Roman" panose="02020603050405020304" pitchFamily="18" charset="0"/>
                <a:cs typeface="Times New Roman" panose="02020603050405020304" pitchFamily="18" charset="0"/>
              </a:rPr>
              <a:t>The coupon-funded alternative has more equities but almost no 2025 reserve.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035272" y="9711262"/>
            <a:ext cx="502920" cy="246221"/>
          </a:xfrm>
          <a:prstGeom prst="rect">
            <a:avLst/>
          </a:prstGeom>
          <a:noFill/>
        </p:spPr>
        <p:txBody>
          <a:bodyPr wrap="square" lIns="36576" tIns="0" rIns="36576" bIns="0" anchor="ctr">
            <a:spAutoFit/>
          </a:bodyPr>
          <a:lstStyle/>
          <a:p>
            <a:pPr algn="r">
              <a:defRPr sz="1400" b="1">
                <a:solidFill>
                  <a:srgbClr val="65786F"/>
                </a:solidFill>
                <a:latin typeface="Lato"/>
              </a:defRPr>
            </a:pPr>
            <a:r>
              <a:rPr sz="1600">
                <a:latin typeface="Times New Roman" panose="02020603050405020304" pitchFamily="18" charset="0"/>
                <a:cs typeface="Times New Roman" panose="02020603050405020304" pitchFamily="18" charset="0"/>
              </a:rPr>
              <a:t>04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852928"/>
            <a:ext cx="10405872" cy="63550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161288" y="3300424"/>
            <a:ext cx="9235440" cy="430887"/>
          </a:xfrm>
          <a:prstGeom prst="rect">
            <a:avLst/>
          </a:prstGeom>
          <a:noFill/>
        </p:spPr>
        <p:txBody>
          <a:bodyPr wrap="square" lIns="36576" tIns="0" rIns="36576" bIns="0" anchor="ctr">
            <a:spAutoFit/>
          </a:bodyPr>
          <a:lstStyle/>
          <a:p>
            <a:pPr algn="l">
              <a:defRPr sz="2500" b="1">
                <a:solidFill>
                  <a:srgbClr val="125449"/>
                </a:solidFill>
                <a:latin typeface="Lato"/>
              </a:defRPr>
            </a:pPr>
            <a:r>
              <a:rPr sz="2800">
                <a:latin typeface="Times New Roman" panose="02020603050405020304" pitchFamily="18" charset="0"/>
                <a:cs typeface="Times New Roman" panose="02020603050405020304" pitchFamily="18" charset="0"/>
              </a:rPr>
              <a:t>USD millions committed in 2022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59486197"/>
              </p:ext>
            </p:extLst>
          </p:nvPr>
        </p:nvGraphicFramePr>
        <p:xfrm>
          <a:off x="1188720" y="3995928"/>
          <a:ext cx="9628632" cy="39319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1243584" y="8201609"/>
            <a:ext cx="9244584" cy="430887"/>
          </a:xfrm>
          <a:prstGeom prst="rect">
            <a:avLst/>
          </a:prstGeom>
          <a:noFill/>
        </p:spPr>
        <p:txBody>
          <a:bodyPr wrap="square" lIns="36576" tIns="0" rIns="36576" bIns="0" anchor="ctr">
            <a:spAutoFit/>
          </a:bodyPr>
          <a:lstStyle/>
          <a:p>
            <a:pPr algn="l">
              <a:defRPr sz="2400" b="1">
                <a:solidFill>
                  <a:srgbClr val="BE7460"/>
                </a:solidFill>
                <a:latin typeface="Lato"/>
              </a:defRPr>
            </a:pPr>
            <a:r>
              <a:rPr sz="2800">
                <a:latin typeface="Times New Roman" panose="02020603050405020304" pitchFamily="18" charset="0"/>
                <a:cs typeface="Times New Roman" panose="02020603050405020304" pitchFamily="18" charset="0"/>
              </a:rPr>
              <a:t>Coupon funding adds $354k for equities.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84864" y="2852928"/>
            <a:ext cx="6080760" cy="6355080"/>
          </a:xfrm>
          <a:prstGeom prst="roundRect">
            <a:avLst>
              <a:gd name="adj" fmla="val 7000"/>
            </a:avLst>
          </a:prstGeom>
          <a:solidFill>
            <a:srgbClr val="EA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1868912" y="3387293"/>
            <a:ext cx="5221224" cy="430887"/>
          </a:xfrm>
          <a:prstGeom prst="rect">
            <a:avLst/>
          </a:prstGeom>
          <a:noFill/>
        </p:spPr>
        <p:txBody>
          <a:bodyPr wrap="square" lIns="36576" tIns="0" rIns="36576" bIns="0" anchor="ctr">
            <a:spAutoFit/>
          </a:bodyPr>
          <a:lstStyle/>
          <a:p>
            <a:pPr algn="l">
              <a:defRPr sz="2400" b="1">
                <a:solidFill>
                  <a:srgbClr val="2D4038"/>
                </a:solidFill>
                <a:latin typeface="Lato"/>
              </a:defRPr>
            </a:pPr>
            <a:r>
              <a:rPr sz="2800">
                <a:latin typeface="Times New Roman" panose="02020603050405020304" pitchFamily="18" charset="0"/>
                <a:cs typeface="Times New Roman" panose="02020603050405020304" pitchFamily="18" charset="0"/>
              </a:rPr>
              <a:t>Cash after the 2025 payment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905488" y="4289090"/>
            <a:ext cx="5202936" cy="830997"/>
          </a:xfrm>
          <a:prstGeom prst="rect">
            <a:avLst/>
          </a:prstGeom>
          <a:noFill/>
        </p:spPr>
        <p:txBody>
          <a:bodyPr wrap="square" lIns="36576" tIns="0" rIns="36576" bIns="0" anchor="ctr">
            <a:spAutoFit/>
          </a:bodyPr>
          <a:lstStyle/>
          <a:p>
            <a:pPr algn="l">
              <a:defRPr sz="5300" b="1">
                <a:solidFill>
                  <a:srgbClr val="125449"/>
                </a:solidFill>
                <a:latin typeface="Lato"/>
              </a:defRPr>
            </a:pPr>
            <a:r>
              <a:rPr sz="5400">
                <a:latin typeface="Times New Roman" panose="02020603050405020304" pitchFamily="18" charset="0"/>
                <a:cs typeface="Times New Roman" panose="02020603050405020304" pitchFamily="18" charset="0"/>
              </a:rPr>
              <a:t>$396k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951208" y="5210294"/>
            <a:ext cx="5102352" cy="369332"/>
          </a:xfrm>
          <a:prstGeom prst="rect">
            <a:avLst/>
          </a:prstGeom>
          <a:noFill/>
        </p:spPr>
        <p:txBody>
          <a:bodyPr wrap="square" lIns="36576" tIns="0" rIns="36576" bIns="0" anchor="ctr">
            <a:spAutoFit/>
          </a:bodyPr>
          <a:lstStyle/>
          <a:p>
            <a:pPr algn="l">
              <a:defRPr sz="2000" b="0">
                <a:solidFill>
                  <a:srgbClr val="2D4038"/>
                </a:solidFill>
                <a:latin typeface="Lato"/>
              </a:defRPr>
            </a:pPr>
            <a:r>
              <a:rPr sz="2400">
                <a:latin typeface="Times New Roman" panose="02020603050405020304" pitchFamily="18" charset="0"/>
                <a:cs typeface="Times New Roman" panose="02020603050405020304" pitchFamily="18" charset="0"/>
              </a:rPr>
              <a:t>Principal matching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1923776" y="5934456"/>
            <a:ext cx="5212080" cy="0"/>
          </a:xfrm>
          <a:prstGeom prst="line">
            <a:avLst/>
          </a:prstGeom>
          <a:ln w="15240">
            <a:solidFill>
              <a:srgbClr val="D4DC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1923776" y="6277130"/>
            <a:ext cx="5166360" cy="677108"/>
          </a:xfrm>
          <a:prstGeom prst="rect">
            <a:avLst/>
          </a:prstGeom>
          <a:noFill/>
        </p:spPr>
        <p:txBody>
          <a:bodyPr wrap="square" lIns="36576" tIns="0" rIns="36576" bIns="0" anchor="ctr">
            <a:spAutoFit/>
          </a:bodyPr>
          <a:lstStyle/>
          <a:p>
            <a:pPr algn="l">
              <a:defRPr sz="4100" b="1">
                <a:solidFill>
                  <a:srgbClr val="BE7460"/>
                </a:solidFill>
                <a:latin typeface="Lato"/>
              </a:defRPr>
            </a:pPr>
            <a:r>
              <a:rPr sz="4400">
                <a:latin typeface="Times New Roman" panose="02020603050405020304" pitchFamily="18" charset="0"/>
                <a:cs typeface="Times New Roman" panose="02020603050405020304" pitchFamily="18" charset="0"/>
              </a:rPr>
              <a:t>Nearly zero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942064" y="7144250"/>
            <a:ext cx="5084064" cy="369332"/>
          </a:xfrm>
          <a:prstGeom prst="rect">
            <a:avLst/>
          </a:prstGeom>
          <a:noFill/>
        </p:spPr>
        <p:txBody>
          <a:bodyPr wrap="square" lIns="36576" tIns="0" rIns="36576" bIns="0" anchor="ctr">
            <a:spAutoFit/>
          </a:bodyPr>
          <a:lstStyle/>
          <a:p>
            <a:pPr algn="l">
              <a:defRPr sz="2000" b="0">
                <a:solidFill>
                  <a:srgbClr val="2D4038"/>
                </a:solidFill>
                <a:latin typeface="Lato"/>
              </a:defRPr>
            </a:pPr>
            <a:r>
              <a:rPr sz="2400">
                <a:latin typeface="Times New Roman" panose="02020603050405020304" pitchFamily="18" charset="0"/>
                <a:cs typeface="Times New Roman" panose="02020603050405020304" pitchFamily="18" charset="0"/>
              </a:rPr>
              <a:t>Coupon funding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960352" y="8077718"/>
            <a:ext cx="5038344" cy="523220"/>
          </a:xfrm>
          <a:prstGeom prst="rect">
            <a:avLst/>
          </a:prstGeom>
          <a:noFill/>
        </p:spPr>
        <p:txBody>
          <a:bodyPr wrap="square" lIns="36576" tIns="0" rIns="36576" bIns="0" anchor="ctr">
            <a:spAutoFit/>
          </a:bodyPr>
          <a:lstStyle/>
          <a:p>
            <a:pPr algn="l">
              <a:defRPr sz="1700" b="0">
                <a:solidFill>
                  <a:srgbClr val="2D4038"/>
                </a:solidFill>
                <a:latin typeface="Lato"/>
              </a:defRPr>
            </a:pPr>
            <a:r>
              <a:rPr>
                <a:latin typeface="Times New Roman" panose="02020603050405020304" pitchFamily="18" charset="0"/>
                <a:cs typeface="Times New Roman" panose="02020603050405020304" pitchFamily="18" charset="0"/>
              </a:rPr>
              <a:t>Both cover the scheduled payments under our cash-flow assumptions.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67512" y="306658"/>
            <a:ext cx="9144000" cy="246221"/>
          </a:xfrm>
          <a:prstGeom prst="rect">
            <a:avLst/>
          </a:prstGeom>
          <a:noFill/>
        </p:spPr>
        <p:txBody>
          <a:bodyPr wrap="square" lIns="36576" tIns="0" rIns="36576" bIns="0" anchor="ctr">
            <a:spAutoFit/>
          </a:bodyPr>
          <a:lstStyle/>
          <a:p>
            <a:pPr algn="l">
              <a:defRPr sz="1500" b="1">
                <a:solidFill>
                  <a:srgbClr val="125449"/>
                </a:solidFill>
                <a:latin typeface="Lato"/>
              </a:defRPr>
            </a:pPr>
            <a:r>
              <a:rPr sz="1600">
                <a:latin typeface="Times New Roman" panose="02020603050405020304" pitchFamily="18" charset="0"/>
                <a:cs typeface="Times New Roman" panose="02020603050405020304" pitchFamily="18" charset="0"/>
              </a:rPr>
              <a:t>KAPPA FOUNDATION  /  GROUP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252960" y="306658"/>
            <a:ext cx="5212080" cy="246221"/>
          </a:xfrm>
          <a:prstGeom prst="rect">
            <a:avLst/>
          </a:prstGeom>
          <a:noFill/>
        </p:spPr>
        <p:txBody>
          <a:bodyPr wrap="square" lIns="36576" tIns="0" rIns="36576" bIns="0" anchor="ctr">
            <a:spAutoFit/>
          </a:bodyPr>
          <a:lstStyle/>
          <a:p>
            <a:pPr algn="r">
              <a:defRPr sz="1500" b="1">
                <a:solidFill>
                  <a:srgbClr val="125449"/>
                </a:solidFill>
                <a:latin typeface="Lato"/>
              </a:defRPr>
            </a:pPr>
            <a:r>
              <a:rPr sz="1600">
                <a:latin typeface="Times New Roman" panose="02020603050405020304" pitchFamily="18" charset="0"/>
                <a:cs typeface="Times New Roman" panose="02020603050405020304" pitchFamily="18" charset="0"/>
              </a:rPr>
              <a:t>BOND CASH FLOW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94944" y="832104"/>
            <a:ext cx="16888968" cy="0"/>
          </a:xfrm>
          <a:prstGeom prst="line">
            <a:avLst/>
          </a:prstGeom>
          <a:ln w="19050">
            <a:solidFill>
              <a:srgbClr val="12544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13232" y="1179350"/>
            <a:ext cx="16642080" cy="677108"/>
          </a:xfrm>
          <a:prstGeom prst="rect">
            <a:avLst/>
          </a:prstGeom>
          <a:noFill/>
        </p:spPr>
        <p:txBody>
          <a:bodyPr wrap="square" lIns="36576" tIns="0" rIns="36576" bIns="0" anchor="ctr">
            <a:spAutoFit/>
          </a:bodyPr>
          <a:lstStyle/>
          <a:p>
            <a:pPr algn="l">
              <a:defRPr sz="4300" b="1">
                <a:solidFill>
                  <a:srgbClr val="125449"/>
                </a:solidFill>
                <a:latin typeface="Lato"/>
              </a:defRPr>
            </a:pPr>
            <a:r>
              <a:rPr sz="4400">
                <a:latin typeface="Times New Roman" panose="02020603050405020304" pitchFamily="18" charset="0"/>
                <a:cs typeface="Times New Roman" panose="02020603050405020304" pitchFamily="18" charset="0"/>
              </a:rPr>
              <a:t>The 2025 payment has a cash cushion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" y="2069330"/>
            <a:ext cx="16459200" cy="369332"/>
          </a:xfrm>
          <a:prstGeom prst="rect">
            <a:avLst/>
          </a:prstGeom>
          <a:noFill/>
        </p:spPr>
        <p:txBody>
          <a:bodyPr wrap="square" lIns="36576" tIns="0" rIns="36576" bIns="0" anchor="ctr">
            <a:spAutoFit/>
          </a:bodyPr>
          <a:lstStyle/>
          <a:p>
            <a:pPr algn="l">
              <a:defRPr sz="2100" b="0">
                <a:solidFill>
                  <a:srgbClr val="65786F"/>
                </a:solidFill>
                <a:latin typeface="Lato"/>
              </a:defRPr>
            </a:pPr>
            <a:r>
              <a:rPr sz="2400">
                <a:latin typeface="Times New Roman" panose="02020603050405020304" pitchFamily="18" charset="0"/>
                <a:cs typeface="Times New Roman" panose="02020603050405020304" pitchFamily="18" charset="0"/>
              </a:rPr>
              <a:t>Selected bonds mature on time and coupons are retained at zero interest.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035272" y="9711262"/>
            <a:ext cx="502920" cy="246221"/>
          </a:xfrm>
          <a:prstGeom prst="rect">
            <a:avLst/>
          </a:prstGeom>
          <a:noFill/>
        </p:spPr>
        <p:txBody>
          <a:bodyPr wrap="square" lIns="36576" tIns="0" rIns="36576" bIns="0" anchor="ctr">
            <a:spAutoFit/>
          </a:bodyPr>
          <a:lstStyle/>
          <a:p>
            <a:pPr algn="r">
              <a:defRPr sz="1400" b="1">
                <a:solidFill>
                  <a:srgbClr val="65786F"/>
                </a:solidFill>
                <a:latin typeface="Lato"/>
              </a:defRPr>
            </a:pPr>
            <a:r>
              <a:rPr sz="1600">
                <a:latin typeface="Times New Roman" panose="02020603050405020304" pitchFamily="18" charset="0"/>
                <a:cs typeface="Times New Roman" panose="02020603050405020304" pitchFamily="18" charset="0"/>
              </a:rPr>
              <a:t>05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2852928"/>
            <a:ext cx="11292840" cy="6364224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10" name="Chart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37779563"/>
              </p:ext>
            </p:extLst>
          </p:nvPr>
        </p:nvGraphicFramePr>
        <p:xfrm>
          <a:off x="1069848" y="3465576"/>
          <a:ext cx="10543032" cy="522122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12252960" y="2852928"/>
            <a:ext cx="5303520" cy="6355080"/>
          </a:xfrm>
          <a:prstGeom prst="roundRect">
            <a:avLst>
              <a:gd name="adj" fmla="val 7000"/>
            </a:avLst>
          </a:prstGeom>
          <a:solidFill>
            <a:srgbClr val="EA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12435840" y="3099816"/>
            <a:ext cx="4946904" cy="2340864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12673584" y="3504938"/>
            <a:ext cx="4462272" cy="369332"/>
          </a:xfrm>
          <a:prstGeom prst="rect">
            <a:avLst/>
          </a:prstGeom>
          <a:noFill/>
        </p:spPr>
        <p:txBody>
          <a:bodyPr wrap="square" lIns="36576" tIns="0" rIns="36576" bIns="0" anchor="ctr">
            <a:spAutoFit/>
          </a:bodyPr>
          <a:lstStyle/>
          <a:p>
            <a:pPr algn="l">
              <a:defRPr sz="2000" b="1">
                <a:solidFill>
                  <a:srgbClr val="2D4038"/>
                </a:solidFill>
                <a:latin typeface="Lato"/>
              </a:defRPr>
            </a:pPr>
            <a:r>
              <a:rPr sz="2400">
                <a:latin typeface="Times New Roman" panose="02020603050405020304" pitchFamily="18" charset="0"/>
                <a:cs typeface="Times New Roman" panose="02020603050405020304" pitchFamily="18" charset="0"/>
              </a:rPr>
              <a:t>2025 principal maturity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646152" y="4123718"/>
            <a:ext cx="4553712" cy="677108"/>
          </a:xfrm>
          <a:prstGeom prst="rect">
            <a:avLst/>
          </a:prstGeom>
          <a:noFill/>
        </p:spPr>
        <p:txBody>
          <a:bodyPr wrap="square" lIns="36576" tIns="0" rIns="36576" bIns="0" anchor="ctr">
            <a:spAutoFit/>
          </a:bodyPr>
          <a:lstStyle/>
          <a:p>
            <a:pPr algn="l">
              <a:defRPr sz="4100" b="1">
                <a:solidFill>
                  <a:srgbClr val="125449"/>
                </a:solidFill>
                <a:latin typeface="Lato"/>
              </a:defRPr>
            </a:pPr>
            <a:r>
              <a:rPr sz="4400">
                <a:latin typeface="Times New Roman" panose="02020603050405020304" pitchFamily="18" charset="0"/>
                <a:cs typeface="Times New Roman" panose="02020603050405020304" pitchFamily="18" charset="0"/>
              </a:rPr>
              <a:t>$1.20m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664440" y="4933522"/>
            <a:ext cx="4471416" cy="246221"/>
          </a:xfrm>
          <a:prstGeom prst="rect">
            <a:avLst/>
          </a:prstGeom>
          <a:noFill/>
        </p:spPr>
        <p:txBody>
          <a:bodyPr wrap="square" lIns="36576" tIns="0" rIns="36576" bIns="0" anchor="ctr">
            <a:spAutoFit/>
          </a:bodyPr>
          <a:lstStyle/>
          <a:p>
            <a:pPr algn="l">
              <a:defRPr sz="1500" b="0">
                <a:solidFill>
                  <a:srgbClr val="65786F"/>
                </a:solidFill>
                <a:latin typeface="Lato"/>
              </a:defRPr>
            </a:pPr>
            <a:r>
              <a:rPr sz="1600">
                <a:latin typeface="Times New Roman" panose="02020603050405020304" pitchFamily="18" charset="0"/>
                <a:cs typeface="Times New Roman" panose="02020603050405020304" pitchFamily="18" charset="0"/>
              </a:rPr>
              <a:t>Gamma redemption covers the payment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719304" y="5809226"/>
            <a:ext cx="4361688" cy="369332"/>
          </a:xfrm>
          <a:prstGeom prst="rect">
            <a:avLst/>
          </a:prstGeom>
          <a:noFill/>
        </p:spPr>
        <p:txBody>
          <a:bodyPr wrap="square" lIns="36576" tIns="0" rIns="36576" bIns="0" anchor="ctr">
            <a:spAutoFit/>
          </a:bodyPr>
          <a:lstStyle/>
          <a:p>
            <a:pPr algn="l">
              <a:defRPr sz="2200" b="1">
                <a:solidFill>
                  <a:srgbClr val="2D4038"/>
                </a:solidFill>
                <a:latin typeface="Lato"/>
              </a:defRPr>
            </a:pPr>
            <a:r>
              <a:rPr sz="2400">
                <a:latin typeface="Times New Roman" panose="02020603050405020304" pitchFamily="18" charset="0"/>
                <a:cs typeface="Times New Roman" panose="02020603050405020304" pitchFamily="18" charset="0"/>
              </a:rPr>
              <a:t>2025 reserve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691872" y="6405146"/>
            <a:ext cx="4507992" cy="677108"/>
          </a:xfrm>
          <a:prstGeom prst="rect">
            <a:avLst/>
          </a:prstGeom>
          <a:noFill/>
        </p:spPr>
        <p:txBody>
          <a:bodyPr wrap="square" lIns="36576" tIns="0" rIns="36576" bIns="0" anchor="ctr">
            <a:spAutoFit/>
          </a:bodyPr>
          <a:lstStyle/>
          <a:p>
            <a:pPr algn="l">
              <a:defRPr sz="4000" b="1">
                <a:solidFill>
                  <a:srgbClr val="125449"/>
                </a:solidFill>
                <a:latin typeface="Lato"/>
              </a:defRPr>
            </a:pPr>
            <a:r>
              <a:rPr sz="4400">
                <a:latin typeface="Times New Roman" panose="02020603050405020304" pitchFamily="18" charset="0"/>
                <a:cs typeface="Times New Roman" panose="02020603050405020304" pitchFamily="18" charset="0"/>
              </a:rPr>
              <a:t>$396,000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2701016" y="7452360"/>
            <a:ext cx="4434840" cy="0"/>
          </a:xfrm>
          <a:prstGeom prst="line">
            <a:avLst/>
          </a:prstGeom>
          <a:ln w="15240">
            <a:solidFill>
              <a:srgbClr val="D4DC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12737592" y="7821686"/>
            <a:ext cx="4315968" cy="523220"/>
          </a:xfrm>
          <a:prstGeom prst="rect">
            <a:avLst/>
          </a:prstGeom>
          <a:noFill/>
        </p:spPr>
        <p:txBody>
          <a:bodyPr wrap="square" lIns="36576" tIns="0" rIns="36576" bIns="0" anchor="ctr">
            <a:spAutoFit/>
          </a:bodyPr>
          <a:lstStyle/>
          <a:p>
            <a:pPr algn="l">
              <a:defRPr sz="1700" b="0">
                <a:solidFill>
                  <a:srgbClr val="2D4038"/>
                </a:solidFill>
                <a:latin typeface="Lato"/>
              </a:defRPr>
            </a:pPr>
            <a:r>
              <a:rPr>
                <a:latin typeface="Times New Roman" panose="02020603050405020304" pitchFamily="18" charset="0"/>
                <a:cs typeface="Times New Roman" panose="02020603050405020304" pitchFamily="18" charset="0"/>
              </a:rPr>
              <a:t>The cash balance is after paying the $1.2m commitment.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67512" y="306658"/>
            <a:ext cx="9144000" cy="246221"/>
          </a:xfrm>
          <a:prstGeom prst="rect">
            <a:avLst/>
          </a:prstGeom>
          <a:noFill/>
        </p:spPr>
        <p:txBody>
          <a:bodyPr wrap="square" lIns="36576" tIns="0" rIns="36576" bIns="0" anchor="ctr">
            <a:spAutoFit/>
          </a:bodyPr>
          <a:lstStyle/>
          <a:p>
            <a:pPr algn="l">
              <a:defRPr sz="1500" b="1">
                <a:solidFill>
                  <a:srgbClr val="125449"/>
                </a:solidFill>
                <a:latin typeface="Lato"/>
              </a:defRPr>
            </a:pPr>
            <a:r>
              <a:rPr sz="1600">
                <a:latin typeface="Times New Roman" panose="02020603050405020304" pitchFamily="18" charset="0"/>
                <a:cs typeface="Times New Roman" panose="02020603050405020304" pitchFamily="18" charset="0"/>
              </a:rPr>
              <a:t>KAPPA FOUNDATION  /  GROUP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252960" y="306658"/>
            <a:ext cx="5212080" cy="246221"/>
          </a:xfrm>
          <a:prstGeom prst="rect">
            <a:avLst/>
          </a:prstGeom>
          <a:noFill/>
        </p:spPr>
        <p:txBody>
          <a:bodyPr wrap="square" lIns="36576" tIns="0" rIns="36576" bIns="0" anchor="ctr">
            <a:spAutoFit/>
          </a:bodyPr>
          <a:lstStyle/>
          <a:p>
            <a:pPr algn="r">
              <a:defRPr sz="1500" b="1">
                <a:solidFill>
                  <a:srgbClr val="125449"/>
                </a:solidFill>
                <a:latin typeface="Lato"/>
              </a:defRPr>
            </a:pPr>
            <a:r>
              <a:rPr sz="1600">
                <a:latin typeface="Times New Roman" panose="02020603050405020304" pitchFamily="18" charset="0"/>
                <a:cs typeface="Times New Roman" panose="02020603050405020304" pitchFamily="18" charset="0"/>
              </a:rPr>
              <a:t>BOND MODEL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94944" y="832104"/>
            <a:ext cx="16888968" cy="0"/>
          </a:xfrm>
          <a:prstGeom prst="line">
            <a:avLst/>
          </a:prstGeom>
          <a:ln w="19050">
            <a:solidFill>
              <a:srgbClr val="12544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13232" y="1179350"/>
            <a:ext cx="16642080" cy="677108"/>
          </a:xfrm>
          <a:prstGeom prst="rect">
            <a:avLst/>
          </a:prstGeom>
          <a:noFill/>
        </p:spPr>
        <p:txBody>
          <a:bodyPr wrap="square" lIns="36576" tIns="0" rIns="36576" bIns="0" anchor="ctr">
            <a:spAutoFit/>
          </a:bodyPr>
          <a:lstStyle/>
          <a:p>
            <a:pPr algn="l">
              <a:defRPr sz="4300" b="1">
                <a:solidFill>
                  <a:srgbClr val="125449"/>
                </a:solidFill>
                <a:latin typeface="Lato"/>
              </a:defRPr>
            </a:pPr>
            <a:r>
              <a:rPr sz="4400">
                <a:latin typeface="Times New Roman" panose="02020603050405020304" pitchFamily="18" charset="0"/>
                <a:cs typeface="Times New Roman" panose="02020603050405020304" pitchFamily="18" charset="0"/>
              </a:rPr>
              <a:t>Bond pricing still responds to yields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" y="2069330"/>
            <a:ext cx="16459200" cy="369332"/>
          </a:xfrm>
          <a:prstGeom prst="rect">
            <a:avLst/>
          </a:prstGeom>
          <a:noFill/>
        </p:spPr>
        <p:txBody>
          <a:bodyPr wrap="square" lIns="36576" tIns="0" rIns="36576" bIns="0" anchor="ctr">
            <a:spAutoFit/>
          </a:bodyPr>
          <a:lstStyle/>
          <a:p>
            <a:pPr algn="l">
              <a:defRPr sz="2100" b="0">
                <a:solidFill>
                  <a:srgbClr val="65786F"/>
                </a:solidFill>
                <a:latin typeface="Lato"/>
              </a:defRPr>
            </a:pPr>
            <a:r>
              <a:rPr sz="2400">
                <a:latin typeface="Times New Roman" panose="02020603050405020304" pitchFamily="18" charset="0"/>
                <a:cs typeface="Times New Roman" panose="02020603050405020304" pitchFamily="18" charset="0"/>
              </a:rPr>
              <a:t>Holding bonds to maturity reduces funding risk, not market-price volatility.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035272" y="9711262"/>
            <a:ext cx="502920" cy="246221"/>
          </a:xfrm>
          <a:prstGeom prst="rect">
            <a:avLst/>
          </a:prstGeom>
          <a:noFill/>
        </p:spPr>
        <p:txBody>
          <a:bodyPr wrap="square" lIns="36576" tIns="0" rIns="36576" bIns="0" anchor="ctr">
            <a:spAutoFit/>
          </a:bodyPr>
          <a:lstStyle/>
          <a:p>
            <a:pPr algn="r">
              <a:defRPr sz="1400" b="1">
                <a:solidFill>
                  <a:srgbClr val="65786F"/>
                </a:solidFill>
                <a:latin typeface="Lato"/>
              </a:defRPr>
            </a:pPr>
            <a:r>
              <a:rPr sz="1600">
                <a:latin typeface="Times New Roman" panose="02020603050405020304" pitchFamily="18" charset="0"/>
                <a:cs typeface="Times New Roman" panose="02020603050405020304" pitchFamily="18" charset="0"/>
              </a:rPr>
              <a:t>06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2852928"/>
            <a:ext cx="10451592" cy="63550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170432" y="3300424"/>
            <a:ext cx="9070848" cy="430887"/>
          </a:xfrm>
          <a:prstGeom prst="rect">
            <a:avLst/>
          </a:prstGeom>
          <a:noFill/>
        </p:spPr>
        <p:txBody>
          <a:bodyPr wrap="square" lIns="36576" tIns="0" rIns="36576" bIns="0" anchor="ctr">
            <a:spAutoFit/>
          </a:bodyPr>
          <a:lstStyle/>
          <a:p>
            <a:pPr algn="l">
              <a:defRPr sz="2500" b="1">
                <a:solidFill>
                  <a:srgbClr val="125449"/>
                </a:solidFill>
                <a:latin typeface="Lato"/>
              </a:defRPr>
            </a:pPr>
            <a:r>
              <a:rPr sz="2800">
                <a:latin typeface="Times New Roman" panose="02020603050405020304" pitchFamily="18" charset="0"/>
                <a:cs typeface="Times New Roman" panose="02020603050405020304" pitchFamily="18" charset="0"/>
              </a:rPr>
              <a:t>Price response to a parallel +100bp shock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09030969"/>
              </p:ext>
            </p:extLst>
          </p:nvPr>
        </p:nvGraphicFramePr>
        <p:xfrm>
          <a:off x="1161288" y="3977639"/>
          <a:ext cx="9528048" cy="395935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1170432" y="8401550"/>
            <a:ext cx="9098280" cy="369332"/>
          </a:xfrm>
          <a:prstGeom prst="rect">
            <a:avLst/>
          </a:prstGeom>
          <a:noFill/>
        </p:spPr>
        <p:txBody>
          <a:bodyPr wrap="square" lIns="36576" tIns="0" rIns="36576" bIns="0" anchor="ctr">
            <a:spAutoFit/>
          </a:bodyPr>
          <a:lstStyle/>
          <a:p>
            <a:pPr algn="l">
              <a:defRPr sz="2100" b="1">
                <a:solidFill>
                  <a:srgbClr val="2D4038"/>
                </a:solidFill>
                <a:latin typeface="Lato"/>
              </a:defRPr>
            </a:pPr>
            <a:r>
              <a:rPr sz="2400">
                <a:latin typeface="Times New Roman" panose="02020603050405020304" pitchFamily="18" charset="0"/>
                <a:cs typeface="Times New Roman" panose="02020603050405020304" pitchFamily="18" charset="0"/>
              </a:rPr>
              <a:t>A valuation shock is not a missed bond payment.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94008" y="2852928"/>
            <a:ext cx="6062472" cy="6355080"/>
          </a:xfrm>
          <a:prstGeom prst="roundRect">
            <a:avLst>
              <a:gd name="adj" fmla="val 7000"/>
            </a:avLst>
          </a:prstGeom>
          <a:solidFill>
            <a:srgbClr val="EA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1951208" y="3349489"/>
            <a:ext cx="5129784" cy="369332"/>
          </a:xfrm>
          <a:prstGeom prst="rect">
            <a:avLst/>
          </a:prstGeom>
          <a:noFill/>
        </p:spPr>
        <p:txBody>
          <a:bodyPr wrap="square" lIns="36576" tIns="0" rIns="36576" bIns="0" anchor="ctr">
            <a:spAutoFit/>
          </a:bodyPr>
          <a:lstStyle/>
          <a:p>
            <a:pPr algn="l">
              <a:defRPr sz="2200" b="1">
                <a:solidFill>
                  <a:srgbClr val="125449"/>
                </a:solidFill>
                <a:latin typeface="Lato"/>
              </a:defRPr>
            </a:pPr>
            <a:r>
              <a:rPr sz="2400">
                <a:latin typeface="Times New Roman" panose="02020603050405020304" pitchFamily="18" charset="0"/>
                <a:cs typeface="Times New Roman" panose="02020603050405020304" pitchFamily="18" charset="0"/>
              </a:rPr>
              <a:t>Case-date present value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1878056" y="4041648"/>
            <a:ext cx="5294376" cy="13441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12106656" y="4475429"/>
            <a:ext cx="4910328" cy="430887"/>
          </a:xfrm>
          <a:prstGeom prst="rect">
            <a:avLst/>
          </a:prstGeom>
          <a:noFill/>
        </p:spPr>
        <p:txBody>
          <a:bodyPr wrap="square" lIns="36576" tIns="0" rIns="36576" bIns="0" anchor="ctr">
            <a:spAutoFit/>
          </a:bodyPr>
          <a:lstStyle/>
          <a:p>
            <a:pPr algn="ctr">
              <a:defRPr sz="2700" b="1">
                <a:solidFill>
                  <a:srgbClr val="125449"/>
                </a:solidFill>
                <a:latin typeface="Lato"/>
              </a:defRPr>
            </a:pPr>
            <a:r>
              <a:rPr sz="2800">
                <a:latin typeface="Times New Roman" panose="02020603050405020304" pitchFamily="18" charset="0"/>
                <a:cs typeface="Times New Roman" panose="02020603050405020304" pitchFamily="18" charset="0"/>
              </a:rPr>
              <a:t>P = Σ CFt / (1 + y)^t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951208" y="5804654"/>
            <a:ext cx="5001768" cy="369332"/>
          </a:xfrm>
          <a:prstGeom prst="rect">
            <a:avLst/>
          </a:prstGeom>
          <a:noFill/>
        </p:spPr>
        <p:txBody>
          <a:bodyPr wrap="square" lIns="36576" tIns="0" rIns="36576" bIns="0" anchor="ctr">
            <a:spAutoFit/>
          </a:bodyPr>
          <a:lstStyle/>
          <a:p>
            <a:pPr algn="l">
              <a:defRPr sz="2100" b="1">
                <a:solidFill>
                  <a:srgbClr val="2D4038"/>
                </a:solidFill>
                <a:latin typeface="Lato"/>
              </a:defRPr>
            </a:pPr>
            <a:r>
              <a:rPr sz="2400">
                <a:latin typeface="Times New Roman" panose="02020603050405020304" pitchFamily="18" charset="0"/>
                <a:cs typeface="Times New Roman" panose="02020603050405020304" pitchFamily="18" charset="0"/>
              </a:rPr>
              <a:t>Rate approximation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878056" y="6428232"/>
            <a:ext cx="5285232" cy="141732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12060936" y="6804136"/>
            <a:ext cx="4965192" cy="738664"/>
          </a:xfrm>
          <a:prstGeom prst="rect">
            <a:avLst/>
          </a:prstGeom>
          <a:noFill/>
        </p:spPr>
        <p:txBody>
          <a:bodyPr wrap="square" lIns="36576" tIns="0" rIns="36576" bIns="0" anchor="ctr">
            <a:spAutoFit/>
          </a:bodyPr>
          <a:lstStyle/>
          <a:p>
            <a:pPr algn="ctr">
              <a:defRPr sz="2200" b="1">
                <a:solidFill>
                  <a:srgbClr val="125449"/>
                </a:solidFill>
                <a:latin typeface="Lato"/>
              </a:defRPr>
            </a:pPr>
            <a:r>
              <a:rPr sz="2400">
                <a:latin typeface="Times New Roman" panose="02020603050405020304" pitchFamily="18" charset="0"/>
                <a:cs typeface="Times New Roman" panose="02020603050405020304" pitchFamily="18" charset="0"/>
              </a:rPr>
              <a:t>ΔP/P ≈ −Dmod Δy</a:t>
            </a:r>
          </a:p>
          <a:p>
            <a:pPr algn="ctr">
              <a:defRPr sz="2200" b="1">
                <a:solidFill>
                  <a:srgbClr val="125449"/>
                </a:solidFill>
                <a:latin typeface="Lato"/>
              </a:defRPr>
            </a:pPr>
            <a:r>
              <a:rPr sz="2400">
                <a:latin typeface="Times New Roman" panose="02020603050405020304" pitchFamily="18" charset="0"/>
                <a:cs typeface="Times New Roman" panose="02020603050405020304" pitchFamily="18" charset="0"/>
              </a:rPr>
              <a:t>+ ½ Convexity (Δy)^2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951208" y="8367093"/>
            <a:ext cx="5129784" cy="246221"/>
          </a:xfrm>
          <a:prstGeom prst="rect">
            <a:avLst/>
          </a:prstGeom>
          <a:noFill/>
        </p:spPr>
        <p:txBody>
          <a:bodyPr wrap="square" lIns="36576" tIns="0" rIns="36576" bIns="0" anchor="ctr">
            <a:spAutoFit/>
          </a:bodyPr>
          <a:lstStyle/>
          <a:p>
            <a:pPr algn="l">
              <a:defRPr sz="1600" b="0">
                <a:solidFill>
                  <a:srgbClr val="65786F"/>
                </a:solidFill>
                <a:latin typeface="Lato"/>
              </a:defRPr>
            </a:pPr>
            <a:r>
              <a:rPr>
                <a:latin typeface="Times New Roman" panose="02020603050405020304" pitchFamily="18" charset="0"/>
                <a:cs typeface="Times New Roman" panose="02020603050405020304" pitchFamily="18" charset="0"/>
              </a:rPr>
              <a:t>Bond marks are modeled, not historical market prices.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67512" y="306658"/>
            <a:ext cx="9144000" cy="246221"/>
          </a:xfrm>
          <a:prstGeom prst="rect">
            <a:avLst/>
          </a:prstGeom>
          <a:noFill/>
        </p:spPr>
        <p:txBody>
          <a:bodyPr wrap="square" lIns="36576" tIns="0" rIns="36576" bIns="0" anchor="ctr">
            <a:spAutoFit/>
          </a:bodyPr>
          <a:lstStyle/>
          <a:p>
            <a:pPr algn="l">
              <a:defRPr sz="1500" b="1">
                <a:solidFill>
                  <a:srgbClr val="125449"/>
                </a:solidFill>
                <a:latin typeface="Lato"/>
              </a:defRPr>
            </a:pPr>
            <a:r>
              <a:rPr sz="1600">
                <a:latin typeface="Times New Roman" panose="02020603050405020304" pitchFamily="18" charset="0"/>
                <a:cs typeface="Times New Roman" panose="02020603050405020304" pitchFamily="18" charset="0"/>
              </a:rPr>
              <a:t>KAPPA FOUNDATION  /  GROUP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252960" y="306658"/>
            <a:ext cx="5212080" cy="246221"/>
          </a:xfrm>
          <a:prstGeom prst="rect">
            <a:avLst/>
          </a:prstGeom>
          <a:noFill/>
        </p:spPr>
        <p:txBody>
          <a:bodyPr wrap="square" lIns="36576" tIns="0" rIns="36576" bIns="0" anchor="ctr">
            <a:spAutoFit/>
          </a:bodyPr>
          <a:lstStyle/>
          <a:p>
            <a:pPr algn="r">
              <a:defRPr sz="1500" b="1">
                <a:solidFill>
                  <a:srgbClr val="125449"/>
                </a:solidFill>
                <a:latin typeface="Lato"/>
              </a:defRPr>
            </a:pPr>
            <a:r>
              <a:rPr sz="1600">
                <a:latin typeface="Times New Roman" panose="02020603050405020304" pitchFamily="18" charset="0"/>
                <a:cs typeface="Times New Roman" panose="02020603050405020304" pitchFamily="18" charset="0"/>
              </a:rPr>
              <a:t>INITIAL CAPITAL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94944" y="832104"/>
            <a:ext cx="16888968" cy="0"/>
          </a:xfrm>
          <a:prstGeom prst="line">
            <a:avLst/>
          </a:prstGeom>
          <a:ln w="19050">
            <a:solidFill>
              <a:srgbClr val="12544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13232" y="1179350"/>
            <a:ext cx="16642080" cy="677108"/>
          </a:xfrm>
          <a:prstGeom prst="rect">
            <a:avLst/>
          </a:prstGeom>
          <a:noFill/>
        </p:spPr>
        <p:txBody>
          <a:bodyPr wrap="square" lIns="36576" tIns="0" rIns="36576" bIns="0" anchor="ctr">
            <a:spAutoFit/>
          </a:bodyPr>
          <a:lstStyle/>
          <a:p>
            <a:pPr algn="l">
              <a:defRPr sz="4300" b="1">
                <a:solidFill>
                  <a:srgbClr val="125449"/>
                </a:solidFill>
                <a:latin typeface="Lato"/>
              </a:defRPr>
            </a:pPr>
            <a:r>
              <a:rPr sz="4400">
                <a:latin typeface="Times New Roman" panose="02020603050405020304" pitchFamily="18" charset="0"/>
                <a:cs typeface="Times New Roman" panose="02020603050405020304" pitchFamily="18" charset="0"/>
              </a:rPr>
              <a:t>Where the full $12 million goes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" y="2069330"/>
            <a:ext cx="16459200" cy="369332"/>
          </a:xfrm>
          <a:prstGeom prst="rect">
            <a:avLst/>
          </a:prstGeom>
          <a:noFill/>
        </p:spPr>
        <p:txBody>
          <a:bodyPr wrap="square" lIns="36576" tIns="0" rIns="36576" bIns="0" anchor="ctr">
            <a:spAutoFit/>
          </a:bodyPr>
          <a:lstStyle/>
          <a:p>
            <a:pPr algn="l">
              <a:defRPr sz="2100" b="0">
                <a:solidFill>
                  <a:srgbClr val="65786F"/>
                </a:solidFill>
                <a:latin typeface="Lato"/>
              </a:defRPr>
            </a:pPr>
            <a:r>
              <a:rPr sz="2400">
                <a:latin typeface="Times New Roman" panose="02020603050405020304" pitchFamily="18" charset="0"/>
                <a:cs typeface="Times New Roman" panose="02020603050405020304" pitchFamily="18" charset="0"/>
              </a:rPr>
              <a:t>We show the entry fee separately to keep the allocation accurate.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035272" y="9711262"/>
            <a:ext cx="502920" cy="246221"/>
          </a:xfrm>
          <a:prstGeom prst="rect">
            <a:avLst/>
          </a:prstGeom>
          <a:noFill/>
        </p:spPr>
        <p:txBody>
          <a:bodyPr wrap="square" lIns="36576" tIns="0" rIns="36576" bIns="0" anchor="ctr">
            <a:spAutoFit/>
          </a:bodyPr>
          <a:lstStyle/>
          <a:p>
            <a:pPr algn="r">
              <a:defRPr sz="1400" b="1">
                <a:solidFill>
                  <a:srgbClr val="65786F"/>
                </a:solidFill>
                <a:latin typeface="Lato"/>
              </a:defRPr>
            </a:pPr>
            <a:r>
              <a:rPr sz="1600">
                <a:latin typeface="Times New Roman" panose="02020603050405020304" pitchFamily="18" charset="0"/>
                <a:cs typeface="Times New Roman" panose="02020603050405020304" pitchFamily="18" charset="0"/>
              </a:rPr>
              <a:t>07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2852928"/>
            <a:ext cx="10607040" cy="63550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10" name="Chart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6377108"/>
              </p:ext>
            </p:extLst>
          </p:nvPr>
        </p:nvGraphicFramePr>
        <p:xfrm>
          <a:off x="1316736" y="3300984"/>
          <a:ext cx="9061704" cy="5440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11603736" y="2852928"/>
            <a:ext cx="5952744" cy="6355080"/>
          </a:xfrm>
          <a:prstGeom prst="roundRect">
            <a:avLst>
              <a:gd name="adj" fmla="val 7000"/>
            </a:avLst>
          </a:prstGeom>
          <a:solidFill>
            <a:srgbClr val="EA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11978640" y="3376922"/>
            <a:ext cx="5184648" cy="369332"/>
          </a:xfrm>
          <a:prstGeom prst="rect">
            <a:avLst/>
          </a:prstGeom>
          <a:noFill/>
        </p:spPr>
        <p:txBody>
          <a:bodyPr wrap="square" lIns="36576" tIns="0" rIns="36576" bIns="0" anchor="ctr">
            <a:spAutoFit/>
          </a:bodyPr>
          <a:lstStyle/>
          <a:p>
            <a:pPr algn="l">
              <a:defRPr sz="2200" b="1">
                <a:solidFill>
                  <a:srgbClr val="2D4038"/>
                </a:solidFill>
                <a:latin typeface="Lato"/>
              </a:defRPr>
            </a:pPr>
            <a:r>
              <a:rPr sz="2400">
                <a:latin typeface="Times New Roman" panose="02020603050405020304" pitchFamily="18" charset="0"/>
                <a:cs typeface="Times New Roman" panose="02020603050405020304" pitchFamily="18" charset="0"/>
              </a:rPr>
              <a:t>Net equity purchased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951208" y="4138214"/>
            <a:ext cx="5358384" cy="830997"/>
          </a:xfrm>
          <a:prstGeom prst="rect">
            <a:avLst/>
          </a:prstGeom>
          <a:noFill/>
        </p:spPr>
        <p:txBody>
          <a:bodyPr wrap="square" lIns="36576" tIns="0" rIns="36576" bIns="0" anchor="ctr">
            <a:spAutoFit/>
          </a:bodyPr>
          <a:lstStyle/>
          <a:p>
            <a:pPr algn="l">
              <a:defRPr sz="5300" b="1">
                <a:solidFill>
                  <a:srgbClr val="125449"/>
                </a:solidFill>
                <a:latin typeface="Lato"/>
              </a:defRPr>
            </a:pPr>
            <a:r>
              <a:rPr sz="5400">
                <a:latin typeface="Times New Roman" panose="02020603050405020304" pitchFamily="18" charset="0"/>
                <a:cs typeface="Times New Roman" panose="02020603050405020304" pitchFamily="18" charset="0"/>
              </a:rPr>
              <a:t>$6.210m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1978640" y="5303520"/>
            <a:ext cx="5193792" cy="0"/>
          </a:xfrm>
          <a:prstGeom prst="line">
            <a:avLst/>
          </a:prstGeom>
          <a:ln w="15240">
            <a:solidFill>
              <a:srgbClr val="D4DC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12015216" y="5795510"/>
            <a:ext cx="5020056" cy="369332"/>
          </a:xfrm>
          <a:prstGeom prst="rect">
            <a:avLst/>
          </a:prstGeom>
          <a:noFill/>
        </p:spPr>
        <p:txBody>
          <a:bodyPr wrap="square" lIns="36576" tIns="0" rIns="36576" bIns="0" anchor="ctr">
            <a:spAutoFit/>
          </a:bodyPr>
          <a:lstStyle/>
          <a:p>
            <a:pPr algn="l">
              <a:defRPr sz="2300" b="1">
                <a:solidFill>
                  <a:srgbClr val="2D4038"/>
                </a:solidFill>
                <a:latin typeface="Lato"/>
              </a:defRPr>
            </a:pPr>
            <a:r>
              <a:rPr sz="2400">
                <a:latin typeface="Times New Roman" panose="02020603050405020304" pitchFamily="18" charset="0"/>
                <a:cs typeface="Times New Roman" panose="02020603050405020304" pitchFamily="18" charset="0"/>
              </a:rPr>
              <a:t>Entry fee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978640" y="6464808"/>
            <a:ext cx="5266944" cy="1216152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2152376" y="6865358"/>
            <a:ext cx="4910328" cy="369332"/>
          </a:xfrm>
          <a:prstGeom prst="rect">
            <a:avLst/>
          </a:prstGeom>
          <a:noFill/>
        </p:spPr>
        <p:txBody>
          <a:bodyPr wrap="square" lIns="36576" tIns="0" rIns="36576" bIns="0" anchor="ctr">
            <a:spAutoFit/>
          </a:bodyPr>
          <a:lstStyle/>
          <a:p>
            <a:pPr algn="ctr">
              <a:defRPr sz="2000" b="1">
                <a:solidFill>
                  <a:srgbClr val="125449"/>
                </a:solidFill>
                <a:latin typeface="Lato"/>
              </a:defRPr>
            </a:pPr>
            <a:r>
              <a:rPr sz="2400">
                <a:latin typeface="Times New Roman" panose="02020603050405020304" pitchFamily="18" charset="0"/>
                <a:cs typeface="Times New Roman" panose="02020603050405020304" pitchFamily="18" charset="0"/>
              </a:rPr>
              <a:t>E = (12m − Bond Cost) / 1.001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051792" y="8162578"/>
            <a:ext cx="5120640" cy="307777"/>
          </a:xfrm>
          <a:prstGeom prst="rect">
            <a:avLst/>
          </a:prstGeom>
          <a:noFill/>
        </p:spPr>
        <p:txBody>
          <a:bodyPr wrap="square" lIns="36576" tIns="0" rIns="36576" bIns="0" anchor="ctr">
            <a:spAutoFit/>
          </a:bodyPr>
          <a:lstStyle/>
          <a:p>
            <a:pPr algn="l">
              <a:defRPr sz="1800" b="0">
                <a:solidFill>
                  <a:srgbClr val="65786F"/>
                </a:solidFill>
                <a:latin typeface="Lato"/>
              </a:defRPr>
            </a:pPr>
            <a:r>
              <a:rPr sz="2000">
                <a:latin typeface="Times New Roman" panose="02020603050405020304" pitchFamily="18" charset="0"/>
                <a:cs typeface="Times New Roman" panose="02020603050405020304" pitchFamily="18" charset="0"/>
              </a:rPr>
              <a:t>Ten basis points: about $6,210.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67512" y="306658"/>
            <a:ext cx="9144000" cy="246221"/>
          </a:xfrm>
          <a:prstGeom prst="rect">
            <a:avLst/>
          </a:prstGeom>
          <a:noFill/>
        </p:spPr>
        <p:txBody>
          <a:bodyPr wrap="square" lIns="36576" tIns="0" rIns="36576" bIns="0" anchor="ctr">
            <a:spAutoFit/>
          </a:bodyPr>
          <a:lstStyle/>
          <a:p>
            <a:pPr algn="l">
              <a:defRPr sz="1500" b="1">
                <a:solidFill>
                  <a:srgbClr val="125449"/>
                </a:solidFill>
                <a:latin typeface="Lato"/>
              </a:defRPr>
            </a:pPr>
            <a:r>
              <a:rPr sz="1600">
                <a:latin typeface="Times New Roman" panose="02020603050405020304" pitchFamily="18" charset="0"/>
                <a:cs typeface="Times New Roman" panose="02020603050405020304" pitchFamily="18" charset="0"/>
              </a:rPr>
              <a:t>KAPPA FOUNDATION  /  GROUP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252960" y="306658"/>
            <a:ext cx="5212080" cy="246221"/>
          </a:xfrm>
          <a:prstGeom prst="rect">
            <a:avLst/>
          </a:prstGeom>
          <a:noFill/>
        </p:spPr>
        <p:txBody>
          <a:bodyPr wrap="square" lIns="36576" tIns="0" rIns="36576" bIns="0" anchor="ctr">
            <a:spAutoFit/>
          </a:bodyPr>
          <a:lstStyle/>
          <a:p>
            <a:pPr algn="r">
              <a:defRPr sz="1500" b="1">
                <a:solidFill>
                  <a:srgbClr val="125449"/>
                </a:solidFill>
                <a:latin typeface="Lato"/>
              </a:defRPr>
            </a:pPr>
            <a:r>
              <a:rPr sz="1600">
                <a:latin typeface="Times New Roman" panose="02020603050405020304" pitchFamily="18" charset="0"/>
                <a:cs typeface="Times New Roman" panose="02020603050405020304" pitchFamily="18" charset="0"/>
              </a:rPr>
              <a:t>STOCK ALLOCATION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94944" y="832104"/>
            <a:ext cx="16888968" cy="0"/>
          </a:xfrm>
          <a:prstGeom prst="line">
            <a:avLst/>
          </a:prstGeom>
          <a:ln w="19050">
            <a:solidFill>
              <a:srgbClr val="12544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13232" y="1179350"/>
            <a:ext cx="16642080" cy="677108"/>
          </a:xfrm>
          <a:prstGeom prst="rect">
            <a:avLst/>
          </a:prstGeom>
          <a:noFill/>
        </p:spPr>
        <p:txBody>
          <a:bodyPr wrap="square" lIns="36576" tIns="0" rIns="36576" bIns="0" anchor="ctr">
            <a:spAutoFit/>
          </a:bodyPr>
          <a:lstStyle/>
          <a:p>
            <a:pPr algn="l">
              <a:defRPr sz="4300" b="1">
                <a:solidFill>
                  <a:srgbClr val="125449"/>
                </a:solidFill>
                <a:latin typeface="Lato"/>
              </a:defRPr>
            </a:pPr>
            <a:r>
              <a:rPr sz="4400">
                <a:latin typeface="Times New Roman" panose="02020603050405020304" pitchFamily="18" charset="0"/>
                <a:cs typeface="Times New Roman" panose="02020603050405020304" pitchFamily="18" charset="0"/>
              </a:rPr>
              <a:t>Eight stocks, with strict weight limits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" y="2069330"/>
            <a:ext cx="16459200" cy="369332"/>
          </a:xfrm>
          <a:prstGeom prst="rect">
            <a:avLst/>
          </a:prstGeom>
          <a:noFill/>
        </p:spPr>
        <p:txBody>
          <a:bodyPr wrap="square" lIns="36576" tIns="0" rIns="36576" bIns="0" anchor="ctr">
            <a:spAutoFit/>
          </a:bodyPr>
          <a:lstStyle/>
          <a:p>
            <a:pPr algn="l">
              <a:defRPr sz="2100" b="0">
                <a:solidFill>
                  <a:srgbClr val="65786F"/>
                </a:solidFill>
                <a:latin typeface="Lato"/>
              </a:defRPr>
            </a:pPr>
            <a:r>
              <a:rPr sz="2400">
                <a:latin typeface="Times New Roman" panose="02020603050405020304" pitchFamily="18" charset="0"/>
                <a:cs typeface="Times New Roman" panose="02020603050405020304" pitchFamily="18" charset="0"/>
              </a:rPr>
              <a:t>The candidate list spans six sectors; selected stocks span five.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035272" y="9711262"/>
            <a:ext cx="502920" cy="246221"/>
          </a:xfrm>
          <a:prstGeom prst="rect">
            <a:avLst/>
          </a:prstGeom>
          <a:noFill/>
        </p:spPr>
        <p:txBody>
          <a:bodyPr wrap="square" lIns="36576" tIns="0" rIns="36576" bIns="0" anchor="ctr">
            <a:spAutoFit/>
          </a:bodyPr>
          <a:lstStyle/>
          <a:p>
            <a:pPr algn="r">
              <a:defRPr sz="1400" b="1">
                <a:solidFill>
                  <a:srgbClr val="65786F"/>
                </a:solidFill>
                <a:latin typeface="Lato"/>
              </a:defRPr>
            </a:pPr>
            <a:r>
              <a:rPr sz="1600">
                <a:latin typeface="Times New Roman" panose="02020603050405020304" pitchFamily="18" charset="0"/>
                <a:cs typeface="Times New Roman" panose="02020603050405020304" pitchFamily="18" charset="0"/>
              </a:rPr>
              <a:t>08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2376" y="2852928"/>
            <a:ext cx="11548872" cy="6364224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10" name="Chart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87810020"/>
              </p:ext>
            </p:extLst>
          </p:nvPr>
        </p:nvGraphicFramePr>
        <p:xfrm>
          <a:off x="1024128" y="3209544"/>
          <a:ext cx="10469880" cy="5486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12554712" y="2852928"/>
            <a:ext cx="5001768" cy="6355080"/>
          </a:xfrm>
          <a:prstGeom prst="roundRect">
            <a:avLst>
              <a:gd name="adj" fmla="val 7000"/>
            </a:avLst>
          </a:prstGeom>
          <a:solidFill>
            <a:srgbClr val="EA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12966192" y="3372350"/>
            <a:ext cx="4114800" cy="369332"/>
          </a:xfrm>
          <a:prstGeom prst="rect">
            <a:avLst/>
          </a:prstGeom>
          <a:noFill/>
        </p:spPr>
        <p:txBody>
          <a:bodyPr wrap="square" lIns="36576" tIns="0" rIns="36576" bIns="0" anchor="ctr">
            <a:spAutoFit/>
          </a:bodyPr>
          <a:lstStyle/>
          <a:p>
            <a:pPr algn="l">
              <a:defRPr sz="2200" b="1">
                <a:solidFill>
                  <a:srgbClr val="2D4038"/>
                </a:solidFill>
                <a:latin typeface="Lato"/>
              </a:defRPr>
            </a:pPr>
            <a:r>
              <a:rPr sz="2400">
                <a:latin typeface="Times New Roman" panose="02020603050405020304" pitchFamily="18" charset="0"/>
                <a:cs typeface="Times New Roman" panose="02020603050405020304" pitchFamily="18" charset="0"/>
              </a:rPr>
              <a:t>Stock cap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957048" y="3859322"/>
            <a:ext cx="4123944" cy="830997"/>
          </a:xfrm>
          <a:prstGeom prst="rect">
            <a:avLst/>
          </a:prstGeom>
          <a:noFill/>
        </p:spPr>
        <p:txBody>
          <a:bodyPr wrap="square" lIns="36576" tIns="0" rIns="36576" bIns="0" anchor="ctr">
            <a:spAutoFit/>
          </a:bodyPr>
          <a:lstStyle/>
          <a:p>
            <a:pPr algn="l">
              <a:defRPr sz="5000" b="1">
                <a:solidFill>
                  <a:srgbClr val="125449"/>
                </a:solidFill>
                <a:latin typeface="Lato"/>
              </a:defRPr>
            </a:pPr>
            <a:r>
              <a:rPr sz="5400">
                <a:latin typeface="Times New Roman" panose="02020603050405020304" pitchFamily="18" charset="0"/>
                <a:cs typeface="Times New Roman" panose="02020603050405020304" pitchFamily="18" charset="0"/>
              </a:rPr>
              <a:t>15%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2957048" y="4956048"/>
            <a:ext cx="4142232" cy="0"/>
          </a:xfrm>
          <a:prstGeom prst="line">
            <a:avLst/>
          </a:prstGeom>
          <a:ln w="15240">
            <a:solidFill>
              <a:srgbClr val="D4DC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12957048" y="5329166"/>
            <a:ext cx="4142232" cy="369332"/>
          </a:xfrm>
          <a:prstGeom prst="rect">
            <a:avLst/>
          </a:prstGeom>
          <a:noFill/>
        </p:spPr>
        <p:txBody>
          <a:bodyPr wrap="square" lIns="36576" tIns="0" rIns="36576" bIns="0" anchor="ctr">
            <a:spAutoFit/>
          </a:bodyPr>
          <a:lstStyle/>
          <a:p>
            <a:pPr algn="l">
              <a:defRPr sz="2200" b="1">
                <a:solidFill>
                  <a:srgbClr val="2D4038"/>
                </a:solidFill>
                <a:latin typeface="Lato"/>
              </a:defRPr>
            </a:pPr>
            <a:r>
              <a:rPr sz="2400">
                <a:latin typeface="Times New Roman" panose="02020603050405020304" pitchFamily="18" charset="0"/>
                <a:cs typeface="Times New Roman" panose="02020603050405020304" pitchFamily="18" charset="0"/>
              </a:rPr>
              <a:t>Technology cap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947904" y="5811565"/>
            <a:ext cx="4114800" cy="830997"/>
          </a:xfrm>
          <a:prstGeom prst="rect">
            <a:avLst/>
          </a:prstGeom>
          <a:noFill/>
        </p:spPr>
        <p:txBody>
          <a:bodyPr wrap="square" lIns="36576" tIns="0" rIns="36576" bIns="0" anchor="ctr">
            <a:spAutoFit/>
          </a:bodyPr>
          <a:lstStyle/>
          <a:p>
            <a:pPr algn="l">
              <a:defRPr sz="5000" b="1">
                <a:solidFill>
                  <a:srgbClr val="C28E52"/>
                </a:solidFill>
                <a:latin typeface="Lato"/>
              </a:defRPr>
            </a:pPr>
            <a:r>
              <a:rPr sz="5400">
                <a:latin typeface="Times New Roman" panose="02020603050405020304" pitchFamily="18" charset="0"/>
                <a:cs typeface="Times New Roman" panose="02020603050405020304" pitchFamily="18" charset="0"/>
              </a:rPr>
              <a:t>30%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2966192" y="6894576"/>
            <a:ext cx="4123944" cy="0"/>
          </a:xfrm>
          <a:prstGeom prst="line">
            <a:avLst/>
          </a:prstGeom>
          <a:ln w="15240">
            <a:solidFill>
              <a:srgbClr val="D4DC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2957048" y="7345418"/>
            <a:ext cx="4133087" cy="369332"/>
          </a:xfrm>
          <a:prstGeom prst="rect">
            <a:avLst/>
          </a:prstGeom>
          <a:noFill/>
        </p:spPr>
        <p:txBody>
          <a:bodyPr wrap="square" lIns="36576" tIns="0" rIns="36576" bIns="0" anchor="ctr">
            <a:spAutoFit/>
          </a:bodyPr>
          <a:lstStyle/>
          <a:p>
            <a:pPr algn="l">
              <a:defRPr sz="2200" b="1">
                <a:solidFill>
                  <a:srgbClr val="125449"/>
                </a:solidFill>
                <a:latin typeface="Lato"/>
              </a:defRPr>
            </a:pPr>
            <a:r>
              <a:rPr sz="2400">
                <a:latin typeface="Times New Roman" panose="02020603050405020304" pitchFamily="18" charset="0"/>
                <a:cs typeface="Times New Roman" panose="02020603050405020304" pitchFamily="18" charset="0"/>
              </a:rPr>
              <a:t>No selected ETFs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966192" y="8245098"/>
            <a:ext cx="4142232" cy="261610"/>
          </a:xfrm>
          <a:prstGeom prst="rect">
            <a:avLst/>
          </a:prstGeom>
          <a:noFill/>
        </p:spPr>
        <p:txBody>
          <a:bodyPr wrap="square" lIns="36576" tIns="0" rIns="36576" bIns="0" anchor="ctr">
            <a:spAutoFit/>
          </a:bodyPr>
          <a:lstStyle/>
          <a:p>
            <a:pPr algn="l">
              <a:defRPr sz="1700" b="0">
                <a:solidFill>
                  <a:srgbClr val="65786F"/>
                </a:solidFill>
                <a:latin typeface="Lato"/>
              </a:defRPr>
            </a:pPr>
            <a:r>
              <a:rPr>
                <a:latin typeface="Times New Roman" panose="02020603050405020304" pitchFamily="18" charset="0"/>
                <a:cs typeface="Times New Roman" panose="02020603050405020304" pitchFamily="18" charset="0"/>
              </a:rPr>
              <a:t>Stock concentration still matters.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67512" y="306658"/>
            <a:ext cx="9144000" cy="246221"/>
          </a:xfrm>
          <a:prstGeom prst="rect">
            <a:avLst/>
          </a:prstGeom>
          <a:noFill/>
        </p:spPr>
        <p:txBody>
          <a:bodyPr wrap="square" lIns="36576" tIns="0" rIns="36576" bIns="0" anchor="ctr">
            <a:spAutoFit/>
          </a:bodyPr>
          <a:lstStyle/>
          <a:p>
            <a:pPr algn="l">
              <a:defRPr sz="1500" b="1">
                <a:solidFill>
                  <a:srgbClr val="125449"/>
                </a:solidFill>
                <a:latin typeface="Lato"/>
              </a:defRPr>
            </a:pPr>
            <a:r>
              <a:rPr sz="1600">
                <a:latin typeface="Times New Roman" panose="02020603050405020304" pitchFamily="18" charset="0"/>
                <a:cs typeface="Times New Roman" panose="02020603050405020304" pitchFamily="18" charset="0"/>
              </a:rPr>
              <a:t>KAPPA FOUNDATION  /  GROUP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252960" y="306658"/>
            <a:ext cx="5212080" cy="246221"/>
          </a:xfrm>
          <a:prstGeom prst="rect">
            <a:avLst/>
          </a:prstGeom>
          <a:noFill/>
        </p:spPr>
        <p:txBody>
          <a:bodyPr wrap="square" lIns="36576" tIns="0" rIns="36576" bIns="0" anchor="ctr">
            <a:spAutoFit/>
          </a:bodyPr>
          <a:lstStyle/>
          <a:p>
            <a:pPr algn="r">
              <a:defRPr sz="1500" b="1">
                <a:solidFill>
                  <a:srgbClr val="125449"/>
                </a:solidFill>
                <a:latin typeface="Lato"/>
              </a:defRPr>
            </a:pPr>
            <a:r>
              <a:rPr sz="1600">
                <a:latin typeface="Times New Roman" panose="02020603050405020304" pitchFamily="18" charset="0"/>
                <a:cs typeface="Times New Roman" panose="02020603050405020304" pitchFamily="18" charset="0"/>
              </a:rPr>
              <a:t>PORTFOLIO MODELS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94944" y="832104"/>
            <a:ext cx="16888968" cy="0"/>
          </a:xfrm>
          <a:prstGeom prst="line">
            <a:avLst/>
          </a:prstGeom>
          <a:ln w="19050">
            <a:solidFill>
              <a:srgbClr val="12544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13232" y="1179350"/>
            <a:ext cx="16642080" cy="677108"/>
          </a:xfrm>
          <a:prstGeom prst="rect">
            <a:avLst/>
          </a:prstGeom>
          <a:noFill/>
        </p:spPr>
        <p:txBody>
          <a:bodyPr wrap="square" lIns="36576" tIns="0" rIns="36576" bIns="0" anchor="ctr">
            <a:spAutoFit/>
          </a:bodyPr>
          <a:lstStyle/>
          <a:p>
            <a:pPr algn="l">
              <a:defRPr sz="4300" b="1">
                <a:solidFill>
                  <a:srgbClr val="125449"/>
                </a:solidFill>
                <a:latin typeface="Lato"/>
              </a:defRPr>
            </a:pPr>
            <a:r>
              <a:rPr sz="4400">
                <a:latin typeface="Times New Roman" panose="02020603050405020304" pitchFamily="18" charset="0"/>
                <a:cs typeface="Times New Roman" panose="02020603050405020304" pitchFamily="18" charset="0"/>
              </a:rPr>
              <a:t>More expected return means more estimated risk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" y="2069330"/>
            <a:ext cx="16459200" cy="369332"/>
          </a:xfrm>
          <a:prstGeom prst="rect">
            <a:avLst/>
          </a:prstGeom>
          <a:noFill/>
        </p:spPr>
        <p:txBody>
          <a:bodyPr wrap="square" lIns="36576" tIns="0" rIns="36576" bIns="0" anchor="ctr">
            <a:spAutoFit/>
          </a:bodyPr>
          <a:lstStyle/>
          <a:p>
            <a:pPr algn="l">
              <a:defRPr sz="2100" b="0">
                <a:solidFill>
                  <a:srgbClr val="65786F"/>
                </a:solidFill>
                <a:latin typeface="Lato"/>
              </a:defRPr>
            </a:pPr>
            <a:r>
              <a:rPr sz="2400">
                <a:latin typeface="Times New Roman" panose="02020603050405020304" pitchFamily="18" charset="0"/>
                <a:cs typeface="Times New Roman" panose="02020603050405020304" pitchFamily="18" charset="0"/>
              </a:rPr>
              <a:t>Model statistics are in sample, not observed 2023–2025 returns.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035272" y="9711262"/>
            <a:ext cx="502920" cy="246221"/>
          </a:xfrm>
          <a:prstGeom prst="rect">
            <a:avLst/>
          </a:prstGeom>
          <a:noFill/>
        </p:spPr>
        <p:txBody>
          <a:bodyPr wrap="square" lIns="36576" tIns="0" rIns="36576" bIns="0" anchor="ctr">
            <a:spAutoFit/>
          </a:bodyPr>
          <a:lstStyle/>
          <a:p>
            <a:pPr algn="r">
              <a:defRPr sz="1400" b="1">
                <a:solidFill>
                  <a:srgbClr val="65786F"/>
                </a:solidFill>
                <a:latin typeface="Lato"/>
              </a:defRPr>
            </a:pPr>
            <a:r>
              <a:rPr sz="1600">
                <a:latin typeface="Times New Roman" panose="02020603050405020304" pitchFamily="18" charset="0"/>
                <a:cs typeface="Times New Roman" panose="02020603050405020304" pitchFamily="18" charset="0"/>
              </a:rPr>
              <a:t>09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2376" y="2852928"/>
            <a:ext cx="11009376" cy="6364224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10" name="Chart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12854087"/>
              </p:ext>
            </p:extLst>
          </p:nvPr>
        </p:nvGraphicFramePr>
        <p:xfrm>
          <a:off x="1225296" y="3429000"/>
          <a:ext cx="10104120" cy="517550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12006072" y="2852928"/>
            <a:ext cx="5550408" cy="6355080"/>
          </a:xfrm>
          <a:prstGeom prst="roundRect">
            <a:avLst>
              <a:gd name="adj" fmla="val 7000"/>
            </a:avLst>
          </a:prstGeom>
          <a:solidFill>
            <a:srgbClr val="EA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12335256" y="3246120"/>
            <a:ext cx="4873752" cy="1563624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12554712" y="3436358"/>
            <a:ext cx="4434840" cy="369332"/>
          </a:xfrm>
          <a:prstGeom prst="rect">
            <a:avLst/>
          </a:prstGeom>
          <a:noFill/>
        </p:spPr>
        <p:txBody>
          <a:bodyPr wrap="square" lIns="36576" tIns="0" rIns="36576" bIns="0" anchor="ctr">
            <a:spAutoFit/>
          </a:bodyPr>
          <a:lstStyle/>
          <a:p>
            <a:pPr algn="l">
              <a:defRPr sz="2200" b="1">
                <a:solidFill>
                  <a:srgbClr val="125449"/>
                </a:solidFill>
                <a:latin typeface="Lato"/>
              </a:defRPr>
            </a:pPr>
            <a:r>
              <a:rPr sz="2400">
                <a:latin typeface="Times New Roman" panose="02020603050405020304" pitchFamily="18" charset="0"/>
                <a:cs typeface="Times New Roman" panose="02020603050405020304" pitchFamily="18" charset="0"/>
              </a:rPr>
              <a:t>Sample MV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573000" y="4157506"/>
            <a:ext cx="4398264" cy="307777"/>
          </a:xfrm>
          <a:prstGeom prst="rect">
            <a:avLst/>
          </a:prstGeom>
          <a:noFill/>
        </p:spPr>
        <p:txBody>
          <a:bodyPr wrap="square" lIns="36576" tIns="0" rIns="36576" bIns="0" anchor="ctr">
            <a:spAutoFit/>
          </a:bodyPr>
          <a:lstStyle/>
          <a:p>
            <a:pPr algn="l">
              <a:defRPr sz="1800" b="0">
                <a:solidFill>
                  <a:srgbClr val="2D4038"/>
                </a:solidFill>
                <a:latin typeface="Lato"/>
              </a:defRPr>
            </a:pPr>
            <a:r>
              <a:rPr sz="2000">
                <a:latin typeface="Times New Roman" panose="02020603050405020304" pitchFamily="18" charset="0"/>
                <a:cs typeface="Times New Roman" panose="02020603050405020304" pitchFamily="18" charset="0"/>
              </a:rPr>
              <a:t>Full covariance from 96 months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2335256" y="5102352"/>
            <a:ext cx="4873752" cy="1563624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12554712" y="5292590"/>
            <a:ext cx="4434840" cy="369332"/>
          </a:xfrm>
          <a:prstGeom prst="rect">
            <a:avLst/>
          </a:prstGeom>
          <a:noFill/>
        </p:spPr>
        <p:txBody>
          <a:bodyPr wrap="square" lIns="36576" tIns="0" rIns="36576" bIns="0" anchor="ctr">
            <a:spAutoFit/>
          </a:bodyPr>
          <a:lstStyle/>
          <a:p>
            <a:pPr algn="l">
              <a:defRPr sz="2200" b="1">
                <a:solidFill>
                  <a:srgbClr val="125449"/>
                </a:solidFill>
                <a:latin typeface="Lato"/>
              </a:defRPr>
            </a:pPr>
            <a:r>
              <a:rPr sz="2400">
                <a:latin typeface="Times New Roman" panose="02020603050405020304" pitchFamily="18" charset="0"/>
                <a:cs typeface="Times New Roman" panose="02020603050405020304" pitchFamily="18" charset="0"/>
              </a:rPr>
              <a:t>Single Index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573000" y="6013739"/>
            <a:ext cx="4398264" cy="307777"/>
          </a:xfrm>
          <a:prstGeom prst="rect">
            <a:avLst/>
          </a:prstGeom>
          <a:noFill/>
        </p:spPr>
        <p:txBody>
          <a:bodyPr wrap="square" lIns="36576" tIns="0" rIns="36576" bIns="0" anchor="ctr">
            <a:spAutoFit/>
          </a:bodyPr>
          <a:lstStyle/>
          <a:p>
            <a:pPr algn="l">
              <a:defRPr sz="1800" b="0">
                <a:solidFill>
                  <a:srgbClr val="2D4038"/>
                </a:solidFill>
                <a:latin typeface="Lato"/>
              </a:defRPr>
            </a:pPr>
            <a:r>
              <a:rPr sz="2000">
                <a:latin typeface="Times New Roman" panose="02020603050405020304" pitchFamily="18" charset="0"/>
                <a:cs typeface="Times New Roman" panose="02020603050405020304" pitchFamily="18" charset="0"/>
              </a:rPr>
              <a:t>Market-factor covariance assumption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335256" y="6958583"/>
            <a:ext cx="4873752" cy="1563624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12554712" y="7148821"/>
            <a:ext cx="4434840" cy="369332"/>
          </a:xfrm>
          <a:prstGeom prst="rect">
            <a:avLst/>
          </a:prstGeom>
          <a:noFill/>
        </p:spPr>
        <p:txBody>
          <a:bodyPr wrap="square" lIns="36576" tIns="0" rIns="36576" bIns="0" anchor="ctr">
            <a:spAutoFit/>
          </a:bodyPr>
          <a:lstStyle/>
          <a:p>
            <a:pPr algn="l">
              <a:defRPr sz="2200" b="1">
                <a:solidFill>
                  <a:srgbClr val="125449"/>
                </a:solidFill>
                <a:latin typeface="Lato"/>
              </a:defRPr>
            </a:pPr>
            <a:r>
              <a:rPr sz="2400">
                <a:latin typeface="Times New Roman" panose="02020603050405020304" pitchFamily="18" charset="0"/>
                <a:cs typeface="Times New Roman" panose="02020603050405020304" pitchFamily="18" charset="0"/>
              </a:rPr>
              <a:t>Minimum Variance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573000" y="7869971"/>
            <a:ext cx="4398264" cy="307777"/>
          </a:xfrm>
          <a:prstGeom prst="rect">
            <a:avLst/>
          </a:prstGeom>
          <a:noFill/>
        </p:spPr>
        <p:txBody>
          <a:bodyPr wrap="square" lIns="36576" tIns="0" rIns="36576" bIns="0" anchor="ctr">
            <a:spAutoFit/>
          </a:bodyPr>
          <a:lstStyle/>
          <a:p>
            <a:pPr algn="l">
              <a:defRPr sz="1800" b="0">
                <a:solidFill>
                  <a:srgbClr val="2D4038"/>
                </a:solidFill>
                <a:latin typeface="Lato"/>
              </a:defRPr>
            </a:pPr>
            <a:r>
              <a:rPr sz="2000">
                <a:latin typeface="Times New Roman" panose="02020603050405020304" pitchFamily="18" charset="0"/>
                <a:cs typeface="Times New Roman" panose="02020603050405020304" pitchFamily="18" charset="0"/>
              </a:rPr>
              <a:t>Reduce estimated risk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67512" y="306658"/>
            <a:ext cx="9144000" cy="246221"/>
          </a:xfrm>
          <a:prstGeom prst="rect">
            <a:avLst/>
          </a:prstGeom>
          <a:noFill/>
        </p:spPr>
        <p:txBody>
          <a:bodyPr wrap="square" lIns="36576" tIns="0" rIns="36576" bIns="0" anchor="ctr">
            <a:spAutoFit/>
          </a:bodyPr>
          <a:lstStyle/>
          <a:p>
            <a:pPr algn="l">
              <a:defRPr sz="1500" b="1">
                <a:solidFill>
                  <a:srgbClr val="125449"/>
                </a:solidFill>
                <a:latin typeface="Lato"/>
              </a:defRPr>
            </a:pPr>
            <a:r>
              <a:rPr sz="1600">
                <a:latin typeface="Times New Roman" panose="02020603050405020304" pitchFamily="18" charset="0"/>
                <a:cs typeface="Times New Roman" panose="02020603050405020304" pitchFamily="18" charset="0"/>
              </a:rPr>
              <a:t>KAPPA FOUNDATION  /  GROUP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252960" y="306658"/>
            <a:ext cx="5212080" cy="246221"/>
          </a:xfrm>
          <a:prstGeom prst="rect">
            <a:avLst/>
          </a:prstGeom>
          <a:noFill/>
        </p:spPr>
        <p:txBody>
          <a:bodyPr wrap="square" lIns="36576" tIns="0" rIns="36576" bIns="0" anchor="ctr">
            <a:spAutoFit/>
          </a:bodyPr>
          <a:lstStyle/>
          <a:p>
            <a:pPr algn="r">
              <a:defRPr sz="1500" b="1">
                <a:solidFill>
                  <a:srgbClr val="125449"/>
                </a:solidFill>
                <a:latin typeface="Lato"/>
              </a:defRPr>
            </a:pPr>
            <a:r>
              <a:rPr sz="1600">
                <a:latin typeface="Times New Roman" panose="02020603050405020304" pitchFamily="18" charset="0"/>
                <a:cs typeface="Times New Roman" panose="02020603050405020304" pitchFamily="18" charset="0"/>
              </a:rPr>
              <a:t>PORTFOLIO MATH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94944" y="832104"/>
            <a:ext cx="16888968" cy="0"/>
          </a:xfrm>
          <a:prstGeom prst="line">
            <a:avLst/>
          </a:prstGeom>
          <a:ln w="19050">
            <a:solidFill>
              <a:srgbClr val="12544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13232" y="1179350"/>
            <a:ext cx="16642080" cy="677108"/>
          </a:xfrm>
          <a:prstGeom prst="rect">
            <a:avLst/>
          </a:prstGeom>
          <a:noFill/>
        </p:spPr>
        <p:txBody>
          <a:bodyPr wrap="square" lIns="36576" tIns="0" rIns="36576" bIns="0" anchor="ctr">
            <a:spAutoFit/>
          </a:bodyPr>
          <a:lstStyle/>
          <a:p>
            <a:pPr algn="l">
              <a:defRPr sz="4300" b="1">
                <a:solidFill>
                  <a:srgbClr val="125449"/>
                </a:solidFill>
                <a:latin typeface="Lato"/>
              </a:defRPr>
            </a:pPr>
            <a:r>
              <a:rPr sz="4400">
                <a:latin typeface="Times New Roman" panose="02020603050405020304" pitchFamily="18" charset="0"/>
                <a:cs typeface="Times New Roman" panose="02020603050405020304" pitchFamily="18" charset="0"/>
              </a:rPr>
              <a:t>What the optimizer actually solves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" y="2069330"/>
            <a:ext cx="16459200" cy="369332"/>
          </a:xfrm>
          <a:prstGeom prst="rect">
            <a:avLst/>
          </a:prstGeom>
          <a:noFill/>
        </p:spPr>
        <p:txBody>
          <a:bodyPr wrap="square" lIns="36576" tIns="0" rIns="36576" bIns="0" anchor="ctr">
            <a:spAutoFit/>
          </a:bodyPr>
          <a:lstStyle/>
          <a:p>
            <a:pPr algn="l">
              <a:defRPr sz="2100" b="0">
                <a:solidFill>
                  <a:srgbClr val="65786F"/>
                </a:solidFill>
                <a:latin typeface="Lato"/>
              </a:defRPr>
            </a:pPr>
            <a:r>
              <a:rPr sz="2400">
                <a:latin typeface="Times New Roman" panose="02020603050405020304" pitchFamily="18" charset="0"/>
                <a:cs typeface="Times New Roman" panose="02020603050405020304" pitchFamily="18" charset="0"/>
              </a:rPr>
              <a:t>The forecasts change, but the constraints stay comparable.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035272" y="9711262"/>
            <a:ext cx="502920" cy="246221"/>
          </a:xfrm>
          <a:prstGeom prst="rect">
            <a:avLst/>
          </a:prstGeom>
          <a:noFill/>
        </p:spPr>
        <p:txBody>
          <a:bodyPr wrap="square" lIns="36576" tIns="0" rIns="36576" bIns="0" anchor="ctr">
            <a:spAutoFit/>
          </a:bodyPr>
          <a:lstStyle/>
          <a:p>
            <a:pPr algn="r">
              <a:defRPr sz="1400" b="1">
                <a:solidFill>
                  <a:srgbClr val="65786F"/>
                </a:solidFill>
                <a:latin typeface="Lato"/>
              </a:defRPr>
            </a:pPr>
            <a:r>
              <a:rPr sz="1600">
                <a:latin typeface="Times New Roman" panose="02020603050405020304" pitchFamily="18" charset="0"/>
                <a:cs typeface="Times New Roman" panose="02020603050405020304" pitchFamily="18" charset="0"/>
              </a:rPr>
              <a:t>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2852928"/>
            <a:ext cx="10442448" cy="6364224"/>
          </a:xfrm>
          <a:prstGeom prst="roundRect">
            <a:avLst>
              <a:gd name="adj" fmla="val 7000"/>
            </a:avLst>
          </a:prstGeom>
          <a:solidFill>
            <a:srgbClr val="EA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143000" y="3327856"/>
            <a:ext cx="9189720" cy="430887"/>
          </a:xfrm>
          <a:prstGeom prst="rect">
            <a:avLst/>
          </a:prstGeom>
          <a:noFill/>
        </p:spPr>
        <p:txBody>
          <a:bodyPr wrap="square" lIns="36576" tIns="0" rIns="36576" bIns="0" anchor="ctr">
            <a:spAutoFit/>
          </a:bodyPr>
          <a:lstStyle/>
          <a:p>
            <a:pPr algn="l">
              <a:defRPr sz="2500" b="1">
                <a:solidFill>
                  <a:srgbClr val="125449"/>
                </a:solidFill>
                <a:latin typeface="Lato"/>
              </a:defRPr>
            </a:pPr>
            <a:r>
              <a:rPr sz="2800">
                <a:latin typeface="Times New Roman" panose="02020603050405020304" pitchFamily="18" charset="0"/>
                <a:cs typeface="Times New Roman" panose="02020603050405020304" pitchFamily="18" charset="0"/>
              </a:rPr>
              <a:t>Risk-adjusted objective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61288" y="4069080"/>
            <a:ext cx="9537192" cy="1335024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1335024" y="4427590"/>
            <a:ext cx="9171432" cy="553998"/>
          </a:xfrm>
          <a:prstGeom prst="rect">
            <a:avLst/>
          </a:prstGeom>
          <a:noFill/>
        </p:spPr>
        <p:txBody>
          <a:bodyPr wrap="square" lIns="36576" tIns="0" rIns="36576" bIns="0" anchor="ctr">
            <a:spAutoFit/>
          </a:bodyPr>
          <a:lstStyle/>
          <a:p>
            <a:pPr algn="ctr">
              <a:defRPr sz="3200" b="1">
                <a:solidFill>
                  <a:srgbClr val="125449"/>
                </a:solidFill>
                <a:latin typeface="Lato"/>
              </a:defRPr>
            </a:pPr>
            <a:r>
              <a:rPr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max  </a:t>
            </a:r>
            <a:r>
              <a:rPr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μᵀw</a:t>
            </a:r>
            <a:r>
              <a:rPr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− (A/2) </a:t>
            </a:r>
            <a:r>
              <a:rPr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wᵀΣw</a:t>
            </a:r>
            <a:endParaRPr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1170432" y="5786366"/>
            <a:ext cx="9052560" cy="369332"/>
          </a:xfrm>
          <a:prstGeom prst="rect">
            <a:avLst/>
          </a:prstGeom>
          <a:noFill/>
        </p:spPr>
        <p:txBody>
          <a:bodyPr wrap="square" lIns="36576" tIns="0" rIns="36576" bIns="0" anchor="ctr">
            <a:spAutoFit/>
          </a:bodyPr>
          <a:lstStyle/>
          <a:p>
            <a:pPr algn="l">
              <a:defRPr sz="2300" b="1">
                <a:solidFill>
                  <a:srgbClr val="2D4038"/>
                </a:solidFill>
                <a:latin typeface="Lato"/>
              </a:defRPr>
            </a:pPr>
            <a:r>
              <a:rPr sz="2400">
                <a:latin typeface="Times New Roman" panose="02020603050405020304" pitchFamily="18" charset="0"/>
                <a:cs typeface="Times New Roman" panose="02020603050405020304" pitchFamily="18" charset="0"/>
              </a:rPr>
              <a:t>Investment rules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6420648"/>
            <a:ext cx="9089136" cy="307777"/>
          </a:xfrm>
          <a:prstGeom prst="rect">
            <a:avLst/>
          </a:prstGeom>
          <a:noFill/>
        </p:spPr>
        <p:txBody>
          <a:bodyPr wrap="square" lIns="36576" tIns="0" rIns="36576" bIns="0" anchor="ctr">
            <a:spAutoFit/>
          </a:bodyPr>
          <a:lstStyle/>
          <a:p>
            <a:pPr algn="l">
              <a:defRPr sz="1900" b="0">
                <a:solidFill>
                  <a:srgbClr val="2D4038"/>
                </a:solidFill>
                <a:latin typeface="Lato"/>
              </a:defRPr>
            </a:pPr>
            <a:r>
              <a:rPr sz="2000">
                <a:latin typeface="Times New Roman" panose="02020603050405020304" pitchFamily="18" charset="0"/>
                <a:cs typeface="Times New Roman" panose="02020603050405020304" pitchFamily="18" charset="0"/>
              </a:rPr>
              <a:t>• Σw = 1; w ≥ 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6987576"/>
            <a:ext cx="9089136" cy="307777"/>
          </a:xfrm>
          <a:prstGeom prst="rect">
            <a:avLst/>
          </a:prstGeom>
          <a:noFill/>
        </p:spPr>
        <p:txBody>
          <a:bodyPr wrap="square" lIns="36576" tIns="0" rIns="36576" bIns="0" anchor="ctr">
            <a:spAutoFit/>
          </a:bodyPr>
          <a:lstStyle/>
          <a:p>
            <a:pPr algn="l">
              <a:defRPr sz="1900" b="0">
                <a:solidFill>
                  <a:srgbClr val="2D4038"/>
                </a:solidFill>
                <a:latin typeface="Lato"/>
              </a:defRPr>
            </a:pPr>
            <a:r>
              <a:rPr sz="2000">
                <a:latin typeface="Times New Roman" panose="02020603050405020304" pitchFamily="18" charset="0"/>
                <a:cs typeface="Times New Roman" panose="02020603050405020304" pitchFamily="18" charset="0"/>
              </a:rPr>
              <a:t>• Each direct stock ≤ 15%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7554504"/>
            <a:ext cx="9089136" cy="307777"/>
          </a:xfrm>
          <a:prstGeom prst="rect">
            <a:avLst/>
          </a:prstGeom>
          <a:noFill/>
        </p:spPr>
        <p:txBody>
          <a:bodyPr wrap="square" lIns="36576" tIns="0" rIns="36576" bIns="0" anchor="ctr">
            <a:spAutoFit/>
          </a:bodyPr>
          <a:lstStyle/>
          <a:p>
            <a:pPr algn="l">
              <a:defRPr sz="1900" b="0">
                <a:solidFill>
                  <a:srgbClr val="2D4038"/>
                </a:solidFill>
                <a:latin typeface="Lato"/>
              </a:defRPr>
            </a:pPr>
            <a:r>
              <a:rPr sz="2000">
                <a:latin typeface="Times New Roman" panose="02020603050405020304" pitchFamily="18" charset="0"/>
                <a:cs typeface="Times New Roman" panose="02020603050405020304" pitchFamily="18" charset="0"/>
              </a:rPr>
              <a:t>• Direct-stock sector ≤ 30%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8121431"/>
            <a:ext cx="9089136" cy="307777"/>
          </a:xfrm>
          <a:prstGeom prst="rect">
            <a:avLst/>
          </a:prstGeom>
          <a:noFill/>
        </p:spPr>
        <p:txBody>
          <a:bodyPr wrap="square" lIns="36576" tIns="0" rIns="36576" bIns="0" anchor="ctr">
            <a:spAutoFit/>
          </a:bodyPr>
          <a:lstStyle/>
          <a:p>
            <a:pPr algn="l">
              <a:defRPr sz="1900" b="0">
                <a:solidFill>
                  <a:srgbClr val="2D4038"/>
                </a:solidFill>
                <a:latin typeface="Lato"/>
              </a:defRPr>
            </a:pPr>
            <a:r>
              <a:rPr sz="2000">
                <a:latin typeface="Times New Roman" panose="02020603050405020304" pitchFamily="18" charset="0"/>
                <a:cs typeface="Times New Roman" panose="02020603050405020304" pitchFamily="18" charset="0"/>
              </a:rPr>
              <a:t>• Each ETF ≤ 30%; combined ETFs ≤ 40%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503152" y="2852928"/>
            <a:ext cx="6044184" cy="6364224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11905488" y="3327857"/>
            <a:ext cx="5193792" cy="430887"/>
          </a:xfrm>
          <a:prstGeom prst="rect">
            <a:avLst/>
          </a:prstGeom>
          <a:noFill/>
        </p:spPr>
        <p:txBody>
          <a:bodyPr wrap="square" lIns="36576" tIns="0" rIns="36576" bIns="0" anchor="ctr">
            <a:spAutoFit/>
          </a:bodyPr>
          <a:lstStyle/>
          <a:p>
            <a:pPr algn="l">
              <a:defRPr sz="2400" b="1">
                <a:solidFill>
                  <a:srgbClr val="125449"/>
                </a:solidFill>
                <a:latin typeface="Lato"/>
              </a:defRPr>
            </a:pPr>
            <a:r>
              <a:rPr sz="2800">
                <a:latin typeface="Times New Roman" panose="02020603050405020304" pitchFamily="18" charset="0"/>
                <a:cs typeface="Times New Roman" panose="02020603050405020304" pitchFamily="18" charset="0"/>
              </a:rPr>
              <a:t>Expected-return blend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878056" y="4078224"/>
            <a:ext cx="5285232" cy="1481328"/>
          </a:xfrm>
          <a:prstGeom prst="roundRect">
            <a:avLst>
              <a:gd name="adj" fmla="val 7000"/>
            </a:avLst>
          </a:prstGeom>
          <a:solidFill>
            <a:srgbClr val="EA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12115800" y="4397146"/>
            <a:ext cx="4855464" cy="861774"/>
          </a:xfrm>
          <a:prstGeom prst="rect">
            <a:avLst/>
          </a:prstGeom>
          <a:noFill/>
        </p:spPr>
        <p:txBody>
          <a:bodyPr wrap="square" lIns="36576" tIns="0" rIns="36576" bIns="0" anchor="ctr">
            <a:spAutoFit/>
          </a:bodyPr>
          <a:lstStyle/>
          <a:p>
            <a:pPr algn="ctr">
              <a:defRPr sz="2400" b="1">
                <a:solidFill>
                  <a:srgbClr val="125449"/>
                </a:solidFill>
                <a:latin typeface="Lato"/>
              </a:defRPr>
            </a:pPr>
            <a:r>
              <a:rPr sz="2800">
                <a:latin typeface="Times New Roman" panose="02020603050405020304" pitchFamily="18" charset="0"/>
                <a:cs typeface="Times New Roman" panose="02020603050405020304" pitchFamily="18" charset="0"/>
              </a:rPr>
              <a:t>μ = 0.25 μsample</a:t>
            </a:r>
          </a:p>
          <a:p>
            <a:pPr algn="ctr">
              <a:defRPr sz="2400" b="1">
                <a:solidFill>
                  <a:srgbClr val="125449"/>
                </a:solidFill>
                <a:latin typeface="Lato"/>
              </a:defRPr>
            </a:pPr>
            <a:r>
              <a:rPr sz="2800">
                <a:latin typeface="Times New Roman" panose="02020603050405020304" pitchFamily="18" charset="0"/>
                <a:cs typeface="Times New Roman" panose="02020603050405020304" pitchFamily="18" charset="0"/>
              </a:rPr>
              <a:t>+ 0.75 μVTI prior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11942064" y="5888736"/>
            <a:ext cx="5157216" cy="0"/>
          </a:xfrm>
          <a:prstGeom prst="line">
            <a:avLst/>
          </a:prstGeom>
          <a:ln w="15240">
            <a:solidFill>
              <a:srgbClr val="D4DC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11932920" y="6159038"/>
            <a:ext cx="5120640" cy="830997"/>
          </a:xfrm>
          <a:prstGeom prst="rect">
            <a:avLst/>
          </a:prstGeom>
          <a:noFill/>
        </p:spPr>
        <p:txBody>
          <a:bodyPr wrap="square" lIns="36576" tIns="0" rIns="36576" bIns="0" anchor="ctr">
            <a:spAutoFit/>
          </a:bodyPr>
          <a:lstStyle/>
          <a:p>
            <a:pPr algn="l">
              <a:defRPr sz="4900" b="1">
                <a:solidFill>
                  <a:srgbClr val="C28E52"/>
                </a:solidFill>
                <a:latin typeface="Lato"/>
              </a:defRPr>
            </a:pPr>
            <a:r>
              <a:rPr sz="5400">
                <a:latin typeface="Times New Roman" panose="02020603050405020304" pitchFamily="18" charset="0"/>
                <a:cs typeface="Times New Roman" panose="02020603050405020304" pitchFamily="18" charset="0"/>
              </a:rPr>
              <a:t>96 months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951208" y="7135106"/>
            <a:ext cx="5102352" cy="369332"/>
          </a:xfrm>
          <a:prstGeom prst="rect">
            <a:avLst/>
          </a:prstGeom>
          <a:noFill/>
        </p:spPr>
        <p:txBody>
          <a:bodyPr wrap="square" lIns="36576" tIns="0" rIns="36576" bIns="0" anchor="ctr">
            <a:spAutoFit/>
          </a:bodyPr>
          <a:lstStyle/>
          <a:p>
            <a:pPr algn="l">
              <a:defRPr sz="2000" b="1">
                <a:solidFill>
                  <a:srgbClr val="2D4038"/>
                </a:solidFill>
                <a:latin typeface="Lato"/>
              </a:defRPr>
            </a:pPr>
            <a:r>
              <a:rPr sz="2400">
                <a:latin typeface="Times New Roman" panose="02020603050405020304" pitchFamily="18" charset="0"/>
                <a:cs typeface="Times New Roman" panose="02020603050405020304" pitchFamily="18" charset="0"/>
              </a:rPr>
              <a:t>Jan 2015 – Dec 2022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969496" y="8121654"/>
            <a:ext cx="5074920" cy="261610"/>
          </a:xfrm>
          <a:prstGeom prst="rect">
            <a:avLst/>
          </a:prstGeom>
          <a:noFill/>
        </p:spPr>
        <p:txBody>
          <a:bodyPr wrap="square" lIns="36576" tIns="0" rIns="36576" bIns="0" anchor="ctr">
            <a:spAutoFit/>
          </a:bodyPr>
          <a:lstStyle/>
          <a:p>
            <a:pPr algn="l">
              <a:defRPr sz="1700" b="0">
                <a:solidFill>
                  <a:srgbClr val="65786F"/>
                </a:solidFill>
                <a:latin typeface="Lato"/>
              </a:defRPr>
            </a:pPr>
            <a:r>
              <a:rPr>
                <a:latin typeface="Times New Roman" panose="02020603050405020304" pitchFamily="18" charset="0"/>
                <a:cs typeface="Times New Roman" panose="02020603050405020304" pitchFamily="18" charset="0"/>
              </a:rPr>
              <a:t>Foundation utility also scales by the equity share.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67512" y="306658"/>
            <a:ext cx="9144000" cy="246221"/>
          </a:xfrm>
          <a:prstGeom prst="rect">
            <a:avLst/>
          </a:prstGeom>
          <a:noFill/>
        </p:spPr>
        <p:txBody>
          <a:bodyPr wrap="square" lIns="36576" tIns="0" rIns="36576" bIns="0" anchor="ctr">
            <a:spAutoFit/>
          </a:bodyPr>
          <a:lstStyle/>
          <a:p>
            <a:pPr algn="l">
              <a:defRPr sz="1500" b="1">
                <a:solidFill>
                  <a:srgbClr val="125449"/>
                </a:solidFill>
                <a:latin typeface="Lato"/>
              </a:defRPr>
            </a:pPr>
            <a:r>
              <a:rPr sz="1600">
                <a:latin typeface="Times New Roman" panose="02020603050405020304" pitchFamily="18" charset="0"/>
                <a:cs typeface="Times New Roman" panose="02020603050405020304" pitchFamily="18" charset="0"/>
              </a:rPr>
              <a:t>KAPPA FOUNDATION  /  GROUP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252960" y="306658"/>
            <a:ext cx="5212080" cy="246221"/>
          </a:xfrm>
          <a:prstGeom prst="rect">
            <a:avLst/>
          </a:prstGeom>
          <a:noFill/>
        </p:spPr>
        <p:txBody>
          <a:bodyPr wrap="square" lIns="36576" tIns="0" rIns="36576" bIns="0" anchor="ctr">
            <a:spAutoFit/>
          </a:bodyPr>
          <a:lstStyle/>
          <a:p>
            <a:pPr algn="r">
              <a:defRPr sz="1500" b="1">
                <a:solidFill>
                  <a:srgbClr val="125449"/>
                </a:solidFill>
                <a:latin typeface="Lato"/>
              </a:defRPr>
            </a:pPr>
            <a:r>
              <a:rPr sz="1600">
                <a:latin typeface="Times New Roman" panose="02020603050405020304" pitchFamily="18" charset="0"/>
                <a:cs typeface="Times New Roman" panose="02020603050405020304" pitchFamily="18" charset="0"/>
              </a:rPr>
              <a:t>RISK PREFERENCE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94944" y="832104"/>
            <a:ext cx="16888968" cy="0"/>
          </a:xfrm>
          <a:prstGeom prst="line">
            <a:avLst/>
          </a:prstGeom>
          <a:ln w="19050">
            <a:solidFill>
              <a:srgbClr val="12544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13232" y="1179350"/>
            <a:ext cx="16642080" cy="677108"/>
          </a:xfrm>
          <a:prstGeom prst="rect">
            <a:avLst/>
          </a:prstGeom>
          <a:noFill/>
        </p:spPr>
        <p:txBody>
          <a:bodyPr wrap="square" lIns="36576" tIns="0" rIns="36576" bIns="0" anchor="ctr">
            <a:spAutoFit/>
          </a:bodyPr>
          <a:lstStyle/>
          <a:p>
            <a:pPr algn="l">
              <a:defRPr sz="4300" b="1">
                <a:solidFill>
                  <a:srgbClr val="125449"/>
                </a:solidFill>
                <a:latin typeface="Lato"/>
              </a:defRPr>
            </a:pPr>
            <a:r>
              <a:rPr sz="4400">
                <a:latin typeface="Times New Roman" panose="02020603050405020304" pitchFamily="18" charset="0"/>
                <a:cs typeface="Times New Roman" panose="02020603050405020304" pitchFamily="18" charset="0"/>
              </a:rPr>
              <a:t>Re-optimization delivers a tiny modeled gain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" y="2069330"/>
            <a:ext cx="16459200" cy="369332"/>
          </a:xfrm>
          <a:prstGeom prst="rect">
            <a:avLst/>
          </a:prstGeom>
          <a:noFill/>
        </p:spPr>
        <p:txBody>
          <a:bodyPr wrap="square" lIns="36576" tIns="0" rIns="36576" bIns="0" anchor="ctr">
            <a:spAutoFit/>
          </a:bodyPr>
          <a:lstStyle/>
          <a:p>
            <a:pPr algn="l">
              <a:defRPr sz="2100" b="0">
                <a:solidFill>
                  <a:srgbClr val="65786F"/>
                </a:solidFill>
                <a:latin typeface="Lato"/>
              </a:defRPr>
            </a:pPr>
            <a:r>
              <a:rPr sz="2400">
                <a:latin typeface="Times New Roman" panose="02020603050405020304" pitchFamily="18" charset="0"/>
                <a:cs typeface="Times New Roman" panose="02020603050405020304" pitchFamily="18" charset="0"/>
              </a:rPr>
              <a:t>Keeping the frozen shares avoids overreacting to unstable forecasts.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035272" y="9711262"/>
            <a:ext cx="502920" cy="246221"/>
          </a:xfrm>
          <a:prstGeom prst="rect">
            <a:avLst/>
          </a:prstGeom>
          <a:noFill/>
        </p:spPr>
        <p:txBody>
          <a:bodyPr wrap="square" lIns="36576" tIns="0" rIns="36576" bIns="0" anchor="ctr">
            <a:spAutoFit/>
          </a:bodyPr>
          <a:lstStyle/>
          <a:p>
            <a:pPr algn="r">
              <a:defRPr sz="1400" b="1">
                <a:solidFill>
                  <a:srgbClr val="65786F"/>
                </a:solidFill>
                <a:latin typeface="Lato"/>
              </a:defRPr>
            </a:pPr>
            <a:r>
              <a:rPr sz="1600">
                <a:latin typeface="Times New Roman" panose="02020603050405020304" pitchFamily="18" charset="0"/>
                <a:cs typeface="Times New Roman" panose="02020603050405020304" pitchFamily="18" charset="0"/>
              </a:rPr>
              <a:t>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2852928"/>
            <a:ext cx="10442448" cy="63550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124712" y="3318712"/>
            <a:ext cx="9326880" cy="430887"/>
          </a:xfrm>
          <a:prstGeom prst="rect">
            <a:avLst/>
          </a:prstGeom>
          <a:noFill/>
        </p:spPr>
        <p:txBody>
          <a:bodyPr wrap="square" lIns="36576" tIns="0" rIns="36576" bIns="0" anchor="ctr">
            <a:spAutoFit/>
          </a:bodyPr>
          <a:lstStyle/>
          <a:p>
            <a:pPr algn="l">
              <a:defRPr sz="2500" b="1">
                <a:solidFill>
                  <a:srgbClr val="125449"/>
                </a:solidFill>
                <a:latin typeface="Lato"/>
              </a:defRPr>
            </a:pPr>
            <a:r>
              <a:rPr sz="2800">
                <a:latin typeface="Times New Roman" panose="02020603050405020304" pitchFamily="18" charset="0"/>
                <a:cs typeface="Times New Roman" panose="02020603050405020304" pitchFamily="18" charset="0"/>
              </a:rPr>
              <a:t>Foundation equity contribution to utility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43000" y="4014215"/>
            <a:ext cx="9564624" cy="1298448"/>
          </a:xfrm>
          <a:prstGeom prst="roundRect">
            <a:avLst>
              <a:gd name="adj" fmla="val 7000"/>
            </a:avLst>
          </a:prstGeom>
          <a:solidFill>
            <a:srgbClr val="EA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1389888" y="4426362"/>
            <a:ext cx="9052560" cy="492443"/>
          </a:xfrm>
          <a:prstGeom prst="rect">
            <a:avLst/>
          </a:prstGeom>
          <a:noFill/>
        </p:spPr>
        <p:txBody>
          <a:bodyPr wrap="square" lIns="36576" tIns="0" rIns="36576" bIns="0" anchor="ctr">
            <a:spAutoFit/>
          </a:bodyPr>
          <a:lstStyle/>
          <a:p>
            <a:pPr algn="ctr">
              <a:defRPr sz="3000" b="1">
                <a:solidFill>
                  <a:srgbClr val="125449"/>
                </a:solidFill>
                <a:latin typeface="Lato"/>
              </a:defRPr>
            </a:pPr>
            <a:r>
              <a:rPr sz="3200">
                <a:latin typeface="Times New Roman" panose="02020603050405020304" pitchFamily="18" charset="0"/>
                <a:cs typeface="Times New Roman" panose="02020603050405020304" pitchFamily="18" charset="0"/>
              </a:rPr>
              <a:t>U = F μp − (A/2) F² σp²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52144" y="5768078"/>
            <a:ext cx="9171432" cy="369332"/>
          </a:xfrm>
          <a:prstGeom prst="rect">
            <a:avLst/>
          </a:prstGeom>
          <a:noFill/>
        </p:spPr>
        <p:txBody>
          <a:bodyPr wrap="square" lIns="36576" tIns="0" rIns="36576" bIns="0" anchor="ctr">
            <a:spAutoFit/>
          </a:bodyPr>
          <a:lstStyle/>
          <a:p>
            <a:pPr algn="l">
              <a:defRPr sz="2100" b="1">
                <a:solidFill>
                  <a:srgbClr val="2D4038"/>
                </a:solidFill>
                <a:latin typeface="Lato"/>
              </a:defRPr>
            </a:pPr>
            <a:r>
              <a:rPr sz="2400">
                <a:latin typeface="Times New Roman" panose="02020603050405020304" pitchFamily="18" charset="0"/>
                <a:cs typeface="Times New Roman" panose="02020603050405020304" pitchFamily="18" charset="0"/>
              </a:rPr>
              <a:t>A = 3, revised Principal Matching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79576" y="6353294"/>
            <a:ext cx="4050791" cy="369332"/>
          </a:xfrm>
          <a:prstGeom prst="rect">
            <a:avLst/>
          </a:prstGeom>
          <a:noFill/>
        </p:spPr>
        <p:txBody>
          <a:bodyPr wrap="square" lIns="36576" tIns="0" rIns="36576" bIns="0" anchor="ctr">
            <a:spAutoFit/>
          </a:bodyPr>
          <a:lstStyle/>
          <a:p>
            <a:pPr algn="l">
              <a:defRPr sz="2000" b="1">
                <a:solidFill>
                  <a:srgbClr val="2D4038"/>
                </a:solidFill>
                <a:latin typeface="Lato"/>
              </a:defRPr>
            </a:pPr>
            <a:r>
              <a:rPr sz="2400">
                <a:latin typeface="Times New Roman" panose="02020603050405020304" pitchFamily="18" charset="0"/>
                <a:cs typeface="Times New Roman" panose="02020603050405020304" pitchFamily="18" charset="0"/>
              </a:rPr>
              <a:t>Frozen weights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50992" y="6362438"/>
            <a:ext cx="4654296" cy="369332"/>
          </a:xfrm>
          <a:prstGeom prst="rect">
            <a:avLst/>
          </a:prstGeom>
          <a:noFill/>
        </p:spPr>
        <p:txBody>
          <a:bodyPr wrap="square" lIns="36576" tIns="0" rIns="36576" bIns="0" anchor="ctr">
            <a:spAutoFit/>
          </a:bodyPr>
          <a:lstStyle/>
          <a:p>
            <a:pPr algn="r">
              <a:defRPr sz="2300" b="1">
                <a:solidFill>
                  <a:srgbClr val="125449"/>
                </a:solidFill>
                <a:latin typeface="Lato"/>
              </a:defRPr>
            </a:pPr>
            <a:r>
              <a:rPr sz="2400">
                <a:latin typeface="Times New Roman" panose="02020603050405020304" pitchFamily="18" charset="0"/>
                <a:cs typeface="Times New Roman" panose="02020603050405020304" pitchFamily="18" charset="0"/>
              </a:rPr>
              <a:t>0.053328705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79576" y="7139678"/>
            <a:ext cx="4050791" cy="369332"/>
          </a:xfrm>
          <a:prstGeom prst="rect">
            <a:avLst/>
          </a:prstGeom>
          <a:noFill/>
        </p:spPr>
        <p:txBody>
          <a:bodyPr wrap="square" lIns="36576" tIns="0" rIns="36576" bIns="0" anchor="ctr">
            <a:spAutoFit/>
          </a:bodyPr>
          <a:lstStyle/>
          <a:p>
            <a:pPr algn="l">
              <a:defRPr sz="2000" b="1">
                <a:solidFill>
                  <a:srgbClr val="2D4038"/>
                </a:solidFill>
                <a:latin typeface="Lato"/>
              </a:defRPr>
            </a:pPr>
            <a:r>
              <a:rPr sz="2400">
                <a:latin typeface="Times New Roman" panose="02020603050405020304" pitchFamily="18" charset="0"/>
                <a:cs typeface="Times New Roman" panose="02020603050405020304" pitchFamily="18" charset="0"/>
              </a:rPr>
              <a:t>Reoptimized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50992" y="7148822"/>
            <a:ext cx="4654296" cy="369332"/>
          </a:xfrm>
          <a:prstGeom prst="rect">
            <a:avLst/>
          </a:prstGeom>
          <a:noFill/>
        </p:spPr>
        <p:txBody>
          <a:bodyPr wrap="square" lIns="36576" tIns="0" rIns="36576" bIns="0" anchor="ctr">
            <a:spAutoFit/>
          </a:bodyPr>
          <a:lstStyle/>
          <a:p>
            <a:pPr algn="r">
              <a:defRPr sz="2300" b="1">
                <a:solidFill>
                  <a:srgbClr val="C28E52"/>
                </a:solidFill>
                <a:latin typeface="Lato"/>
              </a:defRPr>
            </a:pPr>
            <a:r>
              <a:rPr sz="2400">
                <a:latin typeface="Times New Roman" panose="02020603050405020304" pitchFamily="18" charset="0"/>
                <a:cs typeface="Times New Roman" panose="02020603050405020304" pitchFamily="18" charset="0"/>
              </a:rPr>
              <a:t>0.053328718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243584" y="7863840"/>
            <a:ext cx="9089136" cy="0"/>
          </a:xfrm>
          <a:prstGeom prst="line">
            <a:avLst/>
          </a:prstGeom>
          <a:ln w="15240">
            <a:solidFill>
              <a:srgbClr val="D4DC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1325880" y="8191238"/>
            <a:ext cx="9162288" cy="369332"/>
          </a:xfrm>
          <a:prstGeom prst="rect">
            <a:avLst/>
          </a:prstGeom>
          <a:noFill/>
        </p:spPr>
        <p:txBody>
          <a:bodyPr wrap="square" lIns="36576" tIns="0" rIns="36576" bIns="0" anchor="ctr">
            <a:spAutoFit/>
          </a:bodyPr>
          <a:lstStyle/>
          <a:p>
            <a:pPr algn="ctr">
              <a:defRPr sz="2200" b="1">
                <a:solidFill>
                  <a:srgbClr val="125449"/>
                </a:solidFill>
                <a:latin typeface="Lato"/>
              </a:defRPr>
            </a:pPr>
            <a:r>
              <a:rPr sz="2400">
                <a:latin typeface="Times New Roman" panose="02020603050405020304" pitchFamily="18" charset="0"/>
                <a:cs typeface="Times New Roman" panose="02020603050405020304" pitchFamily="18" charset="0"/>
              </a:rPr>
              <a:t>Gain: +0.00000001318 in utility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84864" y="2852928"/>
            <a:ext cx="6062472" cy="6355080"/>
          </a:xfrm>
          <a:prstGeom prst="roundRect">
            <a:avLst>
              <a:gd name="adj" fmla="val 7000"/>
            </a:avLst>
          </a:prstGeom>
          <a:solidFill>
            <a:srgbClr val="EA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11878056" y="3436358"/>
            <a:ext cx="5148072" cy="369332"/>
          </a:xfrm>
          <a:prstGeom prst="rect">
            <a:avLst/>
          </a:prstGeom>
          <a:noFill/>
        </p:spPr>
        <p:txBody>
          <a:bodyPr wrap="square" lIns="36576" tIns="0" rIns="36576" bIns="0" anchor="ctr">
            <a:spAutoFit/>
          </a:bodyPr>
          <a:lstStyle/>
          <a:p>
            <a:pPr algn="l">
              <a:defRPr sz="2300" b="1">
                <a:solidFill>
                  <a:srgbClr val="125449"/>
                </a:solidFill>
                <a:latin typeface="Lato"/>
              </a:defRPr>
            </a:pPr>
            <a:r>
              <a:rPr sz="2400">
                <a:latin typeface="Times New Roman" panose="02020603050405020304" pitchFamily="18" charset="0"/>
                <a:cs typeface="Times New Roman" panose="02020603050405020304" pitchFamily="18" charset="0"/>
              </a:rPr>
              <a:t>Reconsider at higher risk aversion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850624" y="4284517"/>
            <a:ext cx="5248656" cy="830997"/>
          </a:xfrm>
          <a:prstGeom prst="rect">
            <a:avLst/>
          </a:prstGeom>
          <a:noFill/>
        </p:spPr>
        <p:txBody>
          <a:bodyPr wrap="square" lIns="36576" tIns="0" rIns="36576" bIns="0" anchor="ctr">
            <a:spAutoFit/>
          </a:bodyPr>
          <a:lstStyle/>
          <a:p>
            <a:pPr algn="l">
              <a:defRPr sz="5000" b="1">
                <a:solidFill>
                  <a:srgbClr val="C28E52"/>
                </a:solidFill>
                <a:latin typeface="Lato"/>
              </a:defRPr>
            </a:pPr>
            <a:r>
              <a:rPr sz="5400">
                <a:latin typeface="Times New Roman" panose="02020603050405020304" pitchFamily="18" charset="0"/>
                <a:cs typeface="Times New Roman" panose="02020603050405020304" pitchFamily="18" charset="0"/>
              </a:rPr>
              <a:t>A* ≈ 8.94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932920" y="5391947"/>
            <a:ext cx="5129784" cy="307777"/>
          </a:xfrm>
          <a:prstGeom prst="rect">
            <a:avLst/>
          </a:prstGeom>
          <a:noFill/>
        </p:spPr>
        <p:txBody>
          <a:bodyPr wrap="square" lIns="36576" tIns="0" rIns="36576" bIns="0" anchor="ctr">
            <a:spAutoFit/>
          </a:bodyPr>
          <a:lstStyle/>
          <a:p>
            <a:pPr algn="l">
              <a:defRPr sz="1800" b="0">
                <a:solidFill>
                  <a:srgbClr val="65786F"/>
                </a:solidFill>
                <a:latin typeface="Lato"/>
              </a:defRPr>
            </a:pPr>
            <a:r>
              <a:rPr sz="2000">
                <a:latin typeface="Times New Roman" panose="02020603050405020304" pitchFamily="18" charset="0"/>
                <a:cs typeface="Times New Roman" panose="02020603050405020304" pitchFamily="18" charset="0"/>
              </a:rPr>
              <a:t>Fixed-policy comparison only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11896344" y="6300216"/>
            <a:ext cx="5230368" cy="0"/>
          </a:xfrm>
          <a:prstGeom prst="line">
            <a:avLst/>
          </a:prstGeom>
          <a:ln w="15240">
            <a:solidFill>
              <a:srgbClr val="D4DC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11896344" y="6792206"/>
            <a:ext cx="5047488" cy="369332"/>
          </a:xfrm>
          <a:prstGeom prst="rect">
            <a:avLst/>
          </a:prstGeom>
          <a:noFill/>
        </p:spPr>
        <p:txBody>
          <a:bodyPr wrap="square" lIns="36576" tIns="0" rIns="36576" bIns="0" anchor="ctr">
            <a:spAutoFit/>
          </a:bodyPr>
          <a:lstStyle/>
          <a:p>
            <a:pPr algn="l">
              <a:defRPr sz="2300" b="1">
                <a:solidFill>
                  <a:srgbClr val="125449"/>
                </a:solidFill>
                <a:latin typeface="Lato"/>
              </a:defRPr>
            </a:pPr>
            <a:r>
              <a:rPr sz="2400">
                <a:latin typeface="Times New Roman" panose="02020603050405020304" pitchFamily="18" charset="0"/>
                <a:cs typeface="Times New Roman" panose="02020603050405020304" pitchFamily="18" charset="0"/>
              </a:rPr>
              <a:t>Reassess and re-optimize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914632" y="7679508"/>
            <a:ext cx="5084064" cy="615553"/>
          </a:xfrm>
          <a:prstGeom prst="rect">
            <a:avLst/>
          </a:prstGeom>
          <a:noFill/>
        </p:spPr>
        <p:txBody>
          <a:bodyPr wrap="square" lIns="36576" tIns="0" rIns="36576" bIns="0" anchor="ctr">
            <a:spAutoFit/>
          </a:bodyPr>
          <a:lstStyle/>
          <a:p>
            <a:pPr algn="l">
              <a:defRPr sz="1800" b="0">
                <a:solidFill>
                  <a:srgbClr val="2D4038"/>
                </a:solidFill>
                <a:latin typeface="Lato"/>
              </a:defRPr>
            </a:pPr>
            <a:r>
              <a:rPr sz="2000">
                <a:latin typeface="Times New Roman" panose="02020603050405020304" pitchFamily="18" charset="0"/>
                <a:cs typeface="Times New Roman" panose="02020603050405020304" pitchFamily="18" charset="0"/>
              </a:rPr>
              <a:t>Do not automatically buy the old Minimum Variance portfolio.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67512" y="306658"/>
            <a:ext cx="9144000" cy="246221"/>
          </a:xfrm>
          <a:prstGeom prst="rect">
            <a:avLst/>
          </a:prstGeom>
          <a:noFill/>
        </p:spPr>
        <p:txBody>
          <a:bodyPr wrap="square" lIns="36576" tIns="0" rIns="36576" bIns="0" anchor="ctr">
            <a:spAutoFit/>
          </a:bodyPr>
          <a:lstStyle/>
          <a:p>
            <a:pPr algn="l">
              <a:defRPr sz="1500" b="1">
                <a:solidFill>
                  <a:srgbClr val="125449"/>
                </a:solidFill>
                <a:latin typeface="Lato"/>
              </a:defRPr>
            </a:pPr>
            <a:r>
              <a:rPr sz="1600">
                <a:latin typeface="Times New Roman" panose="02020603050405020304" pitchFamily="18" charset="0"/>
                <a:cs typeface="Times New Roman" panose="02020603050405020304" pitchFamily="18" charset="0"/>
              </a:rPr>
              <a:t>KAPPA FOUNDATION  /  GROUP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252960" y="306658"/>
            <a:ext cx="5212080" cy="246221"/>
          </a:xfrm>
          <a:prstGeom prst="rect">
            <a:avLst/>
          </a:prstGeom>
          <a:noFill/>
        </p:spPr>
        <p:txBody>
          <a:bodyPr wrap="square" lIns="36576" tIns="0" rIns="36576" bIns="0" anchor="ctr">
            <a:spAutoFit/>
          </a:bodyPr>
          <a:lstStyle/>
          <a:p>
            <a:pPr algn="r">
              <a:defRPr sz="1500" b="1">
                <a:solidFill>
                  <a:srgbClr val="125449"/>
                </a:solidFill>
                <a:latin typeface="Lato"/>
              </a:defRPr>
            </a:pPr>
            <a:r>
              <a:rPr sz="1600">
                <a:latin typeface="Times New Roman" panose="02020603050405020304" pitchFamily="18" charset="0"/>
                <a:cs typeface="Times New Roman" panose="02020603050405020304" pitchFamily="18" charset="0"/>
              </a:rPr>
              <a:t>FACTOR EVIDENCE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94944" y="832104"/>
            <a:ext cx="16888968" cy="0"/>
          </a:xfrm>
          <a:prstGeom prst="line">
            <a:avLst/>
          </a:prstGeom>
          <a:ln w="19050">
            <a:solidFill>
              <a:srgbClr val="12544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13232" y="1179350"/>
            <a:ext cx="16642080" cy="677108"/>
          </a:xfrm>
          <a:prstGeom prst="rect">
            <a:avLst/>
          </a:prstGeom>
          <a:noFill/>
        </p:spPr>
        <p:txBody>
          <a:bodyPr wrap="square" lIns="36576" tIns="0" rIns="36576" bIns="0" anchor="ctr">
            <a:spAutoFit/>
          </a:bodyPr>
          <a:lstStyle/>
          <a:p>
            <a:pPr algn="l">
              <a:defRPr sz="4300" b="1">
                <a:solidFill>
                  <a:srgbClr val="125449"/>
                </a:solidFill>
                <a:latin typeface="Lato"/>
              </a:defRPr>
            </a:pPr>
            <a:r>
              <a:rPr sz="4400">
                <a:latin typeface="Times New Roman" panose="02020603050405020304" pitchFamily="18" charset="0"/>
                <a:cs typeface="Times New Roman" panose="02020603050405020304" pitchFamily="18" charset="0"/>
              </a:rPr>
              <a:t>FF3 fits the historical data better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" y="2069330"/>
            <a:ext cx="16459200" cy="369332"/>
          </a:xfrm>
          <a:prstGeom prst="rect">
            <a:avLst/>
          </a:prstGeom>
          <a:noFill/>
        </p:spPr>
        <p:txBody>
          <a:bodyPr wrap="square" lIns="36576" tIns="0" rIns="36576" bIns="0" anchor="ctr">
            <a:spAutoFit/>
          </a:bodyPr>
          <a:lstStyle/>
          <a:p>
            <a:pPr algn="l">
              <a:defRPr sz="2100" b="0">
                <a:solidFill>
                  <a:srgbClr val="65786F"/>
                </a:solidFill>
                <a:latin typeface="Lato"/>
              </a:defRPr>
            </a:pPr>
            <a:r>
              <a:rPr sz="2400">
                <a:latin typeface="Times New Roman" panose="02020603050405020304" pitchFamily="18" charset="0"/>
                <a:cs typeface="Times New Roman" panose="02020603050405020304" pitchFamily="18" charset="0"/>
              </a:rPr>
              <a:t>A positive estimated intercept is not proof of future stock-picking skill.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035272" y="9711262"/>
            <a:ext cx="502920" cy="246221"/>
          </a:xfrm>
          <a:prstGeom prst="rect">
            <a:avLst/>
          </a:prstGeom>
          <a:noFill/>
        </p:spPr>
        <p:txBody>
          <a:bodyPr wrap="square" lIns="36576" tIns="0" rIns="36576" bIns="0" anchor="ctr">
            <a:spAutoFit/>
          </a:bodyPr>
          <a:lstStyle/>
          <a:p>
            <a:pPr algn="r">
              <a:defRPr sz="1400" b="1">
                <a:solidFill>
                  <a:srgbClr val="65786F"/>
                </a:solidFill>
                <a:latin typeface="Lato"/>
              </a:defRPr>
            </a:pPr>
            <a:r>
              <a:rPr sz="1600">
                <a:latin typeface="Times New Roman" panose="02020603050405020304" pitchFamily="18" charset="0"/>
                <a:cs typeface="Times New Roman" panose="02020603050405020304" pitchFamily="18" charset="0"/>
              </a:rPr>
              <a:t>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2376" y="2852928"/>
            <a:ext cx="8787384" cy="63550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115568" y="3309568"/>
            <a:ext cx="7644383" cy="430887"/>
          </a:xfrm>
          <a:prstGeom prst="rect">
            <a:avLst/>
          </a:prstGeom>
          <a:noFill/>
        </p:spPr>
        <p:txBody>
          <a:bodyPr wrap="square" lIns="36576" tIns="0" rIns="36576" bIns="0" anchor="ctr">
            <a:spAutoFit/>
          </a:bodyPr>
          <a:lstStyle/>
          <a:p>
            <a:pPr algn="l">
              <a:defRPr sz="2500" b="1">
                <a:solidFill>
                  <a:srgbClr val="125449"/>
                </a:solidFill>
                <a:latin typeface="Lato"/>
              </a:defRPr>
            </a:pPr>
            <a:r>
              <a:rPr sz="2800">
                <a:latin typeface="Times New Roman" panose="02020603050405020304" pitchFamily="18" charset="0"/>
                <a:cs typeface="Times New Roman" panose="02020603050405020304" pitchFamily="18" charset="0"/>
              </a:rPr>
              <a:t>Adjusted R squared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43390373"/>
              </p:ext>
            </p:extLst>
          </p:nvPr>
        </p:nvGraphicFramePr>
        <p:xfrm>
          <a:off x="1143000" y="3950208"/>
          <a:ext cx="7781544" cy="33558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1170432" y="7569446"/>
            <a:ext cx="8019288" cy="369332"/>
          </a:xfrm>
          <a:prstGeom prst="rect">
            <a:avLst/>
          </a:prstGeom>
          <a:noFill/>
        </p:spPr>
        <p:txBody>
          <a:bodyPr wrap="square" lIns="36576" tIns="0" rIns="36576" bIns="0" anchor="ctr">
            <a:spAutoFit/>
          </a:bodyPr>
          <a:lstStyle/>
          <a:p>
            <a:pPr algn="l">
              <a:defRPr sz="2000" b="0">
                <a:solidFill>
                  <a:srgbClr val="2D4038"/>
                </a:solidFill>
                <a:latin typeface="Lato"/>
              </a:defRPr>
            </a:pPr>
            <a:r>
              <a:rPr sz="2400">
                <a:latin typeface="Times New Roman" panose="02020603050405020304" pitchFamily="18" charset="0"/>
                <a:cs typeface="Times New Roman" panose="02020603050405020304" pitchFamily="18" charset="0"/>
              </a:rPr>
              <a:t>Excess Rp = α + βm excess Rm + 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0432" y="8163806"/>
            <a:ext cx="7982712" cy="369332"/>
          </a:xfrm>
          <a:prstGeom prst="rect">
            <a:avLst/>
          </a:prstGeom>
          <a:noFill/>
        </p:spPr>
        <p:txBody>
          <a:bodyPr wrap="square" lIns="36576" tIns="0" rIns="36576" bIns="0" anchor="ctr">
            <a:spAutoFit/>
          </a:bodyPr>
          <a:lstStyle/>
          <a:p>
            <a:pPr algn="l">
              <a:defRPr sz="2100" b="1">
                <a:solidFill>
                  <a:srgbClr val="125449"/>
                </a:solidFill>
                <a:latin typeface="Lato"/>
              </a:defRPr>
            </a:pPr>
            <a:r>
              <a:rPr sz="2400">
                <a:latin typeface="Times New Roman" panose="02020603050405020304" pitchFamily="18" charset="0"/>
                <a:cs typeface="Times New Roman" panose="02020603050405020304" pitchFamily="18" charset="0"/>
              </a:rPr>
              <a:t>FF3 adds SMB and HML.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811512" y="2852928"/>
            <a:ext cx="7744968" cy="6355080"/>
          </a:xfrm>
          <a:prstGeom prst="roundRect">
            <a:avLst>
              <a:gd name="adj" fmla="val 7000"/>
            </a:avLst>
          </a:prstGeom>
          <a:solidFill>
            <a:srgbClr val="EA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10204704" y="3309568"/>
            <a:ext cx="6775704" cy="430887"/>
          </a:xfrm>
          <a:prstGeom prst="rect">
            <a:avLst/>
          </a:prstGeom>
          <a:noFill/>
        </p:spPr>
        <p:txBody>
          <a:bodyPr wrap="square" lIns="36576" tIns="0" rIns="36576" bIns="0" anchor="ctr">
            <a:spAutoFit/>
          </a:bodyPr>
          <a:lstStyle/>
          <a:p>
            <a:pPr algn="l">
              <a:defRPr sz="2500" b="1">
                <a:solidFill>
                  <a:srgbClr val="125449"/>
                </a:solidFill>
                <a:latin typeface="Lato"/>
              </a:defRPr>
            </a:pPr>
            <a:r>
              <a:rPr sz="2800">
                <a:latin typeface="Times New Roman" panose="02020603050405020304" pitchFamily="18" charset="0"/>
                <a:cs typeface="Times New Roman" panose="02020603050405020304" pitchFamily="18" charset="0"/>
              </a:rPr>
              <a:t>FF3 factor loadings</a:t>
            </a:r>
          </a:p>
        </p:txBody>
      </p:sp>
      <p:graphicFrame>
        <p:nvGraphicFramePr>
          <p:cNvPr id="16" name="Chart 1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6841139"/>
              </p:ext>
            </p:extLst>
          </p:nvPr>
        </p:nvGraphicFramePr>
        <p:xfrm>
          <a:off x="10177272" y="3968496"/>
          <a:ext cx="6784848" cy="344728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cxnSp>
        <p:nvCxnSpPr>
          <p:cNvPr id="17" name="Connector 16"/>
          <p:cNvCxnSpPr/>
          <p:nvPr/>
        </p:nvCxnSpPr>
        <p:spPr>
          <a:xfrm>
            <a:off x="10232136" y="7726679"/>
            <a:ext cx="6848856" cy="0"/>
          </a:xfrm>
          <a:prstGeom prst="line">
            <a:avLst/>
          </a:prstGeom>
          <a:ln w="15240">
            <a:solidFill>
              <a:srgbClr val="D4DC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0213848" y="8118086"/>
            <a:ext cx="6976872" cy="369332"/>
          </a:xfrm>
          <a:prstGeom prst="rect">
            <a:avLst/>
          </a:prstGeom>
          <a:noFill/>
        </p:spPr>
        <p:txBody>
          <a:bodyPr wrap="square" lIns="36576" tIns="0" rIns="36576" bIns="0" anchor="ctr">
            <a:spAutoFit/>
          </a:bodyPr>
          <a:lstStyle/>
          <a:p>
            <a:pPr algn="l">
              <a:defRPr sz="2100" b="1">
                <a:solidFill>
                  <a:srgbClr val="125449"/>
                </a:solidFill>
                <a:latin typeface="Lato"/>
              </a:defRPr>
            </a:pPr>
            <a:r>
              <a:rPr sz="2400">
                <a:latin typeface="Times New Roman" panose="02020603050405020304" pitchFamily="18" charset="0"/>
                <a:cs typeface="Times New Roman" panose="02020603050405020304" pitchFamily="18" charset="0"/>
              </a:rPr>
              <a:t>Monthly FF3 α ≈ +0.569% (in sample)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67512" y="306658"/>
            <a:ext cx="9144000" cy="246221"/>
          </a:xfrm>
          <a:prstGeom prst="rect">
            <a:avLst/>
          </a:prstGeom>
          <a:noFill/>
        </p:spPr>
        <p:txBody>
          <a:bodyPr wrap="square" lIns="36576" tIns="0" rIns="36576" bIns="0" anchor="ctr">
            <a:spAutoFit/>
          </a:bodyPr>
          <a:lstStyle/>
          <a:p>
            <a:pPr algn="l">
              <a:defRPr sz="1500" b="1">
                <a:solidFill>
                  <a:srgbClr val="125449"/>
                </a:solidFill>
                <a:latin typeface="Lato"/>
              </a:defRPr>
            </a:pPr>
            <a:r>
              <a:rPr sz="1600">
                <a:latin typeface="Times New Roman" panose="02020603050405020304" pitchFamily="18" charset="0"/>
                <a:cs typeface="Times New Roman" panose="02020603050405020304" pitchFamily="18" charset="0"/>
              </a:rPr>
              <a:t>KAPPA FOUNDATION  /  GROUP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252960" y="306658"/>
            <a:ext cx="5212080" cy="246221"/>
          </a:xfrm>
          <a:prstGeom prst="rect">
            <a:avLst/>
          </a:prstGeom>
          <a:noFill/>
        </p:spPr>
        <p:txBody>
          <a:bodyPr wrap="square" lIns="36576" tIns="0" rIns="36576" bIns="0" anchor="ctr">
            <a:spAutoFit/>
          </a:bodyPr>
          <a:lstStyle/>
          <a:p>
            <a:pPr algn="r">
              <a:defRPr sz="1500" b="1">
                <a:solidFill>
                  <a:srgbClr val="125449"/>
                </a:solidFill>
                <a:latin typeface="Lato"/>
              </a:defRPr>
            </a:pPr>
            <a:r>
              <a:rPr sz="1600">
                <a:latin typeface="Times New Roman" panose="02020603050405020304" pitchFamily="18" charset="0"/>
                <a:cs typeface="Times New Roman" panose="02020603050405020304" pitchFamily="18" charset="0"/>
              </a:rPr>
              <a:t>STRESS &amp; GOAL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94944" y="832104"/>
            <a:ext cx="16888968" cy="0"/>
          </a:xfrm>
          <a:prstGeom prst="line">
            <a:avLst/>
          </a:prstGeom>
          <a:ln w="19050">
            <a:solidFill>
              <a:srgbClr val="12544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13232" y="1179350"/>
            <a:ext cx="16642080" cy="677108"/>
          </a:xfrm>
          <a:prstGeom prst="rect">
            <a:avLst/>
          </a:prstGeom>
          <a:noFill/>
        </p:spPr>
        <p:txBody>
          <a:bodyPr wrap="square" lIns="36576" tIns="0" rIns="36576" bIns="0" anchor="ctr">
            <a:spAutoFit/>
          </a:bodyPr>
          <a:lstStyle/>
          <a:p>
            <a:pPr algn="l">
              <a:defRPr sz="4300" b="1">
                <a:solidFill>
                  <a:srgbClr val="125449"/>
                </a:solidFill>
                <a:latin typeface="Lato"/>
              </a:defRPr>
            </a:pPr>
            <a:r>
              <a:rPr sz="4400">
                <a:latin typeface="Times New Roman" panose="02020603050405020304" pitchFamily="18" charset="0"/>
                <a:cs typeface="Times New Roman" panose="02020603050405020304" pitchFamily="18" charset="0"/>
              </a:rPr>
              <a:t>Funding commitments does not eliminate market losses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" y="2069330"/>
            <a:ext cx="16459200" cy="369332"/>
          </a:xfrm>
          <a:prstGeom prst="rect">
            <a:avLst/>
          </a:prstGeom>
          <a:noFill/>
        </p:spPr>
        <p:txBody>
          <a:bodyPr wrap="square" lIns="36576" tIns="0" rIns="36576" bIns="0" anchor="ctr">
            <a:spAutoFit/>
          </a:bodyPr>
          <a:lstStyle/>
          <a:p>
            <a:pPr algn="l">
              <a:defRPr sz="2100" b="0">
                <a:solidFill>
                  <a:srgbClr val="65786F"/>
                </a:solidFill>
                <a:latin typeface="Lato"/>
              </a:defRPr>
            </a:pPr>
            <a:r>
              <a:rPr sz="2400">
                <a:latin typeface="Times New Roman" panose="02020603050405020304" pitchFamily="18" charset="0"/>
                <a:cs typeface="Times New Roman" panose="02020603050405020304" pitchFamily="18" charset="0"/>
              </a:rPr>
              <a:t>The 2030 goal also depends on inflation and equity growth.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035272" y="9711262"/>
            <a:ext cx="502920" cy="246221"/>
          </a:xfrm>
          <a:prstGeom prst="rect">
            <a:avLst/>
          </a:prstGeom>
          <a:noFill/>
        </p:spPr>
        <p:txBody>
          <a:bodyPr wrap="square" lIns="36576" tIns="0" rIns="36576" bIns="0" anchor="ctr">
            <a:spAutoFit/>
          </a:bodyPr>
          <a:lstStyle/>
          <a:p>
            <a:pPr algn="r">
              <a:defRPr sz="1400" b="1">
                <a:solidFill>
                  <a:srgbClr val="65786F"/>
                </a:solidFill>
                <a:latin typeface="Lato"/>
              </a:defRPr>
            </a:pPr>
            <a:r>
              <a:rPr sz="1600">
                <a:latin typeface="Times New Roman" panose="02020603050405020304" pitchFamily="18" charset="0"/>
                <a:cs typeface="Times New Roman" panose="02020603050405020304" pitchFamily="18" charset="0"/>
              </a:rPr>
              <a:t>13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852928"/>
            <a:ext cx="10177272" cy="63550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188720" y="3291281"/>
            <a:ext cx="9162288" cy="430887"/>
          </a:xfrm>
          <a:prstGeom prst="rect">
            <a:avLst/>
          </a:prstGeom>
          <a:noFill/>
        </p:spPr>
        <p:txBody>
          <a:bodyPr wrap="square" lIns="36576" tIns="0" rIns="36576" bIns="0" anchor="ctr">
            <a:spAutoFit/>
          </a:bodyPr>
          <a:lstStyle/>
          <a:p>
            <a:pPr algn="l">
              <a:defRPr sz="2400" b="1">
                <a:solidFill>
                  <a:srgbClr val="125449"/>
                </a:solidFill>
                <a:latin typeface="Lato"/>
              </a:defRPr>
            </a:pPr>
            <a:r>
              <a:rPr sz="2800">
                <a:latin typeface="Times New Roman" panose="02020603050405020304" pitchFamily="18" charset="0"/>
                <a:cs typeface="Times New Roman" panose="02020603050405020304" pitchFamily="18" charset="0"/>
              </a:rPr>
              <a:t>Combined shock: stocks −25%, yields +100bp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81279813"/>
              </p:ext>
            </p:extLst>
          </p:nvPr>
        </p:nvGraphicFramePr>
        <p:xfrm>
          <a:off x="1207008" y="3913632"/>
          <a:ext cx="9308592" cy="3877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1207008" y="8360401"/>
            <a:ext cx="9162288" cy="369332"/>
          </a:xfrm>
          <a:prstGeom prst="rect">
            <a:avLst/>
          </a:prstGeom>
          <a:noFill/>
        </p:spPr>
        <p:txBody>
          <a:bodyPr wrap="square" lIns="36576" tIns="0" rIns="36576" bIns="0" anchor="ctr">
            <a:spAutoFit/>
          </a:bodyPr>
          <a:lstStyle/>
          <a:p>
            <a:pPr algn="l">
              <a:defRPr sz="2000" b="1">
                <a:solidFill>
                  <a:srgbClr val="2D4038"/>
                </a:solidFill>
                <a:latin typeface="Lato"/>
              </a:defRPr>
            </a:pPr>
            <a:r>
              <a:rPr sz="2400">
                <a:latin typeface="Times New Roman" panose="02020603050405020304" pitchFamily="18" charset="0"/>
                <a:cs typeface="Times New Roman" panose="02020603050405020304" pitchFamily="18" charset="0"/>
              </a:rPr>
              <a:t>A one-time shock is not a rolling 12-month return.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237976" y="2852928"/>
            <a:ext cx="6309360" cy="6355080"/>
          </a:xfrm>
          <a:prstGeom prst="roundRect">
            <a:avLst>
              <a:gd name="adj" fmla="val 7000"/>
            </a:avLst>
          </a:prstGeom>
          <a:solidFill>
            <a:srgbClr val="EA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1667744" y="3335774"/>
            <a:ext cx="5120640" cy="369332"/>
          </a:xfrm>
          <a:prstGeom prst="rect">
            <a:avLst/>
          </a:prstGeom>
          <a:noFill/>
        </p:spPr>
        <p:txBody>
          <a:bodyPr wrap="square" lIns="36576" tIns="0" rIns="36576" bIns="0" anchor="ctr">
            <a:spAutoFit/>
          </a:bodyPr>
          <a:lstStyle/>
          <a:p>
            <a:pPr algn="l">
              <a:defRPr sz="2200" b="1">
                <a:solidFill>
                  <a:srgbClr val="125449"/>
                </a:solidFill>
                <a:latin typeface="Lato"/>
              </a:defRPr>
            </a:pPr>
            <a:r>
              <a:rPr sz="2400">
                <a:latin typeface="Times New Roman" panose="02020603050405020304" pitchFamily="18" charset="0"/>
                <a:cs typeface="Times New Roman" panose="02020603050405020304" pitchFamily="18" charset="0"/>
              </a:rPr>
              <a:t>2030 nominal target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640312" y="4106209"/>
            <a:ext cx="5330952" cy="830997"/>
          </a:xfrm>
          <a:prstGeom prst="rect">
            <a:avLst/>
          </a:prstGeom>
          <a:noFill/>
        </p:spPr>
        <p:txBody>
          <a:bodyPr wrap="square" lIns="36576" tIns="0" rIns="36576" bIns="0" anchor="ctr">
            <a:spAutoFit/>
          </a:bodyPr>
          <a:lstStyle/>
          <a:p>
            <a:pPr algn="l">
              <a:defRPr sz="5000" b="1">
                <a:solidFill>
                  <a:srgbClr val="125449"/>
                </a:solidFill>
                <a:latin typeface="Lato"/>
              </a:defRPr>
            </a:pPr>
            <a:r>
              <a:rPr sz="5400">
                <a:latin typeface="Times New Roman" panose="02020603050405020304" pitchFamily="18" charset="0"/>
                <a:cs typeface="Times New Roman" panose="02020603050405020304" pitchFamily="18" charset="0"/>
              </a:rPr>
              <a:t>$9.596m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658600" y="5122199"/>
            <a:ext cx="5047488" cy="307777"/>
          </a:xfrm>
          <a:prstGeom prst="rect">
            <a:avLst/>
          </a:prstGeom>
          <a:noFill/>
        </p:spPr>
        <p:txBody>
          <a:bodyPr wrap="square" lIns="36576" tIns="0" rIns="36576" bIns="0" anchor="ctr">
            <a:spAutoFit/>
          </a:bodyPr>
          <a:lstStyle/>
          <a:p>
            <a:pPr algn="l">
              <a:defRPr sz="1800" b="0">
                <a:solidFill>
                  <a:srgbClr val="65786F"/>
                </a:solidFill>
                <a:latin typeface="Lato"/>
              </a:defRPr>
            </a:pPr>
            <a:r>
              <a:rPr sz="2000">
                <a:latin typeface="Times New Roman" panose="02020603050405020304" pitchFamily="18" charset="0"/>
                <a:cs typeface="Times New Roman" panose="02020603050405020304" pitchFamily="18" charset="0"/>
              </a:rPr>
              <a:t>Assuming 2.3% inflation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1631168" y="5742432"/>
            <a:ext cx="5522976" cy="0"/>
          </a:xfrm>
          <a:prstGeom prst="line">
            <a:avLst/>
          </a:prstGeom>
          <a:ln w="15240">
            <a:solidFill>
              <a:srgbClr val="D4DC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1658600" y="6083546"/>
            <a:ext cx="5111496" cy="369332"/>
          </a:xfrm>
          <a:prstGeom prst="rect">
            <a:avLst/>
          </a:prstGeom>
          <a:noFill/>
        </p:spPr>
        <p:txBody>
          <a:bodyPr wrap="square" lIns="36576" tIns="0" rIns="36576" bIns="0" anchor="ctr">
            <a:spAutoFit/>
          </a:bodyPr>
          <a:lstStyle/>
          <a:p>
            <a:pPr algn="l">
              <a:defRPr sz="2100" b="1">
                <a:solidFill>
                  <a:srgbClr val="2D4038"/>
                </a:solidFill>
                <a:latin typeface="Lato"/>
              </a:defRPr>
            </a:pPr>
            <a:r>
              <a:rPr sz="2400">
                <a:latin typeface="Times New Roman" panose="02020603050405020304" pitchFamily="18" charset="0"/>
                <a:cs typeface="Times New Roman" panose="02020603050405020304" pitchFamily="18" charset="0"/>
              </a:rPr>
              <a:t>Equity CAGR needed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640312" y="6661957"/>
            <a:ext cx="5330952" cy="830997"/>
          </a:xfrm>
          <a:prstGeom prst="rect">
            <a:avLst/>
          </a:prstGeom>
          <a:noFill/>
        </p:spPr>
        <p:txBody>
          <a:bodyPr wrap="square" lIns="36576" tIns="0" rIns="36576" bIns="0" anchor="ctr">
            <a:spAutoFit/>
          </a:bodyPr>
          <a:lstStyle/>
          <a:p>
            <a:pPr algn="l">
              <a:defRPr sz="5200" b="1">
                <a:solidFill>
                  <a:srgbClr val="C28E52"/>
                </a:solidFill>
                <a:latin typeface="Lato"/>
              </a:defRPr>
            </a:pPr>
            <a:r>
              <a:rPr sz="5400">
                <a:latin typeface="Times New Roman" panose="02020603050405020304" pitchFamily="18" charset="0"/>
                <a:cs typeface="Times New Roman" panose="02020603050405020304" pitchFamily="18" charset="0"/>
              </a:rPr>
              <a:t>4.80%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622024" y="7872983"/>
            <a:ext cx="5440680" cy="8686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11759184" y="8161353"/>
            <a:ext cx="5093208" cy="246221"/>
          </a:xfrm>
          <a:prstGeom prst="rect">
            <a:avLst/>
          </a:prstGeom>
          <a:noFill/>
        </p:spPr>
        <p:txBody>
          <a:bodyPr wrap="square" lIns="36576" tIns="0" rIns="36576" bIns="0" anchor="ctr">
            <a:spAutoFit/>
          </a:bodyPr>
          <a:lstStyle/>
          <a:p>
            <a:pPr algn="ctr">
              <a:defRPr sz="1600" b="1">
                <a:solidFill>
                  <a:srgbClr val="125449"/>
                </a:solidFill>
                <a:latin typeface="Lato"/>
              </a:defRPr>
            </a:pPr>
            <a:r>
              <a:rPr>
                <a:latin typeface="Times New Roman" panose="02020603050405020304" pitchFamily="18" charset="0"/>
                <a:cs typeface="Times New Roman" panose="02020603050405020304" pitchFamily="18" charset="0"/>
              </a:rPr>
              <a:t>r* = [(Target − Cash) / E]^(1/8) − 1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67512" y="306658"/>
            <a:ext cx="9144000" cy="246221"/>
          </a:xfrm>
          <a:prstGeom prst="rect">
            <a:avLst/>
          </a:prstGeom>
          <a:noFill/>
        </p:spPr>
        <p:txBody>
          <a:bodyPr wrap="square" lIns="36576" tIns="0" rIns="36576" bIns="0" anchor="ctr">
            <a:spAutoFit/>
          </a:bodyPr>
          <a:lstStyle/>
          <a:p>
            <a:pPr algn="l">
              <a:defRPr sz="1500" b="1">
                <a:solidFill>
                  <a:srgbClr val="125449"/>
                </a:solidFill>
                <a:latin typeface="Lato"/>
              </a:defRPr>
            </a:pPr>
            <a:r>
              <a:rPr sz="1600">
                <a:latin typeface="Times New Roman" panose="02020603050405020304" pitchFamily="18" charset="0"/>
                <a:cs typeface="Times New Roman" panose="02020603050405020304" pitchFamily="18" charset="0"/>
              </a:rPr>
              <a:t>KAPPA FOUNDATION  /  GROUP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252960" y="306658"/>
            <a:ext cx="5212080" cy="246221"/>
          </a:xfrm>
          <a:prstGeom prst="rect">
            <a:avLst/>
          </a:prstGeom>
          <a:noFill/>
        </p:spPr>
        <p:txBody>
          <a:bodyPr wrap="square" lIns="36576" tIns="0" rIns="36576" bIns="0" anchor="ctr">
            <a:spAutoFit/>
          </a:bodyPr>
          <a:lstStyle/>
          <a:p>
            <a:pPr algn="r">
              <a:defRPr sz="1500" b="1">
                <a:solidFill>
                  <a:srgbClr val="125449"/>
                </a:solidFill>
                <a:latin typeface="Lato"/>
              </a:defRPr>
            </a:pPr>
            <a:r>
              <a:rPr sz="1600">
                <a:latin typeface="Times New Roman" panose="02020603050405020304" pitchFamily="18" charset="0"/>
                <a:cs typeface="Times New Roman" panose="02020603050405020304" pitchFamily="18" charset="0"/>
              </a:rPr>
              <a:t>FROZEN EVALUATION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94944" y="832104"/>
            <a:ext cx="16888968" cy="0"/>
          </a:xfrm>
          <a:prstGeom prst="line">
            <a:avLst/>
          </a:prstGeom>
          <a:ln w="19050">
            <a:solidFill>
              <a:srgbClr val="12544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13232" y="1179350"/>
            <a:ext cx="16642080" cy="677108"/>
          </a:xfrm>
          <a:prstGeom prst="rect">
            <a:avLst/>
          </a:prstGeom>
          <a:noFill/>
        </p:spPr>
        <p:txBody>
          <a:bodyPr wrap="square" lIns="36576" tIns="0" rIns="36576" bIns="0" anchor="ctr">
            <a:spAutoFit/>
          </a:bodyPr>
          <a:lstStyle/>
          <a:p>
            <a:pPr algn="l">
              <a:defRPr sz="4300" b="1">
                <a:solidFill>
                  <a:srgbClr val="125449"/>
                </a:solidFill>
                <a:latin typeface="Lato"/>
              </a:defRPr>
            </a:pPr>
            <a:r>
              <a:rPr sz="4400">
                <a:latin typeface="Times New Roman" panose="02020603050405020304" pitchFamily="18" charset="0"/>
                <a:cs typeface="Times New Roman" panose="02020603050405020304" pitchFamily="18" charset="0"/>
              </a:rPr>
              <a:t>The selected shares grew, but VTI did better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" y="2069330"/>
            <a:ext cx="16459200" cy="369332"/>
          </a:xfrm>
          <a:prstGeom prst="rect">
            <a:avLst/>
          </a:prstGeom>
          <a:noFill/>
        </p:spPr>
        <p:txBody>
          <a:bodyPr wrap="square" lIns="36576" tIns="0" rIns="36576" bIns="0" anchor="ctr">
            <a:spAutoFit/>
          </a:bodyPr>
          <a:lstStyle/>
          <a:p>
            <a:pPr algn="l">
              <a:defRPr sz="2100" b="0">
                <a:solidFill>
                  <a:srgbClr val="65786F"/>
                </a:solidFill>
                <a:latin typeface="Lato"/>
              </a:defRPr>
            </a:pPr>
            <a:r>
              <a:rPr sz="2400">
                <a:latin typeface="Times New Roman" panose="02020603050405020304" pitchFamily="18" charset="0"/>
                <a:cs typeface="Times New Roman" panose="02020603050405020304" pitchFamily="18" charset="0"/>
              </a:rPr>
              <a:t>Original $6.229m equity base, not revised $6.210m. Monthly returns, 2023–25.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035272" y="9711262"/>
            <a:ext cx="502920" cy="246221"/>
          </a:xfrm>
          <a:prstGeom prst="rect">
            <a:avLst/>
          </a:prstGeom>
          <a:noFill/>
        </p:spPr>
        <p:txBody>
          <a:bodyPr wrap="square" lIns="36576" tIns="0" rIns="36576" bIns="0" anchor="ctr">
            <a:spAutoFit/>
          </a:bodyPr>
          <a:lstStyle/>
          <a:p>
            <a:pPr algn="r">
              <a:defRPr sz="1400" b="1">
                <a:solidFill>
                  <a:srgbClr val="65786F"/>
                </a:solidFill>
                <a:latin typeface="Lato"/>
              </a:defRPr>
            </a:pPr>
            <a:r>
              <a:rPr sz="1600">
                <a:latin typeface="Times New Roman" panose="02020603050405020304" pitchFamily="18" charset="0"/>
                <a:cs typeface="Times New Roman" panose="02020603050405020304" pitchFamily="18" charset="0"/>
              </a:rPr>
              <a:t>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2376" y="2852928"/>
            <a:ext cx="16834104" cy="63550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10" name="Chart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03689656"/>
              </p:ext>
            </p:extLst>
          </p:nvPr>
        </p:nvGraphicFramePr>
        <p:xfrm>
          <a:off x="1088136" y="3236976"/>
          <a:ext cx="16120872" cy="540410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67512" y="306658"/>
            <a:ext cx="9144000" cy="246221"/>
          </a:xfrm>
          <a:prstGeom prst="rect">
            <a:avLst/>
          </a:prstGeom>
          <a:noFill/>
        </p:spPr>
        <p:txBody>
          <a:bodyPr wrap="square" lIns="36576" tIns="0" rIns="36576" bIns="0" anchor="ctr">
            <a:spAutoFit/>
          </a:bodyPr>
          <a:lstStyle/>
          <a:p>
            <a:pPr algn="l">
              <a:defRPr sz="1500" b="1">
                <a:solidFill>
                  <a:srgbClr val="125449"/>
                </a:solidFill>
                <a:latin typeface="Lato"/>
              </a:defRPr>
            </a:pPr>
            <a:r>
              <a:rPr sz="1600">
                <a:latin typeface="Times New Roman" panose="02020603050405020304" pitchFamily="18" charset="0"/>
                <a:cs typeface="Times New Roman" panose="02020603050405020304" pitchFamily="18" charset="0"/>
              </a:rPr>
              <a:t>KAPPA FOUNDATION  /  GROUP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252960" y="306658"/>
            <a:ext cx="5212080" cy="246221"/>
          </a:xfrm>
          <a:prstGeom prst="rect">
            <a:avLst/>
          </a:prstGeom>
          <a:noFill/>
        </p:spPr>
        <p:txBody>
          <a:bodyPr wrap="square" lIns="36576" tIns="0" rIns="36576" bIns="0" anchor="ctr">
            <a:spAutoFit/>
          </a:bodyPr>
          <a:lstStyle/>
          <a:p>
            <a:pPr algn="r">
              <a:defRPr sz="1500" b="1">
                <a:solidFill>
                  <a:srgbClr val="125449"/>
                </a:solidFill>
                <a:latin typeface="Lato"/>
              </a:defRPr>
            </a:pPr>
            <a:r>
              <a:rPr sz="1600">
                <a:latin typeface="Times New Roman" panose="02020603050405020304" pitchFamily="18" charset="0"/>
                <a:cs typeface="Times New Roman" panose="02020603050405020304" pitchFamily="18" charset="0"/>
              </a:rPr>
              <a:t>RESULTS &amp; LIMITATIONS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94944" y="832104"/>
            <a:ext cx="16888968" cy="0"/>
          </a:xfrm>
          <a:prstGeom prst="line">
            <a:avLst/>
          </a:prstGeom>
          <a:ln w="19050">
            <a:solidFill>
              <a:srgbClr val="12544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13232" y="1179350"/>
            <a:ext cx="16642080" cy="677108"/>
          </a:xfrm>
          <a:prstGeom prst="rect">
            <a:avLst/>
          </a:prstGeom>
          <a:noFill/>
        </p:spPr>
        <p:txBody>
          <a:bodyPr wrap="square" lIns="36576" tIns="0" rIns="36576" bIns="0" anchor="ctr">
            <a:spAutoFit/>
          </a:bodyPr>
          <a:lstStyle/>
          <a:p>
            <a:pPr algn="l">
              <a:defRPr sz="4300" b="1">
                <a:solidFill>
                  <a:srgbClr val="125449"/>
                </a:solidFill>
                <a:latin typeface="Lato"/>
              </a:defRPr>
            </a:pPr>
            <a:r>
              <a:rPr sz="4400">
                <a:latin typeface="Times New Roman" panose="02020603050405020304" pitchFamily="18" charset="0"/>
                <a:cs typeface="Times New Roman" panose="02020603050405020304" pitchFamily="18" charset="0"/>
              </a:rPr>
              <a:t>Selected shares underperformed the VTI benchmark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" y="2069330"/>
            <a:ext cx="16459200" cy="369332"/>
          </a:xfrm>
          <a:prstGeom prst="rect">
            <a:avLst/>
          </a:prstGeom>
          <a:noFill/>
        </p:spPr>
        <p:txBody>
          <a:bodyPr wrap="square" lIns="36576" tIns="0" rIns="36576" bIns="0" anchor="ctr">
            <a:spAutoFit/>
          </a:bodyPr>
          <a:lstStyle/>
          <a:p>
            <a:pPr algn="l">
              <a:defRPr sz="2100" b="0">
                <a:solidFill>
                  <a:srgbClr val="65786F"/>
                </a:solidFill>
                <a:latin typeface="Lato"/>
              </a:defRPr>
            </a:pPr>
            <a:r>
              <a:rPr sz="2400">
                <a:latin typeface="Times New Roman" panose="02020603050405020304" pitchFamily="18" charset="0"/>
                <a:cs typeface="Times New Roman" panose="02020603050405020304" pitchFamily="18" charset="0"/>
              </a:rPr>
              <a:t>Positive absolute returns do not prove an equity-selection advantage.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035272" y="9711262"/>
            <a:ext cx="502920" cy="246221"/>
          </a:xfrm>
          <a:prstGeom prst="rect">
            <a:avLst/>
          </a:prstGeom>
          <a:noFill/>
        </p:spPr>
        <p:txBody>
          <a:bodyPr wrap="square" lIns="36576" tIns="0" rIns="36576" bIns="0" anchor="ctr">
            <a:spAutoFit/>
          </a:bodyPr>
          <a:lstStyle/>
          <a:p>
            <a:pPr algn="r">
              <a:defRPr sz="1400" b="1">
                <a:solidFill>
                  <a:srgbClr val="65786F"/>
                </a:solidFill>
                <a:latin typeface="Lato"/>
              </a:defRPr>
            </a:pPr>
            <a:r>
              <a:rPr sz="1600">
                <a:latin typeface="Times New Roman" panose="02020603050405020304" pitchFamily="18" charset="0"/>
                <a:cs typeface="Times New Roman" panose="02020603050405020304" pitchFamily="18" charset="0"/>
              </a:rPr>
              <a:t>15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852928"/>
            <a:ext cx="10415016" cy="6364224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179576" y="3337000"/>
            <a:ext cx="8878824" cy="430887"/>
          </a:xfrm>
          <a:prstGeom prst="rect">
            <a:avLst/>
          </a:prstGeom>
          <a:noFill/>
        </p:spPr>
        <p:txBody>
          <a:bodyPr wrap="square" lIns="36576" tIns="0" rIns="36576" bIns="0" anchor="ctr">
            <a:spAutoFit/>
          </a:bodyPr>
          <a:lstStyle/>
          <a:p>
            <a:pPr algn="l">
              <a:defRPr sz="2500" b="1">
                <a:solidFill>
                  <a:srgbClr val="125449"/>
                </a:solidFill>
                <a:latin typeface="Lato"/>
              </a:defRPr>
            </a:pPr>
            <a:r>
              <a:rPr sz="2800">
                <a:latin typeface="Times New Roman" panose="02020603050405020304" pitchFamily="18" charset="0"/>
                <a:cs typeface="Times New Roman" panose="02020603050405020304" pitchFamily="18" charset="0"/>
              </a:rPr>
              <a:t>CAGR after entry fee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24044783"/>
              </p:ext>
            </p:extLst>
          </p:nvPr>
        </p:nvGraphicFramePr>
        <p:xfrm>
          <a:off x="1225296" y="3986784"/>
          <a:ext cx="9473184" cy="383133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1188720" y="8360402"/>
            <a:ext cx="9400032" cy="369332"/>
          </a:xfrm>
          <a:prstGeom prst="rect">
            <a:avLst/>
          </a:prstGeom>
          <a:noFill/>
        </p:spPr>
        <p:txBody>
          <a:bodyPr wrap="square" lIns="36576" tIns="0" rIns="36576" bIns="0" anchor="ctr">
            <a:spAutoFit/>
          </a:bodyPr>
          <a:lstStyle/>
          <a:p>
            <a:pPr algn="l">
              <a:defRPr sz="2300" b="1">
                <a:solidFill>
                  <a:srgbClr val="BE7460"/>
                </a:solidFill>
                <a:latin typeface="Lato"/>
              </a:defRPr>
            </a:pPr>
            <a:r>
              <a:rPr sz="2400">
                <a:latin typeface="Times New Roman" panose="02020603050405020304" pitchFamily="18" charset="0"/>
                <a:cs typeface="Times New Roman" panose="02020603050405020304" pitchFamily="18" charset="0"/>
              </a:rPr>
              <a:t>VTI outperformed by 4.76 percentage points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75720" y="2852928"/>
            <a:ext cx="6080760" cy="6364224"/>
          </a:xfrm>
          <a:prstGeom prst="roundRect">
            <a:avLst>
              <a:gd name="adj" fmla="val 7000"/>
            </a:avLst>
          </a:prstGeom>
          <a:solidFill>
            <a:srgbClr val="EA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1896344" y="3300424"/>
            <a:ext cx="5010912" cy="430887"/>
          </a:xfrm>
          <a:prstGeom prst="rect">
            <a:avLst/>
          </a:prstGeom>
          <a:noFill/>
        </p:spPr>
        <p:txBody>
          <a:bodyPr wrap="square" lIns="36576" tIns="0" rIns="36576" bIns="0" anchor="ctr">
            <a:spAutoFit/>
          </a:bodyPr>
          <a:lstStyle/>
          <a:p>
            <a:pPr algn="l">
              <a:defRPr sz="2500" b="1">
                <a:solidFill>
                  <a:srgbClr val="125449"/>
                </a:solidFill>
                <a:latin typeface="Lato"/>
              </a:defRPr>
            </a:pPr>
            <a:r>
              <a:rPr sz="2800">
                <a:latin typeface="Times New Roman" panose="02020603050405020304" pitchFamily="18" charset="0"/>
                <a:cs typeface="Times New Roman" panose="02020603050405020304" pitchFamily="18" charset="0"/>
              </a:rPr>
              <a:t>Observed risk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905488" y="4278832"/>
            <a:ext cx="5065776" cy="430887"/>
          </a:xfrm>
          <a:prstGeom prst="rect">
            <a:avLst/>
          </a:prstGeom>
          <a:noFill/>
        </p:spPr>
        <p:txBody>
          <a:bodyPr wrap="square" lIns="36576" tIns="0" rIns="36576" bIns="0" anchor="ctr">
            <a:spAutoFit/>
          </a:bodyPr>
          <a:lstStyle/>
          <a:p>
            <a:pPr algn="l">
              <a:defRPr sz="2500" b="1">
                <a:solidFill>
                  <a:srgbClr val="2D4038"/>
                </a:solidFill>
                <a:latin typeface="Lato"/>
              </a:defRPr>
            </a:pPr>
            <a:r>
              <a:rPr sz="2800">
                <a:latin typeface="Times New Roman" panose="02020603050405020304" pitchFamily="18" charset="0"/>
                <a:cs typeface="Times New Roman" panose="02020603050405020304" pitchFamily="18" charset="0"/>
              </a:rPr>
              <a:t>11.80% vs 12.60%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923776" y="4907315"/>
            <a:ext cx="4965192" cy="307777"/>
          </a:xfrm>
          <a:prstGeom prst="rect">
            <a:avLst/>
          </a:prstGeom>
          <a:noFill/>
        </p:spPr>
        <p:txBody>
          <a:bodyPr wrap="square" lIns="36576" tIns="0" rIns="36576" bIns="0" anchor="ctr">
            <a:spAutoFit/>
          </a:bodyPr>
          <a:lstStyle/>
          <a:p>
            <a:pPr algn="l">
              <a:defRPr sz="1800" b="0">
                <a:solidFill>
                  <a:srgbClr val="65786F"/>
                </a:solidFill>
                <a:latin typeface="Lato"/>
              </a:defRPr>
            </a:pPr>
            <a:r>
              <a:rPr sz="2000">
                <a:latin typeface="Times New Roman" panose="02020603050405020304" pitchFamily="18" charset="0"/>
                <a:cs typeface="Times New Roman" panose="02020603050405020304" pitchFamily="18" charset="0"/>
              </a:rPr>
              <a:t>Annualized volatility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1896344" y="5733288"/>
            <a:ext cx="5230368" cy="0"/>
          </a:xfrm>
          <a:prstGeom prst="line">
            <a:avLst/>
          </a:prstGeom>
          <a:ln w="15240">
            <a:solidFill>
              <a:srgbClr val="D4DC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1896344" y="6035594"/>
            <a:ext cx="5074920" cy="830997"/>
          </a:xfrm>
          <a:prstGeom prst="rect">
            <a:avLst/>
          </a:prstGeom>
          <a:noFill/>
        </p:spPr>
        <p:txBody>
          <a:bodyPr wrap="square" lIns="36576" tIns="0" rIns="36576" bIns="0" anchor="ctr">
            <a:spAutoFit/>
          </a:bodyPr>
          <a:lstStyle/>
          <a:p>
            <a:pPr algn="l">
              <a:defRPr sz="5000" b="1">
                <a:solidFill>
                  <a:srgbClr val="C28E52"/>
                </a:solidFill>
                <a:latin typeface="Lato"/>
              </a:defRPr>
            </a:pPr>
            <a:r>
              <a:rPr sz="5400">
                <a:latin typeface="Times New Roman" panose="02020603050405020304" pitchFamily="18" charset="0"/>
                <a:cs typeface="Times New Roman" panose="02020603050405020304" pitchFamily="18" charset="0"/>
              </a:rPr>
              <a:t>6.91%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932920" y="6969287"/>
            <a:ext cx="5029200" cy="307777"/>
          </a:xfrm>
          <a:prstGeom prst="rect">
            <a:avLst/>
          </a:prstGeom>
          <a:noFill/>
        </p:spPr>
        <p:txBody>
          <a:bodyPr wrap="square" lIns="36576" tIns="0" rIns="36576" bIns="0" anchor="ctr">
            <a:spAutoFit/>
          </a:bodyPr>
          <a:lstStyle/>
          <a:p>
            <a:pPr algn="l">
              <a:defRPr sz="1800" b="0">
                <a:solidFill>
                  <a:srgbClr val="2D4038"/>
                </a:solidFill>
                <a:latin typeface="Lato"/>
              </a:defRPr>
            </a:pPr>
            <a:r>
              <a:rPr sz="2000">
                <a:latin typeface="Times New Roman" panose="02020603050405020304" pitchFamily="18" charset="0"/>
                <a:cs typeface="Times New Roman" panose="02020603050405020304" pitchFamily="18" charset="0"/>
              </a:rPr>
              <a:t>Annualized tracking error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932920" y="7857815"/>
            <a:ext cx="5038344" cy="615553"/>
          </a:xfrm>
          <a:prstGeom prst="rect">
            <a:avLst/>
          </a:prstGeom>
          <a:noFill/>
        </p:spPr>
        <p:txBody>
          <a:bodyPr wrap="square" lIns="36576" tIns="0" rIns="36576" bIns="0" anchor="ctr">
            <a:spAutoFit/>
          </a:bodyPr>
          <a:lstStyle/>
          <a:p>
            <a:pPr algn="l">
              <a:defRPr sz="1800" b="1">
                <a:solidFill>
                  <a:srgbClr val="125449"/>
                </a:solidFill>
                <a:latin typeface="Lato"/>
              </a:defRPr>
            </a:pPr>
            <a:r>
              <a:rPr sz="2000">
                <a:latin typeface="Times New Roman" panose="02020603050405020304" pitchFamily="18" charset="0"/>
                <a:cs typeface="Times New Roman" panose="02020603050405020304" pitchFamily="18" charset="0"/>
              </a:rPr>
              <a:t>The future test did not change our 2022 decision.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67512" y="306658"/>
            <a:ext cx="9144000" cy="246221"/>
          </a:xfrm>
          <a:prstGeom prst="rect">
            <a:avLst/>
          </a:prstGeom>
          <a:noFill/>
        </p:spPr>
        <p:txBody>
          <a:bodyPr wrap="square" lIns="36576" tIns="0" rIns="36576" bIns="0" anchor="ctr">
            <a:spAutoFit/>
          </a:bodyPr>
          <a:lstStyle/>
          <a:p>
            <a:pPr algn="l">
              <a:defRPr sz="1500" b="1">
                <a:solidFill>
                  <a:srgbClr val="125449"/>
                </a:solidFill>
                <a:latin typeface="Lato"/>
              </a:defRPr>
            </a:pPr>
            <a:r>
              <a:rPr sz="1600">
                <a:latin typeface="Times New Roman" panose="02020603050405020304" pitchFamily="18" charset="0"/>
                <a:cs typeface="Times New Roman" panose="02020603050405020304" pitchFamily="18" charset="0"/>
              </a:rPr>
              <a:t>KAPPA FOUNDATION  /  GROUP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252960" y="306658"/>
            <a:ext cx="5212080" cy="246221"/>
          </a:xfrm>
          <a:prstGeom prst="rect">
            <a:avLst/>
          </a:prstGeom>
          <a:noFill/>
        </p:spPr>
        <p:txBody>
          <a:bodyPr wrap="square" lIns="36576" tIns="0" rIns="36576" bIns="0" anchor="ctr">
            <a:spAutoFit/>
          </a:bodyPr>
          <a:lstStyle/>
          <a:p>
            <a:pPr algn="r">
              <a:defRPr sz="1500" b="1">
                <a:solidFill>
                  <a:srgbClr val="125449"/>
                </a:solidFill>
                <a:latin typeface="Lato"/>
              </a:defRPr>
            </a:pPr>
            <a:r>
              <a:rPr sz="1600">
                <a:latin typeface="Times New Roman" panose="02020603050405020304" pitchFamily="18" charset="0"/>
                <a:cs typeface="Times New Roman" panose="02020603050405020304" pitchFamily="18" charset="0"/>
              </a:rPr>
              <a:t>GOVERNANCE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94944" y="832104"/>
            <a:ext cx="16888968" cy="0"/>
          </a:xfrm>
          <a:prstGeom prst="line">
            <a:avLst/>
          </a:prstGeom>
          <a:ln w="19050">
            <a:solidFill>
              <a:srgbClr val="12544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13232" y="1179350"/>
            <a:ext cx="16642080" cy="677108"/>
          </a:xfrm>
          <a:prstGeom prst="rect">
            <a:avLst/>
          </a:prstGeom>
          <a:noFill/>
        </p:spPr>
        <p:txBody>
          <a:bodyPr wrap="square" lIns="36576" tIns="0" rIns="36576" bIns="0" anchor="ctr">
            <a:spAutoFit/>
          </a:bodyPr>
          <a:lstStyle/>
          <a:p>
            <a:pPr algn="l">
              <a:defRPr sz="4300" b="1">
                <a:solidFill>
                  <a:srgbClr val="125449"/>
                </a:solidFill>
                <a:latin typeface="Lato"/>
              </a:defRPr>
            </a:pPr>
            <a:r>
              <a:rPr sz="4400">
                <a:latin typeface="Times New Roman" panose="02020603050405020304" pitchFamily="18" charset="0"/>
                <a:cs typeface="Times New Roman" panose="02020603050405020304" pitchFamily="18" charset="0"/>
              </a:rPr>
              <a:t>Implementation requires monitoring and discipline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" y="2069330"/>
            <a:ext cx="16459200" cy="369332"/>
          </a:xfrm>
          <a:prstGeom prst="rect">
            <a:avLst/>
          </a:prstGeom>
          <a:noFill/>
        </p:spPr>
        <p:txBody>
          <a:bodyPr wrap="square" lIns="36576" tIns="0" rIns="36576" bIns="0" anchor="ctr">
            <a:spAutoFit/>
          </a:bodyPr>
          <a:lstStyle/>
          <a:p>
            <a:pPr algn="l">
              <a:defRPr sz="2100" b="0">
                <a:solidFill>
                  <a:srgbClr val="65786F"/>
                </a:solidFill>
                <a:latin typeface="Lato"/>
              </a:defRPr>
            </a:pPr>
            <a:r>
              <a:rPr sz="2400">
                <a:latin typeface="Times New Roman" panose="02020603050405020304" pitchFamily="18" charset="0"/>
                <a:cs typeface="Times New Roman" panose="02020603050405020304" pitchFamily="18" charset="0"/>
              </a:rPr>
              <a:t>Our proposed review rules still require trustee agreement.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035272" y="9711262"/>
            <a:ext cx="502920" cy="246221"/>
          </a:xfrm>
          <a:prstGeom prst="rect">
            <a:avLst/>
          </a:prstGeom>
          <a:noFill/>
        </p:spPr>
        <p:txBody>
          <a:bodyPr wrap="square" lIns="36576" tIns="0" rIns="36576" bIns="0" anchor="ctr">
            <a:spAutoFit/>
          </a:bodyPr>
          <a:lstStyle/>
          <a:p>
            <a:pPr algn="r">
              <a:defRPr sz="1400" b="1">
                <a:solidFill>
                  <a:srgbClr val="65786F"/>
                </a:solidFill>
                <a:latin typeface="Lato"/>
              </a:defRPr>
            </a:pPr>
            <a:r>
              <a:rPr sz="1600">
                <a:latin typeface="Times New Roman" panose="02020603050405020304" pitchFamily="18" charset="0"/>
                <a:cs typeface="Times New Roman" panose="02020603050405020304" pitchFamily="18" charset="0"/>
              </a:rPr>
              <a:t>16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852928"/>
            <a:ext cx="16806672" cy="63550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1298448" y="3328416"/>
            <a:ext cx="4270248" cy="1261872"/>
          </a:xfrm>
          <a:prstGeom prst="roundRect">
            <a:avLst>
              <a:gd name="adj" fmla="val 7000"/>
            </a:avLst>
          </a:prstGeom>
          <a:solidFill>
            <a:srgbClr val="EA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517904" y="3556457"/>
            <a:ext cx="1380744" cy="430887"/>
          </a:xfrm>
          <a:prstGeom prst="rect">
            <a:avLst/>
          </a:prstGeom>
          <a:noFill/>
        </p:spPr>
        <p:txBody>
          <a:bodyPr wrap="square" lIns="36576" tIns="0" rIns="36576" bIns="0" anchor="ctr">
            <a:spAutoFit/>
          </a:bodyPr>
          <a:lstStyle/>
          <a:p>
            <a:pPr algn="l">
              <a:defRPr sz="2400" b="1">
                <a:solidFill>
                  <a:srgbClr val="125449"/>
                </a:solidFill>
                <a:latin typeface="Lato"/>
              </a:defRPr>
            </a:pPr>
            <a:r>
              <a:rPr sz="2800">
                <a:latin typeface="Times New Roman" panose="02020603050405020304" pitchFamily="18" charset="0"/>
                <a:cs typeface="Times New Roman" panose="02020603050405020304" pitchFamily="18" charset="0"/>
              </a:rPr>
              <a:t>2024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3530250"/>
            <a:ext cx="2121408" cy="492443"/>
          </a:xfrm>
          <a:prstGeom prst="rect">
            <a:avLst/>
          </a:prstGeom>
          <a:noFill/>
        </p:spPr>
        <p:txBody>
          <a:bodyPr wrap="square" lIns="36576" tIns="0" rIns="36576" bIns="0" anchor="ctr">
            <a:spAutoFit/>
          </a:bodyPr>
          <a:lstStyle/>
          <a:p>
            <a:pPr algn="r">
              <a:defRPr sz="3000" b="1">
                <a:solidFill>
                  <a:srgbClr val="C28E52"/>
                </a:solidFill>
                <a:latin typeface="Lato"/>
              </a:defRPr>
            </a:pPr>
            <a:r>
              <a:rPr sz="3200">
                <a:latin typeface="Times New Roman" panose="02020603050405020304" pitchFamily="18" charset="0"/>
                <a:cs typeface="Times New Roman" panose="02020603050405020304" pitchFamily="18" charset="0"/>
              </a:rPr>
              <a:t>$2.4m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577840" y="3959352"/>
            <a:ext cx="859536" cy="0"/>
          </a:xfrm>
          <a:prstGeom prst="line">
            <a:avLst/>
          </a:prstGeom>
          <a:ln w="25400">
            <a:solidFill>
              <a:srgbClr val="12544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6528816" y="3328416"/>
            <a:ext cx="4270248" cy="1261872"/>
          </a:xfrm>
          <a:prstGeom prst="roundRect">
            <a:avLst>
              <a:gd name="adj" fmla="val 7000"/>
            </a:avLst>
          </a:prstGeom>
          <a:solidFill>
            <a:srgbClr val="EA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6748272" y="3556457"/>
            <a:ext cx="1380744" cy="430887"/>
          </a:xfrm>
          <a:prstGeom prst="rect">
            <a:avLst/>
          </a:prstGeom>
          <a:noFill/>
        </p:spPr>
        <p:txBody>
          <a:bodyPr wrap="square" lIns="36576" tIns="0" rIns="36576" bIns="0" anchor="ctr">
            <a:spAutoFit/>
          </a:bodyPr>
          <a:lstStyle/>
          <a:p>
            <a:pPr algn="l">
              <a:defRPr sz="2400" b="1">
                <a:solidFill>
                  <a:srgbClr val="125449"/>
                </a:solidFill>
                <a:latin typeface="Lato"/>
              </a:defRPr>
            </a:pPr>
            <a:r>
              <a:rPr sz="2800">
                <a:latin typeface="Times New Roman" panose="02020603050405020304" pitchFamily="18" charset="0"/>
                <a:cs typeface="Times New Roman" panose="02020603050405020304" pitchFamily="18" charset="0"/>
              </a:rPr>
              <a:t>2025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30767" y="3530250"/>
            <a:ext cx="2121408" cy="492443"/>
          </a:xfrm>
          <a:prstGeom prst="rect">
            <a:avLst/>
          </a:prstGeom>
          <a:noFill/>
        </p:spPr>
        <p:txBody>
          <a:bodyPr wrap="square" lIns="36576" tIns="0" rIns="36576" bIns="0" anchor="ctr">
            <a:spAutoFit/>
          </a:bodyPr>
          <a:lstStyle/>
          <a:p>
            <a:pPr algn="r">
              <a:defRPr sz="3000" b="1">
                <a:solidFill>
                  <a:srgbClr val="C28E52"/>
                </a:solidFill>
                <a:latin typeface="Lato"/>
              </a:defRPr>
            </a:pPr>
            <a:r>
              <a:rPr sz="3200">
                <a:latin typeface="Times New Roman" panose="02020603050405020304" pitchFamily="18" charset="0"/>
                <a:cs typeface="Times New Roman" panose="02020603050405020304" pitchFamily="18" charset="0"/>
              </a:rPr>
              <a:t>$1.2m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0808208" y="3959352"/>
            <a:ext cx="859536" cy="0"/>
          </a:xfrm>
          <a:prstGeom prst="line">
            <a:avLst/>
          </a:prstGeom>
          <a:ln w="25400">
            <a:solidFill>
              <a:srgbClr val="12544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11759184" y="3328416"/>
            <a:ext cx="4270248" cy="1261872"/>
          </a:xfrm>
          <a:prstGeom prst="roundRect">
            <a:avLst>
              <a:gd name="adj" fmla="val 7000"/>
            </a:avLst>
          </a:prstGeom>
          <a:solidFill>
            <a:srgbClr val="EA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11978640" y="3556457"/>
            <a:ext cx="1380744" cy="430887"/>
          </a:xfrm>
          <a:prstGeom prst="rect">
            <a:avLst/>
          </a:prstGeom>
          <a:noFill/>
        </p:spPr>
        <p:txBody>
          <a:bodyPr wrap="square" lIns="36576" tIns="0" rIns="36576" bIns="0" anchor="ctr">
            <a:spAutoFit/>
          </a:bodyPr>
          <a:lstStyle/>
          <a:p>
            <a:pPr algn="l">
              <a:defRPr sz="2400" b="1">
                <a:solidFill>
                  <a:srgbClr val="125449"/>
                </a:solidFill>
                <a:latin typeface="Lato"/>
              </a:defRPr>
            </a:pPr>
            <a:r>
              <a:rPr sz="2800">
                <a:latin typeface="Times New Roman" panose="02020603050405020304" pitchFamily="18" charset="0"/>
                <a:cs typeface="Times New Roman" panose="02020603050405020304" pitchFamily="18" charset="0"/>
              </a:rPr>
              <a:t>2027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661136" y="3530250"/>
            <a:ext cx="2121408" cy="492443"/>
          </a:xfrm>
          <a:prstGeom prst="rect">
            <a:avLst/>
          </a:prstGeom>
          <a:noFill/>
        </p:spPr>
        <p:txBody>
          <a:bodyPr wrap="square" lIns="36576" tIns="0" rIns="36576" bIns="0" anchor="ctr">
            <a:spAutoFit/>
          </a:bodyPr>
          <a:lstStyle/>
          <a:p>
            <a:pPr algn="r">
              <a:defRPr sz="3000" b="1">
                <a:solidFill>
                  <a:srgbClr val="C28E52"/>
                </a:solidFill>
                <a:latin typeface="Lato"/>
              </a:defRPr>
            </a:pPr>
            <a:r>
              <a:rPr sz="3200">
                <a:latin typeface="Times New Roman" panose="02020603050405020304" pitchFamily="18" charset="0"/>
                <a:cs typeface="Times New Roman" panose="02020603050405020304" pitchFamily="18" charset="0"/>
              </a:rPr>
              <a:t>$2.4m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7592" y="5088076"/>
            <a:ext cx="15361920" cy="430887"/>
          </a:xfrm>
          <a:prstGeom prst="rect">
            <a:avLst/>
          </a:prstGeom>
          <a:noFill/>
        </p:spPr>
        <p:txBody>
          <a:bodyPr wrap="square" lIns="36576" tIns="0" rIns="36576" bIns="0" anchor="ctr">
            <a:spAutoFit/>
          </a:bodyPr>
          <a:lstStyle/>
          <a:p>
            <a:pPr algn="l">
              <a:defRPr sz="2500" b="1">
                <a:solidFill>
                  <a:srgbClr val="125449"/>
                </a:solidFill>
                <a:latin typeface="Lato"/>
              </a:defRPr>
            </a:pPr>
            <a:r>
              <a:rPr sz="2800">
                <a:latin typeface="Times New Roman" panose="02020603050405020304" pitchFamily="18" charset="0"/>
                <a:cs typeface="Times New Roman" panose="02020603050405020304" pitchFamily="18" charset="0"/>
              </a:rPr>
              <a:t>Rolling withdrawal-adjusted review levels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307592" y="5907024"/>
            <a:ext cx="6976872" cy="2103120"/>
          </a:xfrm>
          <a:prstGeom prst="roundRect">
            <a:avLst>
              <a:gd name="adj" fmla="val 7000"/>
            </a:avLst>
          </a:prstGeom>
          <a:solidFill>
            <a:srgbClr val="EA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627632" y="6268879"/>
            <a:ext cx="6217920" cy="492443"/>
          </a:xfrm>
          <a:prstGeom prst="rect">
            <a:avLst/>
          </a:prstGeom>
          <a:noFill/>
        </p:spPr>
        <p:txBody>
          <a:bodyPr wrap="square" lIns="36576" tIns="0" rIns="36576" bIns="0" anchor="ctr">
            <a:spAutoFit/>
          </a:bodyPr>
          <a:lstStyle/>
          <a:p>
            <a:pPr algn="l">
              <a:defRPr sz="3100" b="1">
                <a:solidFill>
                  <a:srgbClr val="C28E52"/>
                </a:solidFill>
                <a:latin typeface="Lato"/>
              </a:defRPr>
            </a:pPr>
            <a:r>
              <a:rPr sz="3200">
                <a:latin typeface="Times New Roman" panose="02020603050405020304" pitchFamily="18" charset="0"/>
                <a:cs typeface="Times New Roman" panose="02020603050405020304" pitchFamily="18" charset="0"/>
              </a:rPr>
              <a:t>12% trailing loss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36776" y="7088159"/>
            <a:ext cx="6190488" cy="307777"/>
          </a:xfrm>
          <a:prstGeom prst="rect">
            <a:avLst/>
          </a:prstGeom>
          <a:noFill/>
        </p:spPr>
        <p:txBody>
          <a:bodyPr wrap="square" lIns="36576" tIns="0" rIns="36576" bIns="0" anchor="ctr">
            <a:spAutoFit/>
          </a:bodyPr>
          <a:lstStyle/>
          <a:p>
            <a:pPr algn="l">
              <a:defRPr sz="1800" b="0">
                <a:solidFill>
                  <a:srgbClr val="2D4038"/>
                </a:solidFill>
                <a:latin typeface="Lato"/>
              </a:defRPr>
            </a:pPr>
            <a:r>
              <a:rPr sz="2000">
                <a:latin typeface="Times New Roman" panose="02020603050405020304" pitchFamily="18" charset="0"/>
                <a:cs typeface="Times New Roman" panose="02020603050405020304" pitchFamily="18" charset="0"/>
              </a:rPr>
              <a:t>Warning: review cash and assumptions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208008" y="5907024"/>
            <a:ext cx="6958584" cy="2103120"/>
          </a:xfrm>
          <a:prstGeom prst="roundRect">
            <a:avLst>
              <a:gd name="adj" fmla="val 7000"/>
            </a:avLst>
          </a:prstGeom>
          <a:solidFill>
            <a:srgbClr val="EA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9537192" y="6268879"/>
            <a:ext cx="6153912" cy="492443"/>
          </a:xfrm>
          <a:prstGeom prst="rect">
            <a:avLst/>
          </a:prstGeom>
          <a:noFill/>
        </p:spPr>
        <p:txBody>
          <a:bodyPr wrap="square" lIns="36576" tIns="0" rIns="36576" bIns="0" anchor="ctr">
            <a:spAutoFit/>
          </a:bodyPr>
          <a:lstStyle/>
          <a:p>
            <a:pPr algn="l">
              <a:defRPr sz="3100" b="1">
                <a:solidFill>
                  <a:srgbClr val="BE7460"/>
                </a:solidFill>
                <a:latin typeface="Lato"/>
              </a:defRPr>
            </a:pPr>
            <a:r>
              <a:rPr sz="3200">
                <a:latin typeface="Times New Roman" panose="02020603050405020304" pitchFamily="18" charset="0"/>
                <a:cs typeface="Times New Roman" panose="02020603050405020304" pitchFamily="18" charset="0"/>
              </a:rPr>
              <a:t>15% trailing loss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37192" y="7088159"/>
            <a:ext cx="6153912" cy="307777"/>
          </a:xfrm>
          <a:prstGeom prst="rect">
            <a:avLst/>
          </a:prstGeom>
          <a:noFill/>
        </p:spPr>
        <p:txBody>
          <a:bodyPr wrap="square" lIns="36576" tIns="0" rIns="36576" bIns="0" anchor="ctr">
            <a:spAutoFit/>
          </a:bodyPr>
          <a:lstStyle/>
          <a:p>
            <a:pPr algn="l">
              <a:defRPr sz="1800" b="0">
                <a:solidFill>
                  <a:srgbClr val="2D4038"/>
                </a:solidFill>
                <a:latin typeface="Lato"/>
              </a:defRPr>
            </a:pPr>
            <a:r>
              <a:rPr sz="2000">
                <a:latin typeface="Times New Roman" panose="02020603050405020304" pitchFamily="18" charset="0"/>
                <a:cs typeface="Times New Roman" panose="02020603050405020304" pitchFamily="18" charset="0"/>
              </a:rPr>
              <a:t>Stronger trustee review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25880" y="8561570"/>
            <a:ext cx="15160751" cy="369332"/>
          </a:xfrm>
          <a:prstGeom prst="rect">
            <a:avLst/>
          </a:prstGeom>
          <a:noFill/>
        </p:spPr>
        <p:txBody>
          <a:bodyPr wrap="square" lIns="36576" tIns="0" rIns="36576" bIns="0" anchor="ctr">
            <a:spAutoFit/>
          </a:bodyPr>
          <a:lstStyle/>
          <a:p>
            <a:pPr algn="l">
              <a:defRPr sz="2000" b="1">
                <a:solidFill>
                  <a:srgbClr val="125449"/>
                </a:solidFill>
                <a:latin typeface="Lato"/>
              </a:defRPr>
            </a:pPr>
            <a:r>
              <a:rPr sz="2400">
                <a:latin typeface="Times New Roman" panose="02020603050405020304" pitchFamily="18" charset="0"/>
                <a:cs typeface="Times New Roman" panose="02020603050405020304" pitchFamily="18" charset="0"/>
              </a:rPr>
              <a:t>Rolling TWR = Π(1 + withdrawal-adjusted monthly return) − 1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67512" y="306658"/>
            <a:ext cx="9144000" cy="246221"/>
          </a:xfrm>
          <a:prstGeom prst="rect">
            <a:avLst/>
          </a:prstGeom>
          <a:noFill/>
        </p:spPr>
        <p:txBody>
          <a:bodyPr wrap="square" lIns="36576" tIns="0" rIns="36576" bIns="0" anchor="ctr">
            <a:spAutoFit/>
          </a:bodyPr>
          <a:lstStyle/>
          <a:p>
            <a:pPr algn="l">
              <a:defRPr sz="1500" b="1">
                <a:solidFill>
                  <a:srgbClr val="125449"/>
                </a:solidFill>
                <a:latin typeface="Lato"/>
              </a:defRPr>
            </a:pPr>
            <a:r>
              <a:rPr sz="1600">
                <a:latin typeface="Times New Roman" panose="02020603050405020304" pitchFamily="18" charset="0"/>
                <a:cs typeface="Times New Roman" panose="02020603050405020304" pitchFamily="18" charset="0"/>
              </a:rPr>
              <a:t>KAPPA FOUNDATION  /  GROUP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252960" y="306658"/>
            <a:ext cx="5212080" cy="246221"/>
          </a:xfrm>
          <a:prstGeom prst="rect">
            <a:avLst/>
          </a:prstGeom>
          <a:noFill/>
        </p:spPr>
        <p:txBody>
          <a:bodyPr wrap="square" lIns="36576" tIns="0" rIns="36576" bIns="0" anchor="ctr">
            <a:spAutoFit/>
          </a:bodyPr>
          <a:lstStyle/>
          <a:p>
            <a:pPr algn="r">
              <a:defRPr sz="1500" b="1">
                <a:solidFill>
                  <a:srgbClr val="125449"/>
                </a:solidFill>
                <a:latin typeface="Lato"/>
              </a:defRPr>
            </a:pPr>
            <a:r>
              <a:rPr sz="1600">
                <a:latin typeface="Times New Roman" panose="02020603050405020304" pitchFamily="18" charset="0"/>
                <a:cs typeface="Times New Roman" panose="02020603050405020304" pitchFamily="18" charset="0"/>
              </a:rPr>
              <a:t>BOARD DECISION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94944" y="832104"/>
            <a:ext cx="16888968" cy="0"/>
          </a:xfrm>
          <a:prstGeom prst="line">
            <a:avLst/>
          </a:prstGeom>
          <a:ln w="19050">
            <a:solidFill>
              <a:srgbClr val="12544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13232" y="1179350"/>
            <a:ext cx="16642080" cy="677108"/>
          </a:xfrm>
          <a:prstGeom prst="rect">
            <a:avLst/>
          </a:prstGeom>
          <a:noFill/>
        </p:spPr>
        <p:txBody>
          <a:bodyPr wrap="square" lIns="36576" tIns="0" rIns="36576" bIns="0" anchor="ctr">
            <a:spAutoFit/>
          </a:bodyPr>
          <a:lstStyle/>
          <a:p>
            <a:pPr algn="l">
              <a:defRPr sz="4300" b="1">
                <a:solidFill>
                  <a:srgbClr val="125449"/>
                </a:solidFill>
                <a:latin typeface="Lato"/>
              </a:defRPr>
            </a:pPr>
            <a:r>
              <a:rPr sz="4400">
                <a:latin typeface="Times New Roman" panose="02020603050405020304" pitchFamily="18" charset="0"/>
                <a:cs typeface="Times New Roman" panose="02020603050405020304" pitchFamily="18" charset="0"/>
              </a:rPr>
              <a:t>One clear recommendation, with risks disclosed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" y="2069330"/>
            <a:ext cx="16459200" cy="369332"/>
          </a:xfrm>
          <a:prstGeom prst="rect">
            <a:avLst/>
          </a:prstGeom>
          <a:noFill/>
        </p:spPr>
        <p:txBody>
          <a:bodyPr wrap="square" lIns="36576" tIns="0" rIns="36576" bIns="0" anchor="ctr">
            <a:spAutoFit/>
          </a:bodyPr>
          <a:lstStyle/>
          <a:p>
            <a:pPr algn="l">
              <a:defRPr sz="2100" b="0">
                <a:solidFill>
                  <a:srgbClr val="65786F"/>
                </a:solidFill>
                <a:latin typeface="Lato"/>
              </a:defRPr>
            </a:pPr>
            <a:r>
              <a:rPr sz="2400">
                <a:latin typeface="Times New Roman" panose="02020603050405020304" pitchFamily="18" charset="0"/>
                <a:cs typeface="Times New Roman" panose="02020603050405020304" pitchFamily="18" charset="0"/>
              </a:rPr>
              <a:t>What we would ask the trustees to approve.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035272" y="9711262"/>
            <a:ext cx="502920" cy="246221"/>
          </a:xfrm>
          <a:prstGeom prst="rect">
            <a:avLst/>
          </a:prstGeom>
          <a:noFill/>
        </p:spPr>
        <p:txBody>
          <a:bodyPr wrap="square" lIns="36576" tIns="0" rIns="36576" bIns="0" anchor="ctr">
            <a:spAutoFit/>
          </a:bodyPr>
          <a:lstStyle/>
          <a:p>
            <a:pPr algn="r">
              <a:defRPr sz="1400" b="1">
                <a:solidFill>
                  <a:srgbClr val="65786F"/>
                </a:solidFill>
                <a:latin typeface="Lato"/>
              </a:defRPr>
            </a:pPr>
            <a:r>
              <a:rPr sz="1600">
                <a:latin typeface="Times New Roman" panose="02020603050405020304" pitchFamily="18" charset="0"/>
                <a:cs typeface="Times New Roman" panose="02020603050405020304" pitchFamily="18" charset="0"/>
              </a:rPr>
              <a:t>17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2376" y="2862072"/>
            <a:ext cx="7607808" cy="634593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060704" y="3285482"/>
            <a:ext cx="6958584" cy="369332"/>
          </a:xfrm>
          <a:prstGeom prst="rect">
            <a:avLst/>
          </a:prstGeom>
          <a:noFill/>
        </p:spPr>
        <p:txBody>
          <a:bodyPr wrap="square" lIns="36576" tIns="0" rIns="36576" bIns="0" anchor="ctr">
            <a:spAutoFit/>
          </a:bodyPr>
          <a:lstStyle/>
          <a:p>
            <a:pPr algn="l">
              <a:defRPr sz="2200" b="1">
                <a:solidFill>
                  <a:srgbClr val="125449"/>
                </a:solidFill>
                <a:latin typeface="Lato"/>
              </a:defRPr>
            </a:pPr>
            <a:r>
              <a:rPr sz="2400">
                <a:latin typeface="Times New Roman" panose="02020603050405020304" pitchFamily="18" charset="0"/>
                <a:cs typeface="Times New Roman" panose="02020603050405020304" pitchFamily="18" charset="0"/>
              </a:rPr>
              <a:t>2030 goal under equity scenarios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7107032"/>
              </p:ext>
            </p:extLst>
          </p:nvPr>
        </p:nvGraphicFramePr>
        <p:xfrm>
          <a:off x="1051560" y="3858768"/>
          <a:ext cx="6894576" cy="405993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1115568" y="8226587"/>
            <a:ext cx="6894576" cy="307777"/>
          </a:xfrm>
          <a:prstGeom prst="rect">
            <a:avLst/>
          </a:prstGeom>
          <a:noFill/>
        </p:spPr>
        <p:txBody>
          <a:bodyPr wrap="square" lIns="36576" tIns="0" rIns="36576" bIns="0" anchor="ctr">
            <a:spAutoFit/>
          </a:bodyPr>
          <a:lstStyle/>
          <a:p>
            <a:pPr algn="l">
              <a:defRPr sz="1800" b="1">
                <a:solidFill>
                  <a:srgbClr val="125449"/>
                </a:solidFill>
                <a:latin typeface="Lato"/>
              </a:defRPr>
            </a:pPr>
            <a:r>
              <a:rPr sz="2000">
                <a:latin typeface="Times New Roman" panose="02020603050405020304" pitchFamily="18" charset="0"/>
                <a:cs typeface="Times New Roman" panose="02020603050405020304" pitchFamily="18" charset="0"/>
              </a:rPr>
              <a:t>Return scenarios, not forecasts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" y="8687134"/>
            <a:ext cx="6812280" cy="246221"/>
          </a:xfrm>
          <a:prstGeom prst="rect">
            <a:avLst/>
          </a:prstGeom>
          <a:noFill/>
        </p:spPr>
        <p:txBody>
          <a:bodyPr wrap="square" lIns="36576" tIns="0" rIns="36576" bIns="0" anchor="ctr">
            <a:spAutoFit/>
          </a:bodyPr>
          <a:lstStyle/>
          <a:p>
            <a:pPr algn="l">
              <a:defRPr sz="1500" b="0">
                <a:solidFill>
                  <a:srgbClr val="65786F"/>
                </a:solidFill>
                <a:latin typeface="Lato"/>
              </a:defRPr>
            </a:pPr>
            <a:r>
              <a:rPr sz="1600">
                <a:latin typeface="Times New Roman" panose="02020603050405020304" pitchFamily="18" charset="0"/>
                <a:cs typeface="Times New Roman" panose="02020603050405020304" pitchFamily="18" charset="0"/>
              </a:rPr>
              <a:t>2.3% inflation | unspent bond cash at 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95944" y="2862072"/>
            <a:ext cx="8851392" cy="6345936"/>
          </a:xfrm>
          <a:prstGeom prst="roundRect">
            <a:avLst>
              <a:gd name="adj" fmla="val 7000"/>
            </a:avLst>
          </a:prstGeom>
          <a:solidFill>
            <a:srgbClr val="EA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9171432" y="3328416"/>
            <a:ext cx="658368" cy="658368"/>
          </a:xfrm>
          <a:prstGeom prst="roundRect">
            <a:avLst>
              <a:gd name="adj" fmla="val 7000"/>
            </a:avLst>
          </a:prstGeom>
          <a:solidFill>
            <a:srgbClr val="1254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9226296" y="3468362"/>
            <a:ext cx="548640" cy="369332"/>
          </a:xfrm>
          <a:prstGeom prst="rect">
            <a:avLst/>
          </a:prstGeom>
          <a:noFill/>
        </p:spPr>
        <p:txBody>
          <a:bodyPr wrap="square" lIns="36576" tIns="0" rIns="36576" bIns="0" anchor="ctr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Lato"/>
              </a:defRPr>
            </a:pPr>
            <a:r>
              <a:rPr sz="2400">
                <a:latin typeface="Times New Roman" panose="02020603050405020304" pitchFamily="18" charset="0"/>
                <a:cs typeface="Times New Roman" panose="02020603050405020304" pitchFamily="18" charset="0"/>
              </a:rPr>
              <a:t>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30968" y="3332428"/>
            <a:ext cx="6839712" cy="430887"/>
          </a:xfrm>
          <a:prstGeom prst="rect">
            <a:avLst/>
          </a:prstGeom>
          <a:noFill/>
        </p:spPr>
        <p:txBody>
          <a:bodyPr wrap="square" lIns="36576" tIns="0" rIns="36576" bIns="0" anchor="ctr">
            <a:spAutoFit/>
          </a:bodyPr>
          <a:lstStyle/>
          <a:p>
            <a:pPr algn="l">
              <a:defRPr sz="2500" b="1">
                <a:solidFill>
                  <a:srgbClr val="125449"/>
                </a:solidFill>
                <a:latin typeface="Lato"/>
              </a:defRPr>
            </a:pPr>
            <a:r>
              <a:rPr sz="2800">
                <a:latin typeface="Times New Roman" panose="02020603050405020304" pitchFamily="18" charset="0"/>
                <a:cs typeface="Times New Roman" panose="02020603050405020304" pitchFamily="18" charset="0"/>
              </a:rPr>
              <a:t>Fund the promises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40112" y="4102643"/>
            <a:ext cx="6867144" cy="307777"/>
          </a:xfrm>
          <a:prstGeom prst="rect">
            <a:avLst/>
          </a:prstGeom>
          <a:noFill/>
        </p:spPr>
        <p:txBody>
          <a:bodyPr wrap="square" lIns="36576" tIns="0" rIns="36576" bIns="0" anchor="ctr">
            <a:spAutoFit/>
          </a:bodyPr>
          <a:lstStyle/>
          <a:p>
            <a:pPr algn="l">
              <a:defRPr sz="1800" b="0">
                <a:solidFill>
                  <a:srgbClr val="2D4038"/>
                </a:solidFill>
                <a:latin typeface="Lato"/>
              </a:defRPr>
            </a:pPr>
            <a:r>
              <a:rPr sz="2000">
                <a:latin typeface="Times New Roman" panose="02020603050405020304" pitchFamily="18" charset="0"/>
                <a:cs typeface="Times New Roman" panose="02020603050405020304" pitchFamily="18" charset="0"/>
              </a:rPr>
              <a:t>Principal-match every revised payment.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9162288" y="4672584"/>
            <a:ext cx="7891272" cy="0"/>
          </a:xfrm>
          <a:prstGeom prst="line">
            <a:avLst/>
          </a:prstGeom>
          <a:ln w="15240">
            <a:solidFill>
              <a:srgbClr val="D4DC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9171432" y="5029200"/>
            <a:ext cx="658368" cy="658368"/>
          </a:xfrm>
          <a:prstGeom prst="roundRect">
            <a:avLst>
              <a:gd name="adj" fmla="val 7000"/>
            </a:avLst>
          </a:prstGeom>
          <a:solidFill>
            <a:srgbClr val="1254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9226296" y="5169146"/>
            <a:ext cx="548640" cy="369332"/>
          </a:xfrm>
          <a:prstGeom prst="rect">
            <a:avLst/>
          </a:prstGeom>
          <a:noFill/>
        </p:spPr>
        <p:txBody>
          <a:bodyPr wrap="square" lIns="36576" tIns="0" rIns="36576" bIns="0" anchor="ctr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Lato"/>
              </a:defRPr>
            </a:pPr>
            <a:r>
              <a:rPr sz="2400">
                <a:latin typeface="Times New Roman" panose="02020603050405020304" pitchFamily="18" charset="0"/>
                <a:cs typeface="Times New Roman" panose="02020603050405020304" pitchFamily="18" charset="0"/>
              </a:rPr>
              <a:t>02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30968" y="5033212"/>
            <a:ext cx="6839712" cy="430887"/>
          </a:xfrm>
          <a:prstGeom prst="rect">
            <a:avLst/>
          </a:prstGeom>
          <a:noFill/>
        </p:spPr>
        <p:txBody>
          <a:bodyPr wrap="square" lIns="36576" tIns="0" rIns="36576" bIns="0" anchor="ctr">
            <a:spAutoFit/>
          </a:bodyPr>
          <a:lstStyle/>
          <a:p>
            <a:pPr algn="l">
              <a:defRPr sz="2500" b="1">
                <a:solidFill>
                  <a:srgbClr val="125449"/>
                </a:solidFill>
                <a:latin typeface="Lato"/>
              </a:defRPr>
            </a:pPr>
            <a:r>
              <a:rPr sz="2800">
                <a:latin typeface="Times New Roman" panose="02020603050405020304" pitchFamily="18" charset="0"/>
                <a:cs typeface="Times New Roman" panose="02020603050405020304" pitchFamily="18" charset="0"/>
              </a:rPr>
              <a:t>Keep the original equity choice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40112" y="5803427"/>
            <a:ext cx="6867144" cy="307777"/>
          </a:xfrm>
          <a:prstGeom prst="rect">
            <a:avLst/>
          </a:prstGeom>
          <a:noFill/>
        </p:spPr>
        <p:txBody>
          <a:bodyPr wrap="square" lIns="36576" tIns="0" rIns="36576" bIns="0" anchor="ctr">
            <a:spAutoFit/>
          </a:bodyPr>
          <a:lstStyle/>
          <a:p>
            <a:pPr algn="l">
              <a:defRPr sz="1800" b="0">
                <a:solidFill>
                  <a:srgbClr val="2D4038"/>
                </a:solidFill>
                <a:latin typeface="Lato"/>
              </a:defRPr>
            </a:pPr>
            <a:r>
              <a:rPr sz="2000">
                <a:latin typeface="Times New Roman" panose="02020603050405020304" pitchFamily="18" charset="0"/>
                <a:cs typeface="Times New Roman" panose="02020603050405020304" pitchFamily="18" charset="0"/>
              </a:rPr>
              <a:t>Retain Sample MV weights without hindsight.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9162288" y="6373368"/>
            <a:ext cx="7891272" cy="0"/>
          </a:xfrm>
          <a:prstGeom prst="line">
            <a:avLst/>
          </a:prstGeom>
          <a:ln w="15240">
            <a:solidFill>
              <a:srgbClr val="D4DC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9171432" y="6729984"/>
            <a:ext cx="658368" cy="658368"/>
          </a:xfrm>
          <a:prstGeom prst="roundRect">
            <a:avLst>
              <a:gd name="adj" fmla="val 7000"/>
            </a:avLst>
          </a:prstGeom>
          <a:solidFill>
            <a:srgbClr val="C28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9226296" y="6869930"/>
            <a:ext cx="548640" cy="369332"/>
          </a:xfrm>
          <a:prstGeom prst="rect">
            <a:avLst/>
          </a:prstGeom>
          <a:noFill/>
        </p:spPr>
        <p:txBody>
          <a:bodyPr wrap="square" lIns="36576" tIns="0" rIns="36576" bIns="0" anchor="ctr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Lato"/>
              </a:defRPr>
            </a:pPr>
            <a:r>
              <a:rPr sz="2400">
                <a:latin typeface="Times New Roman" panose="02020603050405020304" pitchFamily="18" charset="0"/>
                <a:cs typeface="Times New Roman" panose="02020603050405020304" pitchFamily="18" charset="0"/>
              </a:rPr>
              <a:t>03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30968" y="6733996"/>
            <a:ext cx="6839712" cy="430887"/>
          </a:xfrm>
          <a:prstGeom prst="rect">
            <a:avLst/>
          </a:prstGeom>
          <a:noFill/>
        </p:spPr>
        <p:txBody>
          <a:bodyPr wrap="square" lIns="36576" tIns="0" rIns="36576" bIns="0" anchor="ctr">
            <a:spAutoFit/>
          </a:bodyPr>
          <a:lstStyle/>
          <a:p>
            <a:pPr algn="l">
              <a:defRPr sz="2500" b="1">
                <a:solidFill>
                  <a:srgbClr val="125449"/>
                </a:solidFill>
                <a:latin typeface="Lato"/>
              </a:defRPr>
            </a:pPr>
            <a:r>
              <a:rPr sz="2800">
                <a:latin typeface="Times New Roman" panose="02020603050405020304" pitchFamily="18" charset="0"/>
                <a:cs typeface="Times New Roman" panose="02020603050405020304" pitchFamily="18" charset="0"/>
              </a:rPr>
              <a:t>Monitor and reconsider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40112" y="7504211"/>
            <a:ext cx="6867144" cy="307777"/>
          </a:xfrm>
          <a:prstGeom prst="rect">
            <a:avLst/>
          </a:prstGeom>
          <a:noFill/>
        </p:spPr>
        <p:txBody>
          <a:bodyPr wrap="square" lIns="36576" tIns="0" rIns="36576" bIns="0" anchor="ctr">
            <a:spAutoFit/>
          </a:bodyPr>
          <a:lstStyle/>
          <a:p>
            <a:pPr algn="l">
              <a:defRPr sz="1800" b="0">
                <a:solidFill>
                  <a:srgbClr val="2D4038"/>
                </a:solidFill>
                <a:latin typeface="Lato"/>
              </a:defRPr>
            </a:pPr>
            <a:r>
              <a:rPr sz="2000">
                <a:latin typeface="Times New Roman" panose="02020603050405020304" pitchFamily="18" charset="0"/>
                <a:cs typeface="Times New Roman" panose="02020603050405020304" pitchFamily="18" charset="0"/>
              </a:rPr>
              <a:t>Use cash needs and rolling losses to review.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08008" y="8586883"/>
            <a:ext cx="7680960" cy="492443"/>
          </a:xfrm>
          <a:prstGeom prst="rect">
            <a:avLst/>
          </a:prstGeom>
          <a:noFill/>
        </p:spPr>
        <p:txBody>
          <a:bodyPr wrap="square" lIns="36576" tIns="0" rIns="36576" bIns="0" anchor="ctr">
            <a:spAutoFit/>
          </a:bodyPr>
          <a:lstStyle/>
          <a:p>
            <a:pPr algn="l">
              <a:defRPr sz="1600" b="0">
                <a:solidFill>
                  <a:srgbClr val="65786F"/>
                </a:solidFill>
                <a:latin typeface="Lato"/>
              </a:defRPr>
            </a:pPr>
            <a:r>
              <a:rPr>
                <a:latin typeface="Times New Roman" panose="02020603050405020304" pitchFamily="18" charset="0"/>
                <a:cs typeface="Times New Roman" panose="02020603050405020304" pitchFamily="18" charset="0"/>
              </a:rPr>
              <a:t>The 2030 goal is uncertain. Human review and university acceptance remain separate evidence.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</TotalTime>
  <Words>1687</Words>
  <Application>Microsoft Office PowerPoint</Application>
  <PresentationFormat>Custom</PresentationFormat>
  <Paragraphs>241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1" baseType="lpstr">
      <vt:lpstr>Arial</vt:lpstr>
      <vt:lpstr>Calibri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Kappa Foundation | Group investment presentation</dc:title>
  <dc:subject/>
  <dc:creator>Kappa Foundation Group 4</dc:creator>
  <cp:keywords/>
  <dc:description>generated using python-pptx</dc:description>
  <cp:lastModifiedBy>Nguyễn Ngọc Thảo An</cp:lastModifiedBy>
  <cp:revision>3</cp:revision>
  <cp:lastPrinted>2026-10-29T04:39:06Z</cp:lastPrinted>
  <dcterms:created xsi:type="dcterms:W3CDTF">2013-01-27T09:14:16Z</dcterms:created>
  <dcterms:modified xsi:type="dcterms:W3CDTF">2026-10-29T04:39:23Z</dcterms:modified>
  <cp:category/>
</cp:coreProperties>
</file>